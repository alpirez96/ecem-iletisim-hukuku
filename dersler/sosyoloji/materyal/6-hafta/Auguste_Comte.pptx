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12d0026a0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12d0026a0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12d0026a0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12d0026a0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2d0026a0e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12d0026a0e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12d0026a0e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12d0026a0e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12d0026a0e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12d0026a0e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12d0026a0e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12d0026a0e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12d0026a0e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12d0026a0e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12d0026a0e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12d0026a0e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12d0026a0e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12d0026a0e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12d0026a0e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12d0026a0e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12d0026a0e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12d0026a0e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12d0026a0e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12d0026a0e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12d0026a0e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12d0026a0e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12d0026a0e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12d0026a0e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12d0026a0e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12d0026a0e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t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tr"/>
              <a:t>Auguste Comte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a:t>Auguste Comte: Hayatı </a:t>
            </a:r>
            <a:endParaRPr/>
          </a:p>
        </p:txBody>
      </p:sp>
      <p:sp>
        <p:nvSpPr>
          <p:cNvPr id="60" name="Google Shape;60;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tr">
                <a:solidFill>
                  <a:schemeClr val="dk1"/>
                </a:solidFill>
              </a:rPr>
              <a:t>Auguste Comte, devrimden kısa bir süre sonra 1798’de Katolik ve monarşizm yanlısı bir ailede doğar. </a:t>
            </a:r>
            <a:endParaRPr>
              <a:solidFill>
                <a:schemeClr val="dk1"/>
              </a:solidFill>
            </a:endParaRPr>
          </a:p>
          <a:p>
            <a:pPr marL="0" lvl="0" indent="0" algn="l" rtl="0">
              <a:spcBef>
                <a:spcPts val="1200"/>
              </a:spcBef>
              <a:spcAft>
                <a:spcPts val="0"/>
              </a:spcAft>
              <a:buNone/>
            </a:pPr>
            <a:r>
              <a:rPr lang="tr">
                <a:solidFill>
                  <a:schemeClr val="dk1"/>
                </a:solidFill>
              </a:rPr>
              <a:t>Kısa sürede Katolik inancından uzaklaşır, liberal ve ilerlemeci bir düşünceyi savunmaya başlar. </a:t>
            </a:r>
            <a:endParaRPr>
              <a:solidFill>
                <a:schemeClr val="dk1"/>
              </a:solidFill>
            </a:endParaRPr>
          </a:p>
          <a:p>
            <a:pPr marL="0" lvl="0" indent="0" algn="l" rtl="0">
              <a:spcBef>
                <a:spcPts val="1200"/>
              </a:spcBef>
              <a:spcAft>
                <a:spcPts val="0"/>
              </a:spcAft>
              <a:buNone/>
            </a:pPr>
            <a:r>
              <a:rPr lang="tr">
                <a:solidFill>
                  <a:schemeClr val="dk1"/>
                </a:solidFill>
              </a:rPr>
              <a:t>Ecole Polytechnique’de doğa bilimleri okur. </a:t>
            </a:r>
            <a:endParaRPr>
              <a:solidFill>
                <a:schemeClr val="dk1"/>
              </a:solidFill>
            </a:endParaRPr>
          </a:p>
          <a:p>
            <a:pPr marL="0" lvl="0" indent="0" algn="l" rtl="0">
              <a:spcBef>
                <a:spcPts val="1200"/>
              </a:spcBef>
              <a:spcAft>
                <a:spcPts val="0"/>
              </a:spcAft>
              <a:buNone/>
            </a:pPr>
            <a:r>
              <a:rPr lang="tr">
                <a:solidFill>
                  <a:schemeClr val="dk1"/>
                </a:solidFill>
              </a:rPr>
              <a:t>1817-1824 arasında Saint Simon’un çalışma arkadaşı olur. Simon’un endüstri toplumu üzerine olan görüşlerinden etkilenir.</a:t>
            </a:r>
            <a:endParaRPr>
              <a:solidFill>
                <a:schemeClr val="dk1"/>
              </a:solidFill>
            </a:endParaRPr>
          </a:p>
          <a:p>
            <a:pPr marL="0" lvl="0" indent="0" algn="l" rtl="0">
              <a:spcBef>
                <a:spcPts val="1200"/>
              </a:spcBef>
              <a:spcAft>
                <a:spcPts val="1200"/>
              </a:spcAft>
              <a:buNone/>
            </a:pPr>
            <a:r>
              <a:rPr lang="tr">
                <a:solidFill>
                  <a:schemeClr val="dk1"/>
                </a:solidFill>
              </a:rPr>
              <a:t>En bilinen eserleri Pozitif Felsefe Dersleri (1830-1842) ve Pozitif Yönetim Biçimi’dir. (1851-1854).</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tr"/>
              <a:t>Auguste Comte: Siyasi Görüşleri</a:t>
            </a:r>
            <a:endParaRPr/>
          </a:p>
        </p:txBody>
      </p:sp>
      <p:sp>
        <p:nvSpPr>
          <p:cNvPr id="66" name="Google Shape;66;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35"/>
              <a:buNone/>
            </a:pPr>
            <a:r>
              <a:rPr lang="tr" sz="1629" dirty="0">
                <a:solidFill>
                  <a:schemeClr val="dk1"/>
                </a:solidFill>
              </a:rPr>
              <a:t>Ecole Polytechnique'te öğrenciyken f fizik, kimya ve matematik gibi bilimlerin geliştirdikleri bilimsel yöntemlerin toplumsal sorunlara uygulanabileceği, böylece güçlü siyasi istikrarsızlıkların ve toplumsal çatışmaların kaynakları olan fikir ayrılıklarının ortadan kaldırılabileceği fikrine ulaştı.</a:t>
            </a:r>
            <a:endParaRPr sz="1629" dirty="0">
              <a:solidFill>
                <a:schemeClr val="dk1"/>
              </a:solidFill>
            </a:endParaRPr>
          </a:p>
          <a:p>
            <a:pPr marL="0" lvl="0" indent="0" algn="l" rtl="0">
              <a:spcBef>
                <a:spcPts val="1200"/>
              </a:spcBef>
              <a:spcAft>
                <a:spcPts val="0"/>
              </a:spcAft>
              <a:buSzPts val="935"/>
              <a:buNone/>
            </a:pPr>
            <a:r>
              <a:rPr lang="tr" sz="1629" dirty="0">
                <a:solidFill>
                  <a:schemeClr val="dk1"/>
                </a:solidFill>
              </a:rPr>
              <a:t>Fransız Devrimi’nden ve onun sonucunda ortaya çıkan siyasi ve toplumsal kargaşadan bir hayli etkilenir ve kargaşayı ortadan kaldıracak düzenli bir toplum modelinin peşinden koşar. </a:t>
            </a:r>
            <a:endParaRPr sz="1629" dirty="0">
              <a:solidFill>
                <a:schemeClr val="dk1"/>
              </a:solidFill>
            </a:endParaRPr>
          </a:p>
          <a:p>
            <a:pPr marL="0" lvl="0" indent="0" algn="l" rtl="0">
              <a:spcBef>
                <a:spcPts val="1200"/>
              </a:spcBef>
              <a:spcAft>
                <a:spcPts val="0"/>
              </a:spcAft>
              <a:buClr>
                <a:schemeClr val="dk1"/>
              </a:buClr>
              <a:buSzPts val="935"/>
              <a:buFont typeface="Arial"/>
              <a:buNone/>
            </a:pPr>
            <a:r>
              <a:rPr lang="tr" sz="1629" dirty="0">
                <a:solidFill>
                  <a:schemeClr val="dk1"/>
                </a:solidFill>
              </a:rPr>
              <a:t>Auguste Comte, bir yandan muhafazakârlar gibi otoritenin hiyerarşik yapısına inanır, diğer yandan ise devrimciler gibi ilerlemeye ve reforma inanmaktadır. Comte’un amacı, toplumsal düzeni ve birliği kuracak kanunları tespit etmek ve kafalardaki ayrışmaları gidermektir. Bunun için matematik ve doğa bilimi gibi yapılandırılmış bir pozitif sosyal bilime gereksinim duyar.</a:t>
            </a:r>
            <a:endParaRPr sz="1629" dirty="0">
              <a:solidFill>
                <a:schemeClr val="dk1"/>
              </a:solidFill>
            </a:endParaRPr>
          </a:p>
          <a:p>
            <a:pPr marL="0" lvl="0" indent="0" algn="l" rtl="0">
              <a:spcBef>
                <a:spcPts val="1200"/>
              </a:spcBef>
              <a:spcAft>
                <a:spcPts val="1200"/>
              </a:spcAft>
              <a:buSzPts val="935"/>
              <a:buNone/>
            </a:pPr>
            <a:endParaRPr sz="1530" dirty="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a:t>Pozitif Felsefe</a:t>
            </a:r>
            <a:endParaRPr/>
          </a:p>
        </p:txBody>
      </p:sp>
      <p:sp>
        <p:nvSpPr>
          <p:cNvPr id="72" name="Google Shape;72;p16"/>
          <p:cNvSpPr txBox="1">
            <a:spLocks noGrp="1"/>
          </p:cNvSpPr>
          <p:nvPr>
            <p:ph type="body" idx="1"/>
          </p:nvPr>
        </p:nvSpPr>
        <p:spPr>
          <a:xfrm>
            <a:off x="207075" y="1169900"/>
            <a:ext cx="85206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tr" sz="2100"/>
              <a:t>“</a:t>
            </a:r>
            <a:r>
              <a:rPr lang="tr" sz="2100">
                <a:solidFill>
                  <a:schemeClr val="dk1"/>
                </a:solidFill>
              </a:rPr>
              <a:t>Pozitif Felsefe'nin ilk karakteristik özelliği bütün olguları değişmez doğa yasalarına tabi şeyler olarak görmesidir. Görevimiz . . . bu yasaları uygun biçimde ortaya koymak, mümkün olan en az sayıya indirmektir.” (Auguste Comte, Pozitif Felsefe) </a:t>
            </a:r>
            <a:endParaRPr sz="2100">
              <a:solidFill>
                <a:schemeClr val="dk1"/>
              </a:solidFill>
            </a:endParaRPr>
          </a:p>
          <a:p>
            <a:pPr marL="0" lvl="0" indent="0" algn="l" rtl="0">
              <a:spcBef>
                <a:spcPts val="1200"/>
              </a:spcBef>
              <a:spcAft>
                <a:spcPts val="0"/>
              </a:spcAft>
              <a:buNone/>
            </a:pPr>
            <a:endParaRPr sz="2100">
              <a:solidFill>
                <a:schemeClr val="dk1"/>
              </a:solidFill>
            </a:endParaRPr>
          </a:p>
          <a:p>
            <a:pPr marL="0" lvl="0" indent="0" algn="l" rtl="0">
              <a:spcBef>
                <a:spcPts val="1200"/>
              </a:spcBef>
              <a:spcAft>
                <a:spcPts val="0"/>
              </a:spcAft>
              <a:buNone/>
            </a:pPr>
            <a:r>
              <a:rPr lang="tr" sz="2100">
                <a:solidFill>
                  <a:schemeClr val="dk1"/>
                </a:solidFill>
              </a:rPr>
              <a:t>Bu yasaların hakimiyeti fiziksel ve biyolojik olgular kadar beşeri ve toplumsal olguları da içerir, zira hepsi bütünlüklü bir doğa düzeninin parçalarıdır.</a:t>
            </a:r>
            <a:endParaRPr sz="2100">
              <a:solidFill>
                <a:schemeClr val="dk1"/>
              </a:solidFill>
            </a:endParaRPr>
          </a:p>
          <a:p>
            <a:pPr marL="0" lvl="0" indent="0" algn="l" rtl="0">
              <a:spcBef>
                <a:spcPts val="1200"/>
              </a:spcBef>
              <a:spcAft>
                <a:spcPts val="0"/>
              </a:spcAft>
              <a:buClr>
                <a:schemeClr val="dk1"/>
              </a:buClr>
              <a:buSzPct val="52380"/>
              <a:buFont typeface="Arial"/>
              <a:buNone/>
            </a:pPr>
            <a:endParaRPr sz="2100">
              <a:solidFill>
                <a:schemeClr val="dk1"/>
              </a:solidFill>
            </a:endParaRPr>
          </a:p>
          <a:p>
            <a:pPr marL="0" lvl="0" indent="0" algn="l" rtl="0">
              <a:spcBef>
                <a:spcPts val="1200"/>
              </a:spcBef>
              <a:spcAft>
                <a:spcPts val="1200"/>
              </a:spcAft>
              <a:buNone/>
            </a:pPr>
            <a:endParaRPr sz="2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a:t>Auguste Comte: Sosyoloji ve Sosyal Fizik</a:t>
            </a:r>
            <a:endParaRPr/>
          </a:p>
        </p:txBody>
      </p:sp>
      <p:sp>
        <p:nvSpPr>
          <p:cNvPr id="78" name="Google Shape;78;p17"/>
          <p:cNvSpPr txBox="1">
            <a:spLocks noGrp="1"/>
          </p:cNvSpPr>
          <p:nvPr>
            <p:ph type="body" idx="1"/>
          </p:nvPr>
        </p:nvSpPr>
        <p:spPr>
          <a:xfrm>
            <a:off x="119900" y="13965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tr">
                <a:solidFill>
                  <a:schemeClr val="dk1"/>
                </a:solidFill>
              </a:rPr>
              <a:t>Comte’un tıpkı doğadakine benzer toplum yasalarını kesin bir biçimde saptayan empirik ( gözlem, deney ve duyuya dayalı) ve pozitivist bir sosyal bilim anlayışını geliştirmesinin altında, bilimsel felsefesinin yanında </a:t>
            </a:r>
            <a:r>
              <a:rPr lang="tr" b="1">
                <a:solidFill>
                  <a:schemeClr val="dk1"/>
                </a:solidFill>
              </a:rPr>
              <a:t>kargaşadan uzak bir toplumsal düzen arayışı vardır.</a:t>
            </a:r>
            <a:endParaRPr b="1">
              <a:solidFill>
                <a:schemeClr val="dk1"/>
              </a:solidFill>
            </a:endParaRPr>
          </a:p>
          <a:p>
            <a:pPr marL="0" lvl="0" indent="0" algn="l" rtl="0">
              <a:spcBef>
                <a:spcPts val="1200"/>
              </a:spcBef>
              <a:spcAft>
                <a:spcPts val="0"/>
              </a:spcAft>
              <a:buNone/>
            </a:pPr>
            <a:r>
              <a:rPr lang="tr">
                <a:solidFill>
                  <a:schemeClr val="dk1"/>
                </a:solidFill>
              </a:rPr>
              <a:t>Böylelikle, bir pozitif sosyal bilim olarak sosyolojinin isim babalığını yapar.</a:t>
            </a:r>
            <a:endParaRPr>
              <a:solidFill>
                <a:schemeClr val="dk1"/>
              </a:solidFill>
            </a:endParaRPr>
          </a:p>
          <a:p>
            <a:pPr marL="0" lvl="0" indent="0" algn="l" rtl="0">
              <a:spcBef>
                <a:spcPts val="1200"/>
              </a:spcBef>
              <a:spcAft>
                <a:spcPts val="1200"/>
              </a:spcAft>
              <a:buNone/>
            </a:pPr>
            <a:r>
              <a:rPr lang="tr">
                <a:solidFill>
                  <a:schemeClr val="dk1"/>
                </a:solidFill>
              </a:rPr>
              <a:t>İlk başta sosyoloji yerine sosyal fizik ifadesini kullanır: Bu ne anlama gelir, tartışalım!!</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dirty="0"/>
              <a:t>Auguste Comte: Üç </a:t>
            </a:r>
            <a:r>
              <a:rPr lang="tr-TR" dirty="0"/>
              <a:t>hâl</a:t>
            </a:r>
            <a:r>
              <a:rPr lang="tr" dirty="0"/>
              <a:t> Yasası (I)</a:t>
            </a:r>
            <a:endParaRPr dirty="0"/>
          </a:p>
        </p:txBody>
      </p:sp>
      <p:sp>
        <p:nvSpPr>
          <p:cNvPr id="84" name="Google Shape;84;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74650" algn="l" rtl="0">
              <a:spcBef>
                <a:spcPts val="0"/>
              </a:spcBef>
              <a:spcAft>
                <a:spcPts val="0"/>
              </a:spcAft>
              <a:buClr>
                <a:schemeClr val="dk1"/>
              </a:buClr>
              <a:buSzPts val="2300"/>
              <a:buChar char="●"/>
            </a:pPr>
            <a:r>
              <a:rPr lang="tr" sz="2300" dirty="0">
                <a:solidFill>
                  <a:schemeClr val="dk1"/>
                </a:solidFill>
              </a:rPr>
              <a:t>Comte’a göre, sadece içinde bulunduğumuz toplumun değil bütün bir insanlık tarihini yöneten temel yasalar vardır.</a:t>
            </a:r>
            <a:endParaRPr sz="2300" dirty="0">
              <a:solidFill>
                <a:schemeClr val="dk1"/>
              </a:solidFill>
            </a:endParaRPr>
          </a:p>
          <a:p>
            <a:pPr marL="457200" lvl="0" indent="-374650" algn="l" rtl="0">
              <a:spcBef>
                <a:spcPts val="0"/>
              </a:spcBef>
              <a:spcAft>
                <a:spcPts val="0"/>
              </a:spcAft>
              <a:buClr>
                <a:schemeClr val="dk1"/>
              </a:buClr>
              <a:buSzPts val="2300"/>
              <a:buChar char="●"/>
            </a:pPr>
            <a:r>
              <a:rPr lang="tr" sz="2300" dirty="0">
                <a:solidFill>
                  <a:schemeClr val="dk1"/>
                </a:solidFill>
              </a:rPr>
              <a:t>Buna göre, insanlık tarihi de belli bir örüntüye göre evrimsel olarak ilerlemekte ve temel bazı ‘evre’lerden geçmektedir.</a:t>
            </a:r>
            <a:endParaRPr sz="2300" dirty="0">
              <a:solidFill>
                <a:schemeClr val="dk1"/>
              </a:solidFill>
            </a:endParaRPr>
          </a:p>
          <a:p>
            <a:pPr marL="457200" lvl="0" indent="-374650" algn="l" rtl="0">
              <a:spcBef>
                <a:spcPts val="0"/>
              </a:spcBef>
              <a:spcAft>
                <a:spcPts val="0"/>
              </a:spcAft>
              <a:buClr>
                <a:schemeClr val="dk1"/>
              </a:buClr>
              <a:buSzPts val="2300"/>
              <a:buChar char="●"/>
            </a:pPr>
            <a:r>
              <a:rPr lang="tr" sz="2300" dirty="0">
                <a:solidFill>
                  <a:schemeClr val="dk1"/>
                </a:solidFill>
              </a:rPr>
              <a:t>Comte’a göre, üç </a:t>
            </a:r>
            <a:r>
              <a:rPr lang="tr-TR" sz="2300" dirty="0">
                <a:solidFill>
                  <a:schemeClr val="dk1"/>
                </a:solidFill>
              </a:rPr>
              <a:t>hâl</a:t>
            </a:r>
            <a:r>
              <a:rPr lang="tr" sz="2300" dirty="0">
                <a:solidFill>
                  <a:schemeClr val="dk1"/>
                </a:solidFill>
              </a:rPr>
              <a:t> yasası işte insanlık tarihini evrimsel olarak belirleyen ve farklı evrelere ayıran temel yasa olarak görülmelidir.</a:t>
            </a:r>
            <a:endParaRPr sz="2300" dirty="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tr" dirty="0"/>
              <a:t>Auguste Comte: Üç </a:t>
            </a:r>
            <a:r>
              <a:rPr lang="tr-TR" dirty="0"/>
              <a:t>hâl</a:t>
            </a:r>
            <a:r>
              <a:rPr lang="tr" dirty="0"/>
              <a:t> Yasası (II)</a:t>
            </a:r>
            <a:endParaRPr dirty="0"/>
          </a:p>
        </p:txBody>
      </p:sp>
      <p:sp>
        <p:nvSpPr>
          <p:cNvPr id="90" name="Google Shape;90;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tr" dirty="0">
                <a:solidFill>
                  <a:schemeClr val="dk1"/>
                </a:solidFill>
              </a:rPr>
              <a:t>Auguste Comte, insanlık tarihini belirleyen bu üç </a:t>
            </a:r>
            <a:r>
              <a:rPr lang="tr-TR" dirty="0">
                <a:solidFill>
                  <a:schemeClr val="dk1"/>
                </a:solidFill>
              </a:rPr>
              <a:t>hâl</a:t>
            </a:r>
            <a:r>
              <a:rPr lang="tr" dirty="0">
                <a:solidFill>
                  <a:schemeClr val="dk1"/>
                </a:solidFill>
              </a:rPr>
              <a:t> yasasını, insan zihninin ve toplum biçimlerinin geçirdiği dönüşümlerde ortaya koyabileceğimizi söyler.</a:t>
            </a:r>
            <a:endParaRPr dirty="0">
              <a:solidFill>
                <a:schemeClr val="dk1"/>
              </a:solidFill>
            </a:endParaRPr>
          </a:p>
          <a:p>
            <a:pPr marL="0" lvl="0" indent="0" algn="l" rtl="0">
              <a:spcBef>
                <a:spcPts val="1200"/>
              </a:spcBef>
              <a:spcAft>
                <a:spcPts val="0"/>
              </a:spcAft>
              <a:buNone/>
            </a:pPr>
            <a:r>
              <a:rPr lang="tr" dirty="0">
                <a:solidFill>
                  <a:schemeClr val="dk1"/>
                </a:solidFill>
              </a:rPr>
              <a:t> Comte’a göre, insan zihninin ard arda geçirdiği üç düşünce biçimi vardır. Bu üç düşünce biçimi, aynı zamanda insanlık tarihindeki ard arda gelen toplum biçimlerine de denk gelmektedir.</a:t>
            </a:r>
            <a:endParaRPr dirty="0">
              <a:solidFill>
                <a:schemeClr val="dk1"/>
              </a:solidFill>
            </a:endParaRPr>
          </a:p>
          <a:p>
            <a:pPr marL="0" lvl="0" indent="0" algn="l" rtl="0">
              <a:spcBef>
                <a:spcPts val="1200"/>
              </a:spcBef>
              <a:spcAft>
                <a:spcPts val="1200"/>
              </a:spcAft>
              <a:buNone/>
            </a:pPr>
            <a:r>
              <a:rPr lang="tr" dirty="0">
                <a:solidFill>
                  <a:schemeClr val="dk1"/>
                </a:solidFill>
              </a:rPr>
              <a:t>İşte, aslında,  Auguste Comte’un bu düşüncesi üç </a:t>
            </a:r>
            <a:r>
              <a:rPr lang="tr-TR" dirty="0">
                <a:solidFill>
                  <a:schemeClr val="dk1"/>
                </a:solidFill>
              </a:rPr>
              <a:t>hâl</a:t>
            </a:r>
            <a:r>
              <a:rPr lang="tr" dirty="0">
                <a:solidFill>
                  <a:schemeClr val="dk1"/>
                </a:solidFill>
              </a:rPr>
              <a:t> kanunu olarak özetlenir ve sosyoloji ile pozitivizmin kuruluşunda önemli bir işlev yüklenir.  </a:t>
            </a:r>
            <a:endParaRPr dirty="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dirty="0"/>
              <a:t>Auguste Comte: Üç </a:t>
            </a:r>
            <a:r>
              <a:rPr lang="tr-TR" dirty="0"/>
              <a:t>hâl</a:t>
            </a:r>
            <a:r>
              <a:rPr lang="tr" dirty="0"/>
              <a:t> Yasası (III)</a:t>
            </a:r>
            <a:endParaRPr dirty="0"/>
          </a:p>
        </p:txBody>
      </p:sp>
      <p:sp>
        <p:nvSpPr>
          <p:cNvPr id="96" name="Google Shape;96;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406400" algn="l" rtl="0">
              <a:spcBef>
                <a:spcPts val="0"/>
              </a:spcBef>
              <a:spcAft>
                <a:spcPts val="0"/>
              </a:spcAft>
              <a:buClr>
                <a:schemeClr val="dk1"/>
              </a:buClr>
              <a:buSzPts val="2800"/>
              <a:buChar char="●"/>
            </a:pPr>
            <a:r>
              <a:rPr lang="tr" sz="2800" dirty="0">
                <a:solidFill>
                  <a:schemeClr val="dk1"/>
                </a:solidFill>
              </a:rPr>
              <a:t>Bu üç </a:t>
            </a:r>
            <a:r>
              <a:rPr lang="tr-TR" sz="2800" dirty="0">
                <a:solidFill>
                  <a:schemeClr val="dk1"/>
                </a:solidFill>
              </a:rPr>
              <a:t>hâl</a:t>
            </a:r>
            <a:r>
              <a:rPr lang="tr" sz="2800" dirty="0">
                <a:solidFill>
                  <a:schemeClr val="dk1"/>
                </a:solidFill>
              </a:rPr>
              <a:t> (aşama) teolojik, metafizik ve pozitif olarak belirtilir. </a:t>
            </a:r>
            <a:endParaRPr sz="2800" dirty="0">
              <a:solidFill>
                <a:schemeClr val="dk1"/>
              </a:solidFill>
            </a:endParaRPr>
          </a:p>
          <a:p>
            <a:pPr marL="457200" lvl="0" indent="-406400" algn="l" rtl="0">
              <a:spcBef>
                <a:spcPts val="0"/>
              </a:spcBef>
              <a:spcAft>
                <a:spcPts val="0"/>
              </a:spcAft>
              <a:buClr>
                <a:schemeClr val="dk1"/>
              </a:buClr>
              <a:buSzPts val="2800"/>
              <a:buChar char="●"/>
            </a:pPr>
            <a:r>
              <a:rPr lang="tr" sz="2800" dirty="0">
                <a:solidFill>
                  <a:schemeClr val="dk1"/>
                </a:solidFill>
              </a:rPr>
              <a:t>İnsan zihni, bilimler ve toplumlar, her şeyi önce teolojik ve sonra metafizik olarak algılayıp en son aşamada “pozitif” olarak değerlendirir ve algılar.</a:t>
            </a:r>
            <a:endParaRPr sz="2800" dirty="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dirty="0"/>
              <a:t>Teolojik </a:t>
            </a:r>
            <a:r>
              <a:rPr lang="tr-TR" dirty="0"/>
              <a:t>hâl</a:t>
            </a:r>
            <a:r>
              <a:rPr lang="tr" dirty="0"/>
              <a:t> (Aşama)</a:t>
            </a:r>
            <a:endParaRPr dirty="0"/>
          </a:p>
        </p:txBody>
      </p:sp>
      <p:sp>
        <p:nvSpPr>
          <p:cNvPr id="102" name="Google Shape;10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Char char="●"/>
            </a:pPr>
            <a:r>
              <a:rPr lang="tr" sz="2400" dirty="0">
                <a:solidFill>
                  <a:schemeClr val="dk1"/>
                </a:solidFill>
              </a:rPr>
              <a:t>Teolojik </a:t>
            </a:r>
            <a:r>
              <a:rPr lang="tr-TR" sz="2400" dirty="0">
                <a:solidFill>
                  <a:schemeClr val="dk1"/>
                </a:solidFill>
              </a:rPr>
              <a:t>hâl</a:t>
            </a:r>
            <a:r>
              <a:rPr lang="tr" sz="2400" dirty="0">
                <a:solidFill>
                  <a:schemeClr val="dk1"/>
                </a:solidFill>
              </a:rPr>
              <a:t>: insan zihni varlıkların temel doğasını, bütün etkilerin ilk ve nihai nedenlerini (kökeni ve amacını) -kısaca Mutlak bilgiyi- araştırırken, bütün olguların doğrudan doğaüstü varlıkların eylemleriyle üretildiğini varsayar. Bu asıl olarak Avrupa Ortaçağı’nı belirleyen toplum biçimine denk düşer.</a:t>
            </a:r>
            <a:endParaRPr sz="2400" dirty="0">
              <a:solidFill>
                <a:schemeClr val="dk1"/>
              </a:solidFill>
            </a:endParaRPr>
          </a:p>
          <a:p>
            <a:pPr marL="457200" lvl="0" indent="0" algn="l" rtl="0">
              <a:spcBef>
                <a:spcPts val="1200"/>
              </a:spcBef>
              <a:spcAft>
                <a:spcPts val="1200"/>
              </a:spcAft>
              <a:buNone/>
            </a:pPr>
            <a:endParaRPr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dirty="0"/>
              <a:t>Metafizik </a:t>
            </a:r>
            <a:r>
              <a:rPr lang="tr-TR" dirty="0"/>
              <a:t>hâl</a:t>
            </a:r>
            <a:r>
              <a:rPr lang="tr" dirty="0"/>
              <a:t> (Aşama)</a:t>
            </a:r>
            <a:endParaRPr dirty="0"/>
          </a:p>
        </p:txBody>
      </p:sp>
      <p:sp>
        <p:nvSpPr>
          <p:cNvPr id="108" name="Google Shape;108;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Clr>
                <a:schemeClr val="dk1"/>
              </a:buClr>
              <a:buSzPts val="2400"/>
              <a:buChar char="●"/>
            </a:pPr>
            <a:r>
              <a:rPr lang="tr" sz="2400" dirty="0">
                <a:solidFill>
                  <a:schemeClr val="dk1"/>
                </a:solidFill>
              </a:rPr>
              <a:t>Metafizik ya da Soyut </a:t>
            </a:r>
            <a:r>
              <a:rPr lang="tr-TR" sz="2400" dirty="0">
                <a:solidFill>
                  <a:schemeClr val="dk1"/>
                </a:solidFill>
              </a:rPr>
              <a:t>hâl</a:t>
            </a:r>
            <a:r>
              <a:rPr lang="tr" sz="2400" dirty="0">
                <a:solidFill>
                  <a:schemeClr val="dk1"/>
                </a:solidFill>
              </a:rPr>
              <a:t>: t</a:t>
            </a:r>
            <a:r>
              <a:rPr lang="tr" sz="2400" dirty="0">
                <a:solidFill>
                  <a:schemeClr val="dk1"/>
                </a:solidFill>
                <a:highlight>
                  <a:srgbClr val="FFFFFF"/>
                </a:highlight>
              </a:rPr>
              <a:t>eolojik aşamanın bir uzantısıdır. Kişisel olmayan soyut kavramlarla açıklamayı ifade eder. İnsanlar bu aşamada genellikle tanrıyı soyut bir varlık olarak tanımlamaya çalışırlar. Olgular, insan-benzeri güçlerle değil, soyut kavramlarla açıklanmaya çalışılır. 14. Yüzyıldan Fransız Devrimi’ne kadar olan toplumsal düzen, bu metafizik </a:t>
            </a:r>
            <a:r>
              <a:rPr lang="tr-TR" sz="2400" dirty="0">
                <a:solidFill>
                  <a:schemeClr val="dk1"/>
                </a:solidFill>
                <a:highlight>
                  <a:srgbClr val="FFFFFF"/>
                </a:highlight>
              </a:rPr>
              <a:t>hâl</a:t>
            </a:r>
            <a:r>
              <a:rPr lang="tr" sz="2400" dirty="0">
                <a:solidFill>
                  <a:schemeClr val="dk1"/>
                </a:solidFill>
                <a:highlight>
                  <a:srgbClr val="FFFFFF"/>
                </a:highlight>
              </a:rPr>
              <a:t>e karşılık gelir.</a:t>
            </a:r>
            <a:endParaRPr sz="2400" dirty="0">
              <a:solidFill>
                <a:schemeClr val="dk1"/>
              </a:solidFill>
            </a:endParaRPr>
          </a:p>
          <a:p>
            <a:pPr marL="0" lvl="0" indent="0" algn="l" rtl="0">
              <a:spcBef>
                <a:spcPts val="1200"/>
              </a:spcBef>
              <a:spcAft>
                <a:spcPts val="1200"/>
              </a:spcAft>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dirty="0"/>
              <a:t>Pozitif </a:t>
            </a:r>
            <a:r>
              <a:rPr lang="tr-TR" dirty="0"/>
              <a:t>hâl</a:t>
            </a:r>
            <a:r>
              <a:rPr lang="tr" dirty="0"/>
              <a:t> (Aşama)</a:t>
            </a:r>
            <a:endParaRPr dirty="0"/>
          </a:p>
        </p:txBody>
      </p:sp>
      <p:sp>
        <p:nvSpPr>
          <p:cNvPr id="114" name="Google Shape;114;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tr" sz="2400" dirty="0">
                <a:solidFill>
                  <a:schemeClr val="dk1"/>
                </a:solidFill>
              </a:rPr>
              <a:t>Bütün olguların doğa ve toplum yasalarının işleyişi temelinde açıklandığı, bilimsel yöntemin dünyayı kavrarken temel alındığı zihinsel aşama, pozitif </a:t>
            </a:r>
            <a:r>
              <a:rPr lang="tr-TR" sz="2400" dirty="0">
                <a:solidFill>
                  <a:schemeClr val="dk1"/>
                </a:solidFill>
              </a:rPr>
              <a:t>hâl</a:t>
            </a:r>
            <a:r>
              <a:rPr lang="tr" sz="2400" dirty="0">
                <a:solidFill>
                  <a:schemeClr val="dk1"/>
                </a:solidFill>
              </a:rPr>
              <a:t>dir. Toplum biçimleri düzeyinde en iyi ve en ileri aşama budur. Fransız Devrimi’yle ilk adımları atılan </a:t>
            </a:r>
            <a:r>
              <a:rPr lang="tr-TR" sz="2400" dirty="0">
                <a:solidFill>
                  <a:schemeClr val="dk1"/>
                </a:solidFill>
              </a:rPr>
              <a:t>hâl</a:t>
            </a:r>
            <a:r>
              <a:rPr lang="tr" sz="2400" dirty="0">
                <a:solidFill>
                  <a:schemeClr val="dk1"/>
                </a:solidFill>
              </a:rPr>
              <a:t> ve aşama budur.</a:t>
            </a:r>
            <a:endParaRPr sz="2400" dirty="0">
              <a:solidFill>
                <a:schemeClr val="dk1"/>
              </a:solidFill>
            </a:endParaRPr>
          </a:p>
          <a:p>
            <a:pPr marL="0" lvl="0" indent="0" algn="l" rtl="0">
              <a:spcBef>
                <a:spcPts val="1200"/>
              </a:spcBef>
              <a:spcAft>
                <a:spcPts val="1200"/>
              </a:spcAft>
              <a:buNone/>
            </a:pPr>
            <a:endParaRPr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a:t>Bilimler Hiyerarşisi ve Sosyoloji (I)</a:t>
            </a:r>
            <a:endParaRPr/>
          </a:p>
        </p:txBody>
      </p:sp>
      <p:sp>
        <p:nvSpPr>
          <p:cNvPr id="120" name="Google Shape;120;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SzPts val="2000"/>
              <a:buChar char="●"/>
            </a:pPr>
            <a:r>
              <a:rPr lang="tr" sz="2000" dirty="0">
                <a:solidFill>
                  <a:schemeClr val="tx1"/>
                </a:solidFill>
              </a:rPr>
              <a:t>Comte’a göre, insan zihni ve toplumlar gibi, bilimler de bu üç evreden geçerek en üst aşama olan “pozitif” aşamaya ulaşırlar.</a:t>
            </a:r>
            <a:endParaRPr sz="2000" dirty="0">
              <a:solidFill>
                <a:schemeClr val="tx1"/>
              </a:solidFill>
            </a:endParaRPr>
          </a:p>
          <a:p>
            <a:pPr marL="457200" lvl="0" indent="-355600" algn="l" rtl="0">
              <a:spcBef>
                <a:spcPts val="0"/>
              </a:spcBef>
              <a:spcAft>
                <a:spcPts val="0"/>
              </a:spcAft>
              <a:buSzPts val="2000"/>
              <a:buChar char="●"/>
            </a:pPr>
            <a:r>
              <a:rPr lang="tr" sz="2000" dirty="0">
                <a:solidFill>
                  <a:schemeClr val="tx1"/>
                </a:solidFill>
              </a:rPr>
              <a:t>Peki, bu bilimlerin hepsi aynı düzeyde midir? Yoksa aralarında bir hiyerarşi var mıdır?</a:t>
            </a:r>
            <a:endParaRPr sz="2000" dirty="0">
              <a:solidFill>
                <a:schemeClr val="tx1"/>
              </a:solidFill>
            </a:endParaRPr>
          </a:p>
          <a:p>
            <a:pPr marL="457200" lvl="0" indent="-355600" algn="l" rtl="0">
              <a:spcBef>
                <a:spcPts val="0"/>
              </a:spcBef>
              <a:spcAft>
                <a:spcPts val="0"/>
              </a:spcAft>
              <a:buSzPts val="2000"/>
              <a:buChar char="●"/>
            </a:pPr>
            <a:r>
              <a:rPr lang="tr" sz="2000" dirty="0">
                <a:solidFill>
                  <a:schemeClr val="tx1"/>
                </a:solidFill>
              </a:rPr>
              <a:t>Comte’a göre bilimler arasında bir hiyerarşi vardır:</a:t>
            </a:r>
            <a:endParaRPr sz="2000" dirty="0">
              <a:solidFill>
                <a:schemeClr val="tx1"/>
              </a:solidFill>
            </a:endParaRPr>
          </a:p>
          <a:p>
            <a:pPr marL="457200" lvl="0" indent="-355600" algn="l" rtl="0">
              <a:spcBef>
                <a:spcPts val="0"/>
              </a:spcBef>
              <a:spcAft>
                <a:spcPts val="0"/>
              </a:spcAft>
              <a:buSzPts val="2000"/>
              <a:buChar char="●"/>
            </a:pPr>
            <a:r>
              <a:rPr lang="tr" sz="2000" dirty="0">
                <a:solidFill>
                  <a:schemeClr val="tx1"/>
                </a:solidFill>
              </a:rPr>
              <a:t>Bilimler hiyerarşisi; matematik, astronomi, fizik, kimya, biyoloji ve Sosyoloji olarak kurulur.</a:t>
            </a:r>
            <a:endParaRPr sz="2000" dirty="0">
              <a:solidFill>
                <a:schemeClr val="tx1"/>
              </a:solidFill>
            </a:endParaRPr>
          </a:p>
          <a:p>
            <a:pPr marL="457200" lvl="0" indent="-355600" algn="l" rtl="0">
              <a:spcBef>
                <a:spcPts val="0"/>
              </a:spcBef>
              <a:spcAft>
                <a:spcPts val="0"/>
              </a:spcAft>
              <a:buSzPts val="2000"/>
              <a:buChar char="●"/>
            </a:pPr>
            <a:r>
              <a:rPr lang="tr" sz="2000" dirty="0">
                <a:solidFill>
                  <a:schemeClr val="tx1"/>
                </a:solidFill>
              </a:rPr>
              <a:t>Hiyerarşide, sonra gelen bilimler, bilgi alanları açısından daha karmaşıktır.</a:t>
            </a:r>
            <a:endParaRPr sz="2000" dirty="0">
              <a:solidFill>
                <a:schemeClr val="tx1"/>
              </a:solidFill>
            </a:endParaRPr>
          </a:p>
          <a:p>
            <a:pPr marL="457200" lvl="0" indent="-355600" algn="l" rtl="0">
              <a:spcBef>
                <a:spcPts val="0"/>
              </a:spcBef>
              <a:spcAft>
                <a:spcPts val="0"/>
              </a:spcAft>
              <a:buSzPts val="2000"/>
              <a:buChar char="●"/>
            </a:pPr>
            <a:r>
              <a:rPr lang="tr" sz="2000" dirty="0">
                <a:solidFill>
                  <a:schemeClr val="tx1"/>
                </a:solidFill>
              </a:rPr>
              <a:t>Kısacası , bilimler basitten karmaşığa doğru sıralanmıştır.</a:t>
            </a:r>
            <a:endParaRPr sz="2000"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a:t>Bilimler Hiyerarşisi ve Sosyoloji (II)</a:t>
            </a:r>
            <a:endParaRPr/>
          </a:p>
        </p:txBody>
      </p:sp>
      <p:sp>
        <p:nvSpPr>
          <p:cNvPr id="126" name="Google Shape;126;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61950" algn="l" rtl="0">
              <a:spcBef>
                <a:spcPts val="0"/>
              </a:spcBef>
              <a:spcAft>
                <a:spcPts val="0"/>
              </a:spcAft>
              <a:buClr>
                <a:srgbClr val="202122"/>
              </a:buClr>
              <a:buSzPts val="2100"/>
              <a:buChar char="●"/>
            </a:pPr>
            <a:r>
              <a:rPr lang="tr" sz="2100">
                <a:solidFill>
                  <a:srgbClr val="202122"/>
                </a:solidFill>
                <a:highlight>
                  <a:srgbClr val="FFFFFF"/>
                </a:highlight>
              </a:rPr>
              <a:t>Toplum bilimleri, Comte'un hiyerarşisinde "Kraliçe bilim" olarak adlandırılır çünkü temelde en karmaşık olanlardır.</a:t>
            </a:r>
            <a:endParaRPr sz="2100">
              <a:solidFill>
                <a:srgbClr val="202122"/>
              </a:solidFill>
              <a:highlight>
                <a:srgbClr val="FFFFFF"/>
              </a:highlight>
            </a:endParaRPr>
          </a:p>
          <a:p>
            <a:pPr marL="457200" lvl="0" indent="-361950" algn="l" rtl="0">
              <a:spcBef>
                <a:spcPts val="0"/>
              </a:spcBef>
              <a:spcAft>
                <a:spcPts val="0"/>
              </a:spcAft>
              <a:buClr>
                <a:srgbClr val="202122"/>
              </a:buClr>
              <a:buSzPts val="2100"/>
              <a:buChar char="●"/>
            </a:pPr>
            <a:r>
              <a:rPr lang="tr" sz="2100">
                <a:solidFill>
                  <a:srgbClr val="202122"/>
                </a:solidFill>
                <a:highlight>
                  <a:srgbClr val="FFFFFF"/>
                </a:highlight>
              </a:rPr>
              <a:t>Comte'a göre, sosyoloji kendini oluşturan bireylere indirgenemeyen karmaşık bir varlık olarak toplumsal bütünü araştırır.</a:t>
            </a:r>
            <a:endParaRPr sz="2100">
              <a:solidFill>
                <a:srgbClr val="202122"/>
              </a:solidFill>
              <a:highlight>
                <a:srgbClr val="FFFFFF"/>
              </a:highlight>
            </a:endParaRPr>
          </a:p>
          <a:p>
            <a:pPr marL="457200" lvl="0" indent="-361950" algn="l" rtl="0">
              <a:spcBef>
                <a:spcPts val="0"/>
              </a:spcBef>
              <a:spcAft>
                <a:spcPts val="0"/>
              </a:spcAft>
              <a:buClr>
                <a:srgbClr val="202122"/>
              </a:buClr>
              <a:buSzPts val="2100"/>
              <a:buChar char="●"/>
            </a:pPr>
            <a:r>
              <a:rPr lang="tr" sz="2100">
                <a:solidFill>
                  <a:srgbClr val="202122"/>
                </a:solidFill>
                <a:highlight>
                  <a:srgbClr val="FFFFFF"/>
                </a:highlight>
              </a:rPr>
              <a:t>Toplumsal bütün, kendisini oluşturan bireylere indirgenemeyecek bir birimdir.</a:t>
            </a:r>
            <a:endParaRPr sz="2100">
              <a:solidFill>
                <a:srgbClr val="202122"/>
              </a:solidFill>
              <a:highlight>
                <a:srgbClr val="FFFFFF"/>
              </a:highlight>
            </a:endParaRPr>
          </a:p>
          <a:p>
            <a:pPr marL="457200" lvl="0" indent="-361950" algn="l" rtl="0">
              <a:spcBef>
                <a:spcPts val="0"/>
              </a:spcBef>
              <a:spcAft>
                <a:spcPts val="0"/>
              </a:spcAft>
              <a:buClr>
                <a:srgbClr val="202122"/>
              </a:buClr>
              <a:buSzPts val="2100"/>
              <a:buChar char="●"/>
            </a:pPr>
            <a:r>
              <a:rPr lang="tr" sz="2100">
                <a:solidFill>
                  <a:srgbClr val="202122"/>
                </a:solidFill>
                <a:highlight>
                  <a:srgbClr val="FFFFFF"/>
                </a:highlight>
              </a:rPr>
              <a:t>Hatta, toplum kendisini oluşturan bireylerden daha temel ve somuttur.</a:t>
            </a:r>
            <a:endParaRPr sz="2100">
              <a:solidFill>
                <a:srgbClr val="202122"/>
              </a:solidFill>
              <a:highlight>
                <a:srgbClr val="FFFFFF"/>
              </a:highlight>
            </a:endParaRPr>
          </a:p>
          <a:p>
            <a:pPr marL="457200" lvl="0" indent="0" algn="l" rtl="0">
              <a:spcBef>
                <a:spcPts val="1200"/>
              </a:spcBef>
              <a:spcAft>
                <a:spcPts val="1200"/>
              </a:spcAft>
              <a:buNone/>
            </a:pPr>
            <a:endParaRPr sz="2100">
              <a:solidFill>
                <a:srgbClr val="202122"/>
              </a:solidFill>
              <a:highlight>
                <a:srgbClr val="FFFFFF"/>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a:t>Sosyolojinin Siyasi-Toplumsal Rolü</a:t>
            </a:r>
            <a:endParaRPr/>
          </a:p>
        </p:txBody>
      </p:sp>
      <p:sp>
        <p:nvSpPr>
          <p:cNvPr id="132" name="Google Shape;132;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tr" dirty="0">
                <a:solidFill>
                  <a:schemeClr val="dk1"/>
                </a:solidFill>
              </a:rPr>
              <a:t>Ayrıca, Comte’a göre, sosyoloji yalnızca toplumu anlamakla kalmamalıdır, onun iyileştirilmesi ve düzenlenmesi için de kullanılmalıdır.</a:t>
            </a:r>
            <a:endParaRPr dirty="0">
              <a:solidFill>
                <a:schemeClr val="dk1"/>
              </a:solidFill>
            </a:endParaRPr>
          </a:p>
          <a:p>
            <a:pPr marL="457200" lvl="0" indent="-342900" algn="l" rtl="0">
              <a:spcBef>
                <a:spcPts val="0"/>
              </a:spcBef>
              <a:spcAft>
                <a:spcPts val="0"/>
              </a:spcAft>
              <a:buClr>
                <a:schemeClr val="dk1"/>
              </a:buClr>
              <a:buSzPts val="1800"/>
              <a:buChar char="●"/>
            </a:pPr>
            <a:r>
              <a:rPr lang="tr" dirty="0">
                <a:solidFill>
                  <a:schemeClr val="dk1"/>
                </a:solidFill>
              </a:rPr>
              <a:t>Sosyoloji, toplumsal yasaları ortaya koyarak o yasalar temelinde öngörülerde bulunur ve bu öngörülerle topluma müda</a:t>
            </a:r>
            <a:r>
              <a:rPr lang="tr-TR" dirty="0">
                <a:solidFill>
                  <a:schemeClr val="dk1"/>
                </a:solidFill>
              </a:rPr>
              <a:t>hâl</a:t>
            </a:r>
            <a:r>
              <a:rPr lang="tr" dirty="0">
                <a:solidFill>
                  <a:schemeClr val="dk1"/>
                </a:solidFill>
              </a:rPr>
              <a:t>e eder.</a:t>
            </a:r>
            <a:endParaRPr dirty="0">
              <a:solidFill>
                <a:schemeClr val="dk1"/>
              </a:solidFill>
            </a:endParaRPr>
          </a:p>
          <a:p>
            <a:pPr marL="457200" lvl="0" indent="-342900" algn="l" rtl="0">
              <a:spcBef>
                <a:spcPts val="0"/>
              </a:spcBef>
              <a:spcAft>
                <a:spcPts val="0"/>
              </a:spcAft>
              <a:buClr>
                <a:schemeClr val="dk1"/>
              </a:buClr>
              <a:buSzPts val="1800"/>
              <a:buChar char="●"/>
            </a:pPr>
            <a:r>
              <a:rPr lang="tr" dirty="0">
                <a:solidFill>
                  <a:schemeClr val="dk1"/>
                </a:solidFill>
              </a:rPr>
              <a:t>“ Bilmek öngörmek, öngörmek yapmaktır.”</a:t>
            </a:r>
            <a:endParaRPr dirty="0">
              <a:solidFill>
                <a:schemeClr val="dk1"/>
              </a:solidFill>
            </a:endParaRPr>
          </a:p>
          <a:p>
            <a:pPr marL="457200" lvl="0" indent="-342900" algn="l" rtl="0">
              <a:spcBef>
                <a:spcPts val="0"/>
              </a:spcBef>
              <a:spcAft>
                <a:spcPts val="0"/>
              </a:spcAft>
              <a:buClr>
                <a:schemeClr val="dk1"/>
              </a:buClr>
              <a:buSzPts val="1800"/>
              <a:buChar char="●"/>
            </a:pPr>
            <a:r>
              <a:rPr lang="tr" dirty="0">
                <a:solidFill>
                  <a:schemeClr val="dk1"/>
                </a:solidFill>
              </a:rPr>
              <a:t>Tüm bunların altında yatan genel fikir, toplumsal düzensizliğin bütün kötülüklerin kaynağı olduğu inancıdır.</a:t>
            </a:r>
            <a:endParaRPr dirty="0">
              <a:solidFill>
                <a:schemeClr val="dk1"/>
              </a:solidFill>
            </a:endParaRPr>
          </a:p>
          <a:p>
            <a:pPr marL="457200" lvl="0" indent="-342900" algn="l" rtl="0">
              <a:spcBef>
                <a:spcPts val="0"/>
              </a:spcBef>
              <a:spcAft>
                <a:spcPts val="0"/>
              </a:spcAft>
              <a:buClr>
                <a:schemeClr val="dk1"/>
              </a:buClr>
              <a:buSzPts val="1800"/>
              <a:buChar char="●"/>
            </a:pPr>
            <a:r>
              <a:rPr lang="tr" dirty="0">
                <a:solidFill>
                  <a:schemeClr val="dk1"/>
                </a:solidFill>
              </a:rPr>
              <a:t>Comte’un tüm arayışının altında, düzeni ilerleme fikriyle birlikte düşünme çabası yatar. Sosyoloji, tam da bu ikisini bir araya getirmeye yardımcı olacağı için çok değerlidir.</a:t>
            </a:r>
            <a:endParaRPr dirty="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a:t>Sosyolojinin Siyasi-Toplumsal Rolü</a:t>
            </a:r>
            <a:endParaRPr/>
          </a:p>
        </p:txBody>
      </p:sp>
      <p:sp>
        <p:nvSpPr>
          <p:cNvPr id="138" name="Google Shape;138;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Clr>
                <a:schemeClr val="dk1"/>
              </a:buClr>
              <a:buSzPts val="1800"/>
              <a:buChar char="●"/>
            </a:pPr>
            <a:r>
              <a:rPr lang="tr">
                <a:solidFill>
                  <a:schemeClr val="dk1"/>
                </a:solidFill>
              </a:rPr>
              <a:t>Comte, otoriter bir devlet düşüncesine göz kırparak toplumda hiyerarşinin zorunlu olduğunu ve bu hiyerarşinin toplumsal düzenin temeli olduğunu iddia eder. Bu hiyerarşiyi de devlet düzenler ve kontrol eder.</a:t>
            </a:r>
            <a:endParaRPr>
              <a:solidFill>
                <a:schemeClr val="dk1"/>
              </a:solidFill>
            </a:endParaRPr>
          </a:p>
          <a:p>
            <a:pPr marL="457200" lvl="0" indent="-342900" algn="l" rtl="0">
              <a:spcBef>
                <a:spcPts val="0"/>
              </a:spcBef>
              <a:spcAft>
                <a:spcPts val="0"/>
              </a:spcAft>
              <a:buClr>
                <a:schemeClr val="dk1"/>
              </a:buClr>
              <a:buSzPts val="1800"/>
              <a:buChar char="●"/>
            </a:pPr>
            <a:r>
              <a:rPr lang="tr">
                <a:solidFill>
                  <a:schemeClr val="dk1"/>
                </a:solidFill>
              </a:rPr>
              <a:t>Buna göre, toplumsal hiyerarşinin en üstünde pozitivist sosyologlar, en altında da emek gücü sarf ederek hayatta kalan işçiler (proletarya) yer alır.</a:t>
            </a:r>
            <a:endParaRPr>
              <a:solidFill>
                <a:schemeClr val="dk1"/>
              </a:solidFill>
            </a:endParaRPr>
          </a:p>
          <a:p>
            <a:pPr marL="457200" lvl="0" indent="-342900" algn="l" rtl="0">
              <a:spcBef>
                <a:spcPts val="0"/>
              </a:spcBef>
              <a:spcAft>
                <a:spcPts val="0"/>
              </a:spcAft>
              <a:buClr>
                <a:schemeClr val="dk1"/>
              </a:buClr>
              <a:buSzPts val="1800"/>
              <a:buChar char="●"/>
            </a:pPr>
            <a:r>
              <a:rPr lang="tr">
                <a:solidFill>
                  <a:schemeClr val="dk1"/>
                </a:solidFill>
              </a:rPr>
              <a:t>İki grup da kendi çıkarlarından önce toplumun çıkarlarını düşünür ve topluma katkı sunmaya çalışırlar.</a:t>
            </a:r>
            <a:endParaRPr>
              <a:solidFill>
                <a:schemeClr val="dk1"/>
              </a:solidFill>
            </a:endParaRPr>
          </a:p>
          <a:p>
            <a:pPr marL="457200" lvl="0" indent="-342900" algn="l" rtl="0">
              <a:spcBef>
                <a:spcPts val="0"/>
              </a:spcBef>
              <a:spcAft>
                <a:spcPts val="0"/>
              </a:spcAft>
              <a:buClr>
                <a:schemeClr val="dk1"/>
              </a:buClr>
              <a:buSzPts val="1800"/>
              <a:buChar char="●"/>
            </a:pPr>
            <a:r>
              <a:rPr lang="tr">
                <a:solidFill>
                  <a:schemeClr val="dk1"/>
                </a:solidFill>
              </a:rPr>
              <a:t>Herkesin toplumsal iş bölümünde belli bir rolü ve işlevi olduğu organizma olarak toplum görüşü, Comte’un otoriter devletçiliğinin bir uzantısıdır.</a:t>
            </a:r>
            <a:endParaRPr>
              <a:solidFill>
                <a:schemeClr val="dk1"/>
              </a:solidFill>
            </a:endParaRPr>
          </a:p>
          <a:p>
            <a:pPr marL="457200" lvl="0" indent="-342900" algn="l" rtl="0">
              <a:spcBef>
                <a:spcPts val="0"/>
              </a:spcBef>
              <a:spcAft>
                <a:spcPts val="0"/>
              </a:spcAft>
              <a:buClr>
                <a:schemeClr val="dk1"/>
              </a:buClr>
              <a:buSzPts val="1800"/>
              <a:buChar char="●"/>
            </a:pPr>
            <a:r>
              <a:rPr lang="tr">
                <a:solidFill>
                  <a:schemeClr val="dk1"/>
                </a:solidFill>
              </a:rPr>
              <a:t>İşte, sosyoloji bu organizma olarak toplumu anlamaya, açıklamaya ve bu toplumun yasalarını ortaya çıkarmaya çalışır.</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a:t>İki Yaklaşım Biçimi: Comte Eleştirisi</a:t>
            </a:r>
            <a:endParaRPr/>
          </a:p>
        </p:txBody>
      </p:sp>
      <p:sp>
        <p:nvSpPr>
          <p:cNvPr id="144" name="Google Shape;144;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tr">
                <a:solidFill>
                  <a:schemeClr val="dk1"/>
                </a:solidFill>
              </a:rPr>
              <a:t>“Auguste Comte için asıl söz konusu olan, bireyciliğin yanılsamalarından kurtulmak, Ben’den Biz’e geçmektir.” Alain Touraine, Modernliğin Eleştirisi, s.90-91</a:t>
            </a: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1200"/>
              </a:spcAft>
              <a:buNone/>
            </a:pPr>
            <a:r>
              <a:rPr lang="tr">
                <a:solidFill>
                  <a:schemeClr val="dk1"/>
                </a:solidFill>
              </a:rPr>
              <a:t>Mesela, Herbert Marcuse, Akıl ve Devrim adlı yapıtında Comte’un pozitivist yaklaşımını toplumsal düzeni yasal olgu alanı olarak görmesi bağlamında muhafazakâr amaçlara hizmet eder olarak tanımlamaktadır. </a:t>
            </a:r>
            <a:endParaRPr>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1120</Words>
  <Application>Microsoft Office PowerPoint</Application>
  <PresentationFormat>Ekran Gösterisi (16:9)</PresentationFormat>
  <Paragraphs>64</Paragraphs>
  <Slides>16</Slides>
  <Notes>16</Notes>
  <HiddenSlides>0</HiddenSlides>
  <MMClips>0</MMClips>
  <ScaleCrop>false</ScaleCrop>
  <HeadingPairs>
    <vt:vector size="6" baseType="variant">
      <vt:variant>
        <vt:lpstr>Kullanılan Yazı Tipleri</vt:lpstr>
      </vt:variant>
      <vt:variant>
        <vt:i4>1</vt:i4>
      </vt:variant>
      <vt:variant>
        <vt:lpstr>Tema</vt:lpstr>
      </vt:variant>
      <vt:variant>
        <vt:i4>1</vt:i4>
      </vt:variant>
      <vt:variant>
        <vt:lpstr>Slayt Başlıkları</vt:lpstr>
      </vt:variant>
      <vt:variant>
        <vt:i4>16</vt:i4>
      </vt:variant>
    </vt:vector>
  </HeadingPairs>
  <TitlesOfParts>
    <vt:vector size="18" baseType="lpstr">
      <vt:lpstr>Arial</vt:lpstr>
      <vt:lpstr>Simple Light</vt:lpstr>
      <vt:lpstr>Auguste Comte</vt:lpstr>
      <vt:lpstr>Auguste Comte: Hayatı </vt:lpstr>
      <vt:lpstr>Auguste Comte: Siyasi Görüşleri</vt:lpstr>
      <vt:lpstr>Pozitif Felsefe</vt:lpstr>
      <vt:lpstr>Auguste Comte: Sosyoloji ve Sosyal Fizik</vt:lpstr>
      <vt:lpstr>Auguste Comte: Üç hâl Yasası (I)</vt:lpstr>
      <vt:lpstr>Auguste Comte: Üç hâl Yasası (II)</vt:lpstr>
      <vt:lpstr>Auguste Comte: Üç hâl Yasası (III)</vt:lpstr>
      <vt:lpstr>Teolojik hâl (Aşama)</vt:lpstr>
      <vt:lpstr>Metafizik hâl (Aşama)</vt:lpstr>
      <vt:lpstr>Pozitif hâl (Aşama)</vt:lpstr>
      <vt:lpstr>Bilimler Hiyerarşisi ve Sosyoloji (I)</vt:lpstr>
      <vt:lpstr>Bilimler Hiyerarşisi ve Sosyoloji (II)</vt:lpstr>
      <vt:lpstr>Sosyolojinin Siyasi-Toplumsal Rolü</vt:lpstr>
      <vt:lpstr>Sosyolojinin Siyasi-Toplumsal Rolü</vt:lpstr>
      <vt:lpstr>İki Yaklaşım Biçimi: Comte Eleştirisi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irem tascioglu</cp:lastModifiedBy>
  <cp:revision>5</cp:revision>
  <dcterms:modified xsi:type="dcterms:W3CDTF">2025-03-23T12:17:16Z</dcterms:modified>
</cp:coreProperties>
</file>