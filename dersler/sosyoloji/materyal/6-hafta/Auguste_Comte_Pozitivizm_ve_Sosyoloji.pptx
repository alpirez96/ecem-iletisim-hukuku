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Lst>
  <ns0:sldSz cx="12192000" cy="6858000" type="screen4x3"/>
  <ns0:notesSz cx="6858000" cy="9144000"/>
  <ns0:embeddedFontLst>
    <ns0:embeddedFont>
      <ns0:font typeface="Inter"/>
      <ns0:bold ns1:id="rIdFont21"/>
      <ns0:italic ns1:id="rIdFont22"/>
      <ns0:regular ns1:id="rIdFont23"/>
    </ns0:embeddedFont>
    <ns0:embeddedFont>
      <ns0:font typeface="Cinzel"/>
      <ns0:bold ns1:id="rIdFont24"/>
      <ns0:italic ns1:id="rIdFont25"/>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20" Type="http://schemas.openxmlformats.org/officeDocument/2006/relationships/slide" Target="slides/slide14.xml" /><ns0:Relationship Id="rIdFont21" Type="http://schemas.openxmlformats.org/officeDocument/2006/relationships/font" Target="fonts/cee6f61a-8038-419d-9c25-02bf44de55ce.fntdata" /><ns0:Relationship Id="rIdFont22" Type="http://schemas.openxmlformats.org/officeDocument/2006/relationships/font" Target="fonts/93d02e6c-1c53-4b50-9069-45f8b6dac5ac.fntdata" /><ns0:Relationship Id="rIdFont23" Type="http://schemas.openxmlformats.org/officeDocument/2006/relationships/font" Target="fonts/6169bc72-5ad9-44bc-8071-7eb8d1b4666d.fntdata" /><ns0:Relationship Id="rIdFont24" Type="http://schemas.openxmlformats.org/officeDocument/2006/relationships/font" Target="fonts/cb16b8e2-05b3-4ce8-b5bb-5bc8e7ada383.fntdata" /><ns0:Relationship Id="rIdFont25" Type="http://schemas.openxmlformats.org/officeDocument/2006/relationships/font" Target="fonts/157a74e1-a81a-457d-8775-68cfe682f43e.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918"/>
        </a:solidFill>
        <a:effectLst/>
      </p:bgPr>
    </p:bg>
    <p:spTree>
      <p:nvGrpSpPr>
        <p:cNvPr id="1" name=""/>
        <p:cNvGrpSpPr/>
        <p:nvPr/>
      </p:nvGrpSpPr>
      <p:grpSpPr/>
      <p:sp>
        <p:nvSpPr>
          <p:cNvPr id="2" name="Rectangle 1"/>
          <p:cNvSpPr/>
          <p:nvPr/>
        </p:nvSpPr>
        <p:spPr>
          <a:xfrm>
            <a:off x="762000" y="4311848"/>
            <a:ext cx="571500" cy="2857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7810500" y="1333500"/>
            <a:ext cx="3619500" cy="4191000"/>
          </a:xfrm>
          <a:prstGeom prst="rect">
            <a:avLst/>
          </a:prstGeom>
        </p:spPr>
      </p:pic>
      <p:pic>
        <p:nvPicPr>
          <p:cNvPr id="4" name="Picture 3" descr="image.png"/>
          <p:cNvPicPr>
            <a:picLocks noChangeAspect="1"/>
          </p:cNvPicPr>
          <p:nvPr/>
        </p:nvPicPr>
        <p:blipFill>
          <a:blip r:embed="rId3"/>
          <a:stretch>
            <a:fillRect/>
          </a:stretch>
        </p:blipFill>
        <p:spPr>
          <a:xfrm>
            <a:off x="7934325" y="1457325"/>
            <a:ext cx="3371850" cy="3943350"/>
          </a:xfrm>
          <a:prstGeom prst="rect">
            <a:avLst/>
          </a:prstGeom>
        </p:spPr>
      </p:pic>
      <p:sp>
        <p:nvSpPr>
          <p:cNvPr id="5" name="TextBox 4"/>
          <p:cNvSpPr txBox="1"/>
          <p:nvPr/>
        </p:nvSpPr>
        <p:spPr>
          <a:xfrm>
            <a:off x="762000" y="2517427"/>
            <a:ext cx="8048625" cy="209550"/>
          </a:xfrm>
          <a:prstGeom prst="rect">
            <a:avLst/>
          </a:prstGeom>
          <a:noFill/>
        </p:spPr>
        <p:txBody>
          <a:bodyPr wrap="none" lIns="0" rIns="0" tIns="0" bIns="0" anchor="t">
            <a:spAutoFit/>
          </a:bodyPr>
          <a:lstStyle/>
          <a:p>
            <a:pPr algn="l"/>
            <a:r>
              <a:rPr b="1" sz="1200" i="0" u="none">
                <a:solidFill>
                  <a:srgbClr val="C5A059"/>
                </a:solidFill>
                <a:latin typeface="Cinzel"/>
              </a:rPr>
              <a:t>SOSYOLOJI VE POZITIVIZM</a:t>
            </a:r>
          </a:p>
        </p:txBody>
      </p:sp>
      <p:sp>
        <p:nvSpPr>
          <p:cNvPr id="6" name="TextBox 5"/>
          <p:cNvSpPr txBox="1"/>
          <p:nvPr/>
        </p:nvSpPr>
        <p:spPr>
          <a:xfrm>
            <a:off x="762000" y="2879377"/>
            <a:ext cx="8451056" cy="613320"/>
          </a:xfrm>
          <a:prstGeom prst="rect">
            <a:avLst/>
          </a:prstGeom>
          <a:noFill/>
        </p:spPr>
        <p:txBody>
          <a:bodyPr wrap="none" lIns="0" rIns="0" tIns="0" bIns="0" anchor="t">
            <a:spAutoFit/>
          </a:bodyPr>
          <a:lstStyle/>
          <a:p>
            <a:pPr algn="l">
              <a:lnSpc>
                <a:spcPts val="4830"/>
              </a:lnSpc>
            </a:pPr>
            <a:r>
              <a:rPr b="1" sz="4200" i="0" u="none">
                <a:solidFill>
                  <a:srgbClr val="F4F1EA"/>
                </a:solidFill>
                <a:latin typeface="Cinzel"/>
              </a:rPr>
              <a:t>Auguste Comte</a:t>
            </a:r>
          </a:p>
        </p:txBody>
      </p:sp>
      <p:sp>
        <p:nvSpPr>
          <p:cNvPr id="7" name="TextBox 6"/>
          <p:cNvSpPr txBox="1"/>
          <p:nvPr/>
        </p:nvSpPr>
        <p:spPr>
          <a:xfrm>
            <a:off x="762000" y="3683198"/>
            <a:ext cx="8048625" cy="285750"/>
          </a:xfrm>
          <a:prstGeom prst="rect">
            <a:avLst/>
          </a:prstGeom>
          <a:noFill/>
        </p:spPr>
        <p:txBody>
          <a:bodyPr wrap="none" lIns="0" rIns="0" tIns="0" bIns="0" anchor="t">
            <a:spAutoFit/>
          </a:bodyPr>
          <a:lstStyle/>
          <a:p>
            <a:pPr algn="l">
              <a:lnSpc>
                <a:spcPts val="2250"/>
              </a:lnSpc>
            </a:pPr>
            <a:r>
              <a:rPr b="0" sz="1500" i="0" u="none">
                <a:solidFill>
                  <a:srgbClr val="A39E93"/>
                </a:solidFill>
                <a:latin typeface="Inter"/>
              </a:rPr>
              <a:t>Toplumsal Düzen, Üç Hâl Yasası ve Pozitif Felsefe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85800" y="2443162"/>
            <a:ext cx="3454449" cy="2619375"/>
          </a:xfrm>
          <a:prstGeom prst="roundRect">
            <a:avLst>
              <a:gd name="adj" fmla="val 2909"/>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68849" y="2786062"/>
            <a:ext cx="3454449" cy="1933575"/>
          </a:xfrm>
          <a:prstGeom prst="roundRect">
            <a:avLst>
              <a:gd name="adj" fmla="val 3940"/>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51899" y="2786062"/>
            <a:ext cx="3454449" cy="1933575"/>
          </a:xfrm>
          <a:prstGeom prst="roundRect">
            <a:avLst>
              <a:gd name="adj" fmla="val 3940"/>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62025" y="2719387"/>
            <a:ext cx="2901999" cy="228600"/>
          </a:xfrm>
          <a:prstGeom prst="rect">
            <a:avLst/>
          </a:prstGeom>
        </p:spPr>
      </p:pic>
      <p:pic>
        <p:nvPicPr>
          <p:cNvPr id="6" name="Picture 5" descr="image.png"/>
          <p:cNvPicPr>
            <a:picLocks noChangeAspect="1"/>
          </p:cNvPicPr>
          <p:nvPr/>
        </p:nvPicPr>
        <p:blipFill>
          <a:blip r:embed="rId3"/>
          <a:stretch>
            <a:fillRect/>
          </a:stretch>
        </p:blipFill>
        <p:spPr>
          <a:xfrm>
            <a:off x="4645074" y="3062287"/>
            <a:ext cx="2901999" cy="228600"/>
          </a:xfrm>
          <a:prstGeom prst="rect">
            <a:avLst/>
          </a:prstGeom>
        </p:spPr>
      </p:pic>
      <p:pic>
        <p:nvPicPr>
          <p:cNvPr id="7" name="Picture 6" descr="image.png"/>
          <p:cNvPicPr>
            <a:picLocks noChangeAspect="1"/>
          </p:cNvPicPr>
          <p:nvPr/>
        </p:nvPicPr>
        <p:blipFill>
          <a:blip r:embed="rId4"/>
          <a:stretch>
            <a:fillRect/>
          </a:stretch>
        </p:blipFill>
        <p:spPr>
          <a:xfrm>
            <a:off x="8328124" y="3062287"/>
            <a:ext cx="2901999" cy="228600"/>
          </a:xfrm>
          <a:prstGeom prst="rect">
            <a:avLst/>
          </a:prstGeom>
        </p:spPr>
      </p:pic>
      <p:sp>
        <p:nvSpPr>
          <p:cNvPr id="8" name="TextBox 7"/>
          <p:cNvSpPr txBox="1"/>
          <p:nvPr/>
        </p:nvSpPr>
        <p:spPr>
          <a:xfrm>
            <a:off x="685800" y="533400"/>
            <a:ext cx="11506200" cy="161925"/>
          </a:xfrm>
          <a:prstGeom prst="rect">
            <a:avLst/>
          </a:prstGeom>
          <a:noFill/>
        </p:spPr>
        <p:txBody>
          <a:bodyPr wrap="none" lIns="0" rIns="0" tIns="0" bIns="0" anchor="t">
            <a:spAutoFit/>
          </a:bodyPr>
          <a:lstStyle/>
          <a:p>
            <a:pPr algn="l"/>
            <a:r>
              <a:rPr b="1" sz="1050" i="0" u="none">
                <a:solidFill>
                  <a:srgbClr val="8C6D31"/>
                </a:solidFill>
                <a:latin typeface="Inter"/>
              </a:rPr>
              <a:t>BIYOGRAFI</a:t>
            </a:r>
          </a:p>
        </p:txBody>
      </p:sp>
      <p:sp>
        <p:nvSpPr>
          <p:cNvPr id="9" name="TextBox 8"/>
          <p:cNvSpPr txBox="1"/>
          <p:nvPr/>
        </p:nvSpPr>
        <p:spPr>
          <a:xfrm>
            <a:off x="685800" y="771525"/>
            <a:ext cx="11506200" cy="409575"/>
          </a:xfrm>
          <a:prstGeom prst="rect">
            <a:avLst/>
          </a:prstGeom>
          <a:noFill/>
        </p:spPr>
        <p:txBody>
          <a:bodyPr wrap="none" lIns="0" rIns="0" tIns="0" bIns="0" anchor="t">
            <a:spAutoFit/>
          </a:bodyPr>
          <a:lstStyle/>
          <a:p>
            <a:pPr algn="l"/>
            <a:r>
              <a:rPr b="1" sz="2400" i="0" u="none">
                <a:solidFill>
                  <a:srgbClr val="222222"/>
                </a:solidFill>
                <a:latin typeface="Cinzel"/>
              </a:rPr>
              <a:t>Auguste Comte: Hayatı</a:t>
            </a:r>
          </a:p>
        </p:txBody>
      </p:sp>
      <p:sp>
        <p:nvSpPr>
          <p:cNvPr id="10" name="TextBox 9"/>
          <p:cNvSpPr txBox="1"/>
          <p:nvPr/>
        </p:nvSpPr>
        <p:spPr>
          <a:xfrm>
            <a:off x="962025" y="3100387"/>
            <a:ext cx="3808874" cy="200025"/>
          </a:xfrm>
          <a:prstGeom prst="rect">
            <a:avLst/>
          </a:prstGeom>
          <a:noFill/>
        </p:spPr>
        <p:txBody>
          <a:bodyPr wrap="none" lIns="0" rIns="0" tIns="0" bIns="0" anchor="t">
            <a:spAutoFit/>
          </a:bodyPr>
          <a:lstStyle/>
          <a:p>
            <a:pPr algn="l"/>
            <a:r>
              <a:rPr b="1" sz="1350" i="0" u="none">
                <a:solidFill>
                  <a:srgbClr val="222222"/>
                </a:solidFill>
                <a:latin typeface="Inter"/>
              </a:rPr>
              <a:t>Gençlik ve Eğitim</a:t>
            </a:r>
          </a:p>
        </p:txBody>
      </p:sp>
      <p:sp>
        <p:nvSpPr>
          <p:cNvPr id="11" name="TextBox 10"/>
          <p:cNvSpPr txBox="1"/>
          <p:nvPr/>
        </p:nvSpPr>
        <p:spPr>
          <a:xfrm>
            <a:off x="962025" y="3414712"/>
            <a:ext cx="2997249" cy="1371600"/>
          </a:xfrm>
          <a:prstGeom prst="rect">
            <a:avLst/>
          </a:prstGeom>
          <a:noFill/>
        </p:spPr>
        <p:txBody>
          <a:bodyPr wrap="square" lIns="0" rIns="0" tIns="0" bIns="0" anchor="t">
            <a:spAutoFit/>
          </a:bodyPr>
          <a:lstStyle/>
          <a:p>
            <a:pPr algn="l">
              <a:lnSpc>
                <a:spcPts val="1800"/>
              </a:lnSpc>
            </a:pPr>
            <a:r>
              <a:rPr b="0" sz="1125" i="0" u="none">
                <a:solidFill>
                  <a:srgbClr val="555555"/>
                </a:solidFill>
                <a:latin typeface="Inter"/>
              </a:rPr>
              <a:t>Auguste Comte, devrimden kısa bir süre sonra 1798’de Katolik ve monarşizm yanlısı bir ailede doğar. Kısa sürede Katolik inancından uzaklaşır, liberal ve ilerlemeci bir düşünceyi savunmaya başlar. Ecole Polytechnique’de doğa bilimleri okur.</a:t>
            </a:r>
          </a:p>
        </p:txBody>
      </p:sp>
      <p:sp>
        <p:nvSpPr>
          <p:cNvPr id="12" name="TextBox 11"/>
          <p:cNvSpPr txBox="1"/>
          <p:nvPr/>
        </p:nvSpPr>
        <p:spPr>
          <a:xfrm>
            <a:off x="4645074" y="3443287"/>
            <a:ext cx="3808874" cy="200025"/>
          </a:xfrm>
          <a:prstGeom prst="rect">
            <a:avLst/>
          </a:prstGeom>
          <a:noFill/>
        </p:spPr>
        <p:txBody>
          <a:bodyPr wrap="none" lIns="0" rIns="0" tIns="0" bIns="0" anchor="t">
            <a:spAutoFit/>
          </a:bodyPr>
          <a:lstStyle/>
          <a:p>
            <a:pPr algn="l"/>
            <a:r>
              <a:rPr b="1" sz="1350" i="0" u="none">
                <a:solidFill>
                  <a:srgbClr val="222222"/>
                </a:solidFill>
                <a:latin typeface="Inter"/>
              </a:rPr>
              <a:t>Saint Simon Etkisi</a:t>
            </a:r>
          </a:p>
        </p:txBody>
      </p:sp>
      <p:sp>
        <p:nvSpPr>
          <p:cNvPr id="13" name="TextBox 12"/>
          <p:cNvSpPr txBox="1"/>
          <p:nvPr/>
        </p:nvSpPr>
        <p:spPr>
          <a:xfrm>
            <a:off x="4645074" y="3757612"/>
            <a:ext cx="2997249" cy="685800"/>
          </a:xfrm>
          <a:prstGeom prst="rect">
            <a:avLst/>
          </a:prstGeom>
          <a:noFill/>
        </p:spPr>
        <p:txBody>
          <a:bodyPr wrap="square" lIns="0" rIns="0" tIns="0" bIns="0" anchor="t">
            <a:spAutoFit/>
          </a:bodyPr>
          <a:lstStyle/>
          <a:p>
            <a:pPr algn="l">
              <a:lnSpc>
                <a:spcPts val="1800"/>
              </a:lnSpc>
            </a:pPr>
            <a:r>
              <a:rPr b="0" sz="1125" i="0" u="none">
                <a:solidFill>
                  <a:srgbClr val="555555"/>
                </a:solidFill>
                <a:latin typeface="Inter"/>
              </a:rPr>
              <a:t>1817-1824 arasında Saint Simon’un çalışma arkadaşı olur. Simon’un endüstri toplumu üzerine olan görüşlerinden etkilenir.</a:t>
            </a:r>
          </a:p>
        </p:txBody>
      </p:sp>
      <p:sp>
        <p:nvSpPr>
          <p:cNvPr id="14" name="TextBox 13"/>
          <p:cNvSpPr txBox="1"/>
          <p:nvPr/>
        </p:nvSpPr>
        <p:spPr>
          <a:xfrm>
            <a:off x="8328124" y="3443287"/>
            <a:ext cx="3808874" cy="200025"/>
          </a:xfrm>
          <a:prstGeom prst="rect">
            <a:avLst/>
          </a:prstGeom>
          <a:noFill/>
        </p:spPr>
        <p:txBody>
          <a:bodyPr wrap="none" lIns="0" rIns="0" tIns="0" bIns="0" anchor="t">
            <a:spAutoFit/>
          </a:bodyPr>
          <a:lstStyle/>
          <a:p>
            <a:pPr algn="l"/>
            <a:r>
              <a:rPr b="1" sz="1350" i="0" u="none">
                <a:solidFill>
                  <a:srgbClr val="222222"/>
                </a:solidFill>
                <a:latin typeface="Inter"/>
              </a:rPr>
              <a:t>Temel Eserleri</a:t>
            </a:r>
          </a:p>
        </p:txBody>
      </p:sp>
      <p:sp>
        <p:nvSpPr>
          <p:cNvPr id="15" name="TextBox 14"/>
          <p:cNvSpPr txBox="1"/>
          <p:nvPr/>
        </p:nvSpPr>
        <p:spPr>
          <a:xfrm>
            <a:off x="8328124" y="3757612"/>
            <a:ext cx="2997249" cy="685800"/>
          </a:xfrm>
          <a:prstGeom prst="rect">
            <a:avLst/>
          </a:prstGeom>
          <a:noFill/>
        </p:spPr>
        <p:txBody>
          <a:bodyPr wrap="square" lIns="0" rIns="0" tIns="0" bIns="0" anchor="t">
            <a:spAutoFit/>
          </a:bodyPr>
          <a:lstStyle/>
          <a:p>
            <a:pPr algn="l">
              <a:lnSpc>
                <a:spcPts val="1800"/>
              </a:lnSpc>
            </a:pPr>
            <a:r>
              <a:rPr b="0" sz="1125" i="0" u="none">
                <a:solidFill>
                  <a:srgbClr val="555555"/>
                </a:solidFill>
                <a:latin typeface="Inter"/>
              </a:rPr>
              <a:t>En bilinen eserleri </a:t>
            </a:r>
            <a:r>
              <a:rPr b="1" sz="1125" i="0" u="none">
                <a:solidFill>
                  <a:srgbClr val="555555"/>
                </a:solidFill>
                <a:latin typeface="Inter"/>
              </a:rPr>
              <a:t>Pozitif Felsefe Dersleri</a:t>
            </a:r>
            <a:r>
              <a:rPr b="0" sz="1125" i="0" u="none">
                <a:solidFill>
                  <a:srgbClr val="555555"/>
                </a:solidFill>
                <a:latin typeface="Inter"/>
              </a:rPr>
              <a:t> (1830-1842) ve </a:t>
            </a:r>
            <a:r>
              <a:rPr b="1" sz="1125" i="0" u="none">
                <a:solidFill>
                  <a:srgbClr val="555555"/>
                </a:solidFill>
                <a:latin typeface="Inter"/>
              </a:rPr>
              <a:t>Pozitif Yönetim Biçimi</a:t>
            </a:r>
            <a:r>
              <a:rPr b="0" sz="1125" i="0" u="none">
                <a:solidFill>
                  <a:srgbClr val="555555"/>
                </a:solidFill>
                <a:latin typeface="Inter"/>
              </a:rPr>
              <a:t>’dir (1851-1854).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ectangle 1"/>
          <p:cNvSpPr/>
          <p:nvPr/>
        </p:nvSpPr>
        <p:spPr>
          <a:xfrm>
            <a:off x="685800" y="1485900"/>
            <a:ext cx="3403550" cy="4838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94150" y="1485900"/>
            <a:ext cx="3403550" cy="4838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02500" y="1485900"/>
            <a:ext cx="3403550" cy="4838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6315075"/>
            <a:ext cx="3403550" cy="9525"/>
          </a:xfrm>
          <a:prstGeom prst="rect">
            <a:avLst/>
          </a:prstGeom>
          <a:solidFill>
            <a:srgbClr val="E8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485900"/>
            <a:ext cx="3403550" cy="9525"/>
          </a:xfrm>
          <a:prstGeom prst="rect">
            <a:avLst/>
          </a:prstGeom>
          <a:solidFill>
            <a:srgbClr val="E8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85900"/>
            <a:ext cx="38100" cy="4838700"/>
          </a:xfrm>
          <a:prstGeom prst="rect">
            <a:avLst/>
          </a:prstGeom>
          <a:solidFill>
            <a:srgbClr val="8C6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79825" y="1485900"/>
            <a:ext cx="9525" cy="4838700"/>
          </a:xfrm>
          <a:prstGeom prst="rect">
            <a:avLst/>
          </a:prstGeom>
          <a:solidFill>
            <a:srgbClr val="E8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94150" y="6315075"/>
            <a:ext cx="3403550" cy="9525"/>
          </a:xfrm>
          <a:prstGeom prst="rect">
            <a:avLst/>
          </a:prstGeom>
          <a:solidFill>
            <a:srgbClr val="E8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94150" y="1485900"/>
            <a:ext cx="3403550" cy="9525"/>
          </a:xfrm>
          <a:prstGeom prst="rect">
            <a:avLst/>
          </a:prstGeom>
          <a:solidFill>
            <a:srgbClr val="E8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4150" y="1485900"/>
            <a:ext cx="38100" cy="4838700"/>
          </a:xfrm>
          <a:prstGeom prst="rect">
            <a:avLst/>
          </a:prstGeom>
          <a:solidFill>
            <a:srgbClr val="8C6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88175" y="1485900"/>
            <a:ext cx="9525" cy="4838700"/>
          </a:xfrm>
          <a:prstGeom prst="rect">
            <a:avLst/>
          </a:prstGeom>
          <a:solidFill>
            <a:srgbClr val="E8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02500" y="6315075"/>
            <a:ext cx="3403550" cy="9525"/>
          </a:xfrm>
          <a:prstGeom prst="rect">
            <a:avLst/>
          </a:prstGeom>
          <a:solidFill>
            <a:srgbClr val="E8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02500" y="1485900"/>
            <a:ext cx="3403550" cy="9525"/>
          </a:xfrm>
          <a:prstGeom prst="rect">
            <a:avLst/>
          </a:prstGeom>
          <a:solidFill>
            <a:srgbClr val="E8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2500" y="1485900"/>
            <a:ext cx="38100" cy="4838700"/>
          </a:xfrm>
          <a:prstGeom prst="rect">
            <a:avLst/>
          </a:prstGeom>
          <a:solidFill>
            <a:srgbClr val="8C6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496526" y="1485900"/>
            <a:ext cx="9525" cy="4838700"/>
          </a:xfrm>
          <a:prstGeom prst="rect">
            <a:avLst/>
          </a:prstGeom>
          <a:solidFill>
            <a:srgbClr val="E8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33400"/>
            <a:ext cx="11506200" cy="161925"/>
          </a:xfrm>
          <a:prstGeom prst="rect">
            <a:avLst/>
          </a:prstGeom>
          <a:noFill/>
        </p:spPr>
        <p:txBody>
          <a:bodyPr wrap="none" lIns="0" rIns="0" tIns="0" bIns="0" anchor="t">
            <a:spAutoFit/>
          </a:bodyPr>
          <a:lstStyle/>
          <a:p>
            <a:pPr algn="l"/>
            <a:r>
              <a:rPr b="1" sz="1050" i="0" u="none">
                <a:solidFill>
                  <a:srgbClr val="8C6D31"/>
                </a:solidFill>
                <a:latin typeface="Inter"/>
              </a:rPr>
              <a:t>DÜŞÜNCE YAPISI</a:t>
            </a:r>
          </a:p>
        </p:txBody>
      </p:sp>
      <p:sp>
        <p:nvSpPr>
          <p:cNvPr id="18" name="TextBox 17"/>
          <p:cNvSpPr txBox="1"/>
          <p:nvPr/>
        </p:nvSpPr>
        <p:spPr>
          <a:xfrm>
            <a:off x="685800" y="771525"/>
            <a:ext cx="11506200" cy="409575"/>
          </a:xfrm>
          <a:prstGeom prst="rect">
            <a:avLst/>
          </a:prstGeom>
          <a:noFill/>
        </p:spPr>
        <p:txBody>
          <a:bodyPr wrap="none" lIns="0" rIns="0" tIns="0" bIns="0" anchor="t">
            <a:spAutoFit/>
          </a:bodyPr>
          <a:lstStyle/>
          <a:p>
            <a:pPr algn="l"/>
            <a:r>
              <a:rPr b="1" sz="2400" i="0" u="none">
                <a:solidFill>
                  <a:srgbClr val="222222"/>
                </a:solidFill>
                <a:latin typeface="Cinzel"/>
              </a:rPr>
              <a:t>Auguste Comte: Siyasi Görüşleri</a:t>
            </a:r>
          </a:p>
        </p:txBody>
      </p:sp>
      <p:sp>
        <p:nvSpPr>
          <p:cNvPr id="19" name="TextBox 18"/>
          <p:cNvSpPr txBox="1"/>
          <p:nvPr/>
        </p:nvSpPr>
        <p:spPr>
          <a:xfrm>
            <a:off x="990600" y="2838450"/>
            <a:ext cx="3704564" cy="190500"/>
          </a:xfrm>
          <a:prstGeom prst="rect">
            <a:avLst/>
          </a:prstGeom>
          <a:noFill/>
        </p:spPr>
        <p:txBody>
          <a:bodyPr wrap="none" lIns="0" rIns="0" tIns="0" bIns="0" anchor="t">
            <a:spAutoFit/>
          </a:bodyPr>
          <a:lstStyle/>
          <a:p>
            <a:pPr algn="l"/>
            <a:r>
              <a:rPr b="1" sz="1275" i="0" u="none">
                <a:solidFill>
                  <a:srgbClr val="222222"/>
                </a:solidFill>
                <a:latin typeface="Inter"/>
              </a:rPr>
              <a:t>Bilimsel Yöntem ve Toplum</a:t>
            </a:r>
          </a:p>
        </p:txBody>
      </p:sp>
      <p:sp>
        <p:nvSpPr>
          <p:cNvPr id="20" name="TextBox 19"/>
          <p:cNvSpPr txBox="1"/>
          <p:nvPr/>
        </p:nvSpPr>
        <p:spPr>
          <a:xfrm>
            <a:off x="990600" y="3143250"/>
            <a:ext cx="2917775" cy="1828800"/>
          </a:xfrm>
          <a:prstGeom prst="rect">
            <a:avLst/>
          </a:prstGeom>
          <a:noFill/>
        </p:spPr>
        <p:txBody>
          <a:bodyPr wrap="square" lIns="0" rIns="0" tIns="0" bIns="0" anchor="t">
            <a:spAutoFit/>
          </a:bodyPr>
          <a:lstStyle/>
          <a:p>
            <a:pPr algn="l">
              <a:lnSpc>
                <a:spcPts val="1800"/>
              </a:lnSpc>
            </a:pPr>
            <a:r>
              <a:rPr b="0" sz="1125" i="0" u="none">
                <a:solidFill>
                  <a:srgbClr val="555555"/>
                </a:solidFill>
                <a:latin typeface="Inter"/>
              </a:rPr>
              <a:t>Ecole Polytechnique'te öğrenciyken fizik, kimya ve matematik gibi bilimlerin geliştirdikleri bilimsel yöntemlerin toplumsal sorunlara uygulanabileceği, böylece güçlü siyasi istikrarsızlıkların ve toplumsal çatışmaların kaynakları olan fikir ayrılıklarının ortadan kaldırılabileceği fikrine ulaştı.</a:t>
            </a:r>
          </a:p>
        </p:txBody>
      </p:sp>
      <p:sp>
        <p:nvSpPr>
          <p:cNvPr id="21" name="TextBox 20"/>
          <p:cNvSpPr txBox="1"/>
          <p:nvPr/>
        </p:nvSpPr>
        <p:spPr>
          <a:xfrm>
            <a:off x="4698950" y="2552700"/>
            <a:ext cx="3704564" cy="190500"/>
          </a:xfrm>
          <a:prstGeom prst="rect">
            <a:avLst/>
          </a:prstGeom>
          <a:noFill/>
        </p:spPr>
        <p:txBody>
          <a:bodyPr wrap="none" lIns="0" rIns="0" tIns="0" bIns="0" anchor="t">
            <a:spAutoFit/>
          </a:bodyPr>
          <a:lstStyle/>
          <a:p>
            <a:pPr algn="l"/>
            <a:r>
              <a:rPr b="1" sz="1275" i="0" u="none">
                <a:solidFill>
                  <a:srgbClr val="222222"/>
                </a:solidFill>
                <a:latin typeface="Inter"/>
              </a:rPr>
              <a:t>Otorite ve İlerleme Sentezi</a:t>
            </a:r>
          </a:p>
        </p:txBody>
      </p:sp>
      <p:sp>
        <p:nvSpPr>
          <p:cNvPr id="22" name="TextBox 21"/>
          <p:cNvSpPr txBox="1"/>
          <p:nvPr/>
        </p:nvSpPr>
        <p:spPr>
          <a:xfrm>
            <a:off x="4698950" y="2857500"/>
            <a:ext cx="2917775" cy="1143000"/>
          </a:xfrm>
          <a:prstGeom prst="rect">
            <a:avLst/>
          </a:prstGeom>
          <a:noFill/>
        </p:spPr>
        <p:txBody>
          <a:bodyPr wrap="square" lIns="0" rIns="0" tIns="0" bIns="0" anchor="t">
            <a:spAutoFit/>
          </a:bodyPr>
          <a:lstStyle/>
          <a:p>
            <a:pPr algn="l">
              <a:lnSpc>
                <a:spcPts val="1800"/>
              </a:lnSpc>
            </a:pPr>
            <a:r>
              <a:rPr b="0" sz="1125" i="0" u="none">
                <a:solidFill>
                  <a:srgbClr val="555555"/>
                </a:solidFill>
                <a:latin typeface="Inter"/>
              </a:rPr>
              <a:t>Fransız Devrimi’nden ve onun sonucunda ortaya çıkan siyasi ve toplumsal kargaşadan bir hayli etkilenir ve kargaşayı ortadan kaldıracak düzenli bir toplum modelinin peşinden koşar.</a:t>
            </a:r>
          </a:p>
        </p:txBody>
      </p:sp>
      <p:sp>
        <p:nvSpPr>
          <p:cNvPr id="23" name="TextBox 22"/>
          <p:cNvSpPr txBox="1"/>
          <p:nvPr/>
        </p:nvSpPr>
        <p:spPr>
          <a:xfrm>
            <a:off x="4698950" y="4114800"/>
            <a:ext cx="2917775" cy="1143000"/>
          </a:xfrm>
          <a:prstGeom prst="rect">
            <a:avLst/>
          </a:prstGeom>
          <a:noFill/>
        </p:spPr>
        <p:txBody>
          <a:bodyPr wrap="square" lIns="0" rIns="0" tIns="0" bIns="0" anchor="t">
            <a:spAutoFit/>
          </a:bodyPr>
          <a:lstStyle/>
          <a:p>
            <a:pPr algn="l">
              <a:lnSpc>
                <a:spcPts val="1800"/>
              </a:lnSpc>
            </a:pPr>
            <a:r>
              <a:rPr b="0" sz="1125" i="0" u="none">
                <a:solidFill>
                  <a:srgbClr val="555555"/>
                </a:solidFill>
                <a:latin typeface="Inter"/>
              </a:rPr>
              <a:t>Auguste Comte, bir yandan muhafazakârlar gibi otoritenin hiyerarşik yapısına inanır, diğer yandan ise devrimciler gibi ilerlemeye ve reforma inanmaktadır.</a:t>
            </a:r>
          </a:p>
        </p:txBody>
      </p:sp>
      <p:sp>
        <p:nvSpPr>
          <p:cNvPr id="24" name="TextBox 23"/>
          <p:cNvSpPr txBox="1"/>
          <p:nvPr/>
        </p:nvSpPr>
        <p:spPr>
          <a:xfrm>
            <a:off x="8407300" y="3067050"/>
            <a:ext cx="3704564" cy="190500"/>
          </a:xfrm>
          <a:prstGeom prst="rect">
            <a:avLst/>
          </a:prstGeom>
          <a:noFill/>
        </p:spPr>
        <p:txBody>
          <a:bodyPr wrap="none" lIns="0" rIns="0" tIns="0" bIns="0" anchor="t">
            <a:spAutoFit/>
          </a:bodyPr>
          <a:lstStyle/>
          <a:p>
            <a:pPr algn="l"/>
            <a:r>
              <a:rPr b="1" sz="1275" i="0" u="none">
                <a:solidFill>
                  <a:srgbClr val="222222"/>
                </a:solidFill>
                <a:latin typeface="Inter"/>
              </a:rPr>
              <a:t>Pozitif Sosyal Bilim</a:t>
            </a:r>
          </a:p>
        </p:txBody>
      </p:sp>
      <p:sp>
        <p:nvSpPr>
          <p:cNvPr id="25" name="TextBox 24"/>
          <p:cNvSpPr txBox="1"/>
          <p:nvPr/>
        </p:nvSpPr>
        <p:spPr>
          <a:xfrm>
            <a:off x="8407300" y="3371850"/>
            <a:ext cx="2917775" cy="1371600"/>
          </a:xfrm>
          <a:prstGeom prst="rect">
            <a:avLst/>
          </a:prstGeom>
          <a:noFill/>
        </p:spPr>
        <p:txBody>
          <a:bodyPr wrap="square" lIns="0" rIns="0" tIns="0" bIns="0" anchor="t">
            <a:spAutoFit/>
          </a:bodyPr>
          <a:lstStyle/>
          <a:p>
            <a:pPr algn="l">
              <a:lnSpc>
                <a:spcPts val="1800"/>
              </a:lnSpc>
            </a:pPr>
            <a:r>
              <a:rPr b="0" sz="1125" i="0" u="none">
                <a:solidFill>
                  <a:srgbClr val="555555"/>
                </a:solidFill>
                <a:latin typeface="Inter"/>
              </a:rPr>
              <a:t>Comte’un amacı, toplumsal düzeni ve birliği kuracak kanunları tespit etmek ve kafalardaki ayrışmaları gidermektir. Bunun için matematik ve doğa bilimi gibi yapılandırılmış bir pozitif sosyal bilime gereksinim duyar.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85800" y="2342257"/>
            <a:ext cx="10820400" cy="1857375"/>
          </a:xfrm>
          <a:prstGeom prst="roundRect">
            <a:avLst>
              <a:gd name="adj" fmla="val 4102"/>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4466332"/>
            <a:ext cx="10820400" cy="1040010"/>
          </a:xfrm>
          <a:prstGeom prst="roundRect">
            <a:avLst>
              <a:gd name="adj" fmla="val 7326"/>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342257"/>
            <a:ext cx="57150" cy="1857375"/>
          </a:xfrm>
          <a:prstGeom prst="rect">
            <a:avLst/>
          </a:prstGeom>
          <a:solidFill>
            <a:srgbClr val="8C6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33400"/>
            <a:ext cx="11506200" cy="161925"/>
          </a:xfrm>
          <a:prstGeom prst="rect">
            <a:avLst/>
          </a:prstGeom>
          <a:noFill/>
        </p:spPr>
        <p:txBody>
          <a:bodyPr wrap="none" lIns="0" rIns="0" tIns="0" bIns="0" anchor="t">
            <a:spAutoFit/>
          </a:bodyPr>
          <a:lstStyle/>
          <a:p>
            <a:pPr algn="l"/>
            <a:r>
              <a:rPr b="1" sz="1050" i="0" u="none">
                <a:solidFill>
                  <a:srgbClr val="8C6D31"/>
                </a:solidFill>
                <a:latin typeface="Inter"/>
              </a:rPr>
              <a:t>KURAMSAL ÇERÇEVE</a:t>
            </a:r>
          </a:p>
        </p:txBody>
      </p:sp>
      <p:sp>
        <p:nvSpPr>
          <p:cNvPr id="6" name="TextBox 5"/>
          <p:cNvSpPr txBox="1"/>
          <p:nvPr/>
        </p:nvSpPr>
        <p:spPr>
          <a:xfrm>
            <a:off x="685800" y="771525"/>
            <a:ext cx="11506200" cy="409575"/>
          </a:xfrm>
          <a:prstGeom prst="rect">
            <a:avLst/>
          </a:prstGeom>
          <a:noFill/>
        </p:spPr>
        <p:txBody>
          <a:bodyPr wrap="none" lIns="0" rIns="0" tIns="0" bIns="0" anchor="t">
            <a:spAutoFit/>
          </a:bodyPr>
          <a:lstStyle/>
          <a:p>
            <a:pPr algn="l"/>
            <a:r>
              <a:rPr b="1" sz="2400" i="0" u="none">
                <a:solidFill>
                  <a:srgbClr val="222222"/>
                </a:solidFill>
                <a:latin typeface="Cinzel"/>
              </a:rPr>
              <a:t>Pozitif Felsefe</a:t>
            </a:r>
          </a:p>
        </p:txBody>
      </p:sp>
      <p:sp>
        <p:nvSpPr>
          <p:cNvPr id="7" name="TextBox 6"/>
          <p:cNvSpPr txBox="1"/>
          <p:nvPr/>
        </p:nvSpPr>
        <p:spPr>
          <a:xfrm>
            <a:off x="1123950" y="2647057"/>
            <a:ext cx="10096500" cy="914400"/>
          </a:xfrm>
          <a:prstGeom prst="rect">
            <a:avLst/>
          </a:prstGeom>
          <a:noFill/>
        </p:spPr>
        <p:txBody>
          <a:bodyPr wrap="square" lIns="0" rIns="0" tIns="0" bIns="0" anchor="t">
            <a:spAutoFit/>
          </a:bodyPr>
          <a:lstStyle/>
          <a:p>
            <a:pPr algn="l">
              <a:lnSpc>
                <a:spcPts val="2400"/>
              </a:lnSpc>
            </a:pPr>
            <a:r>
              <a:rPr b="0" sz="1500" i="1" u="none">
                <a:solidFill>
                  <a:srgbClr val="222222"/>
                </a:solidFill>
                <a:latin typeface="Cinzel"/>
              </a:rPr>
              <a:t>“Pozitif Felsefe'nin ilk karakteristik özelliği bütün olguları değişmez doğa yasalarına tabi şeyler olarak görmesidir. Görevimiz . . . bu yasaları uygun biçimde ortaya koymak, mümkün olan en az sayıya indirmektir.”</a:t>
            </a:r>
          </a:p>
        </p:txBody>
      </p:sp>
      <p:sp>
        <p:nvSpPr>
          <p:cNvPr id="8" name="TextBox 7"/>
          <p:cNvSpPr txBox="1"/>
          <p:nvPr/>
        </p:nvSpPr>
        <p:spPr>
          <a:xfrm>
            <a:off x="-1376362" y="3713857"/>
            <a:ext cx="12501562" cy="180975"/>
          </a:xfrm>
          <a:prstGeom prst="rect">
            <a:avLst/>
          </a:prstGeom>
          <a:noFill/>
        </p:spPr>
        <p:txBody>
          <a:bodyPr wrap="none" lIns="0" rIns="0" tIns="0" bIns="0" anchor="t">
            <a:spAutoFit/>
          </a:bodyPr>
          <a:lstStyle/>
          <a:p>
            <a:pPr algn="r"/>
            <a:r>
              <a:rPr b="1" sz="1125" i="0" u="none">
                <a:solidFill>
                  <a:srgbClr val="8C6D31"/>
                </a:solidFill>
                <a:latin typeface="Inter"/>
              </a:rPr>
              <a:t>— Auguste Comte, Pozitif Felsefe</a:t>
            </a:r>
          </a:p>
        </p:txBody>
      </p:sp>
      <p:sp>
        <p:nvSpPr>
          <p:cNvPr id="9" name="TextBox 8"/>
          <p:cNvSpPr txBox="1"/>
          <p:nvPr/>
        </p:nvSpPr>
        <p:spPr>
          <a:xfrm>
            <a:off x="962025" y="4742557"/>
            <a:ext cx="10363200" cy="487560"/>
          </a:xfrm>
          <a:prstGeom prst="rect">
            <a:avLst/>
          </a:prstGeom>
          <a:noFill/>
        </p:spPr>
        <p:txBody>
          <a:bodyPr wrap="square" lIns="0" rIns="0" tIns="0" bIns="0" anchor="t">
            <a:spAutoFit/>
          </a:bodyPr>
          <a:lstStyle/>
          <a:p>
            <a:pPr algn="l">
              <a:lnSpc>
                <a:spcPts val="1920"/>
              </a:lnSpc>
            </a:pPr>
            <a:r>
              <a:rPr b="0" sz="1200" i="0" u="none">
                <a:solidFill>
                  <a:srgbClr val="444444"/>
                </a:solidFill>
                <a:latin typeface="Inter"/>
              </a:rPr>
              <a:t>Bu yasaların hakimiyeti fiziksel ve biyolojik olgular kadar beşeri ve toplumsal olguları da içerir, zira hepsi bütünlüklü bir doğa düzeninin parçalarıdır.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85800" y="2334666"/>
            <a:ext cx="10820400" cy="963810"/>
          </a:xfrm>
          <a:prstGeom prst="roundRect">
            <a:avLst>
              <a:gd name="adj" fmla="val 7906"/>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488977"/>
            <a:ext cx="10820400" cy="720030"/>
          </a:xfrm>
          <a:prstGeom prst="roundRect">
            <a:avLst>
              <a:gd name="adj" fmla="val 10582"/>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399508"/>
            <a:ext cx="10820400" cy="1076325"/>
          </a:xfrm>
          <a:prstGeom prst="roundRect">
            <a:avLst>
              <a:gd name="adj" fmla="val 7079"/>
            </a:avLst>
          </a:prstGeom>
          <a:solidFill>
            <a:srgbClr val="222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52500" y="4666208"/>
            <a:ext cx="10287000" cy="228600"/>
          </a:xfrm>
          <a:prstGeom prst="rect">
            <a:avLst/>
          </a:prstGeom>
        </p:spPr>
      </p:pic>
      <p:sp>
        <p:nvSpPr>
          <p:cNvPr id="6" name="TextBox 5"/>
          <p:cNvSpPr txBox="1"/>
          <p:nvPr/>
        </p:nvSpPr>
        <p:spPr>
          <a:xfrm>
            <a:off x="685800" y="533400"/>
            <a:ext cx="11506200" cy="161925"/>
          </a:xfrm>
          <a:prstGeom prst="rect">
            <a:avLst/>
          </a:prstGeom>
          <a:noFill/>
        </p:spPr>
        <p:txBody>
          <a:bodyPr wrap="none" lIns="0" rIns="0" tIns="0" bIns="0" anchor="t">
            <a:spAutoFit/>
          </a:bodyPr>
          <a:lstStyle/>
          <a:p>
            <a:pPr algn="l"/>
            <a:r>
              <a:rPr b="1" sz="1050" i="0" u="none">
                <a:solidFill>
                  <a:srgbClr val="8C6D31"/>
                </a:solidFill>
                <a:latin typeface="Inter"/>
              </a:rPr>
              <a:t>BILIMIN DOĞUŞU</a:t>
            </a:r>
          </a:p>
        </p:txBody>
      </p:sp>
      <p:sp>
        <p:nvSpPr>
          <p:cNvPr id="7" name="TextBox 6"/>
          <p:cNvSpPr txBox="1"/>
          <p:nvPr/>
        </p:nvSpPr>
        <p:spPr>
          <a:xfrm>
            <a:off x="685800" y="771525"/>
            <a:ext cx="11506200" cy="409575"/>
          </a:xfrm>
          <a:prstGeom prst="rect">
            <a:avLst/>
          </a:prstGeom>
          <a:noFill/>
        </p:spPr>
        <p:txBody>
          <a:bodyPr wrap="none" lIns="0" rIns="0" tIns="0" bIns="0" anchor="t">
            <a:spAutoFit/>
          </a:bodyPr>
          <a:lstStyle/>
          <a:p>
            <a:pPr algn="l"/>
            <a:r>
              <a:rPr b="1" sz="2400" i="0" u="none">
                <a:solidFill>
                  <a:srgbClr val="222222"/>
                </a:solidFill>
                <a:latin typeface="Cinzel"/>
              </a:rPr>
              <a:t>Auguste Comte: Sosyoloji ve Sosyal Fizik</a:t>
            </a:r>
          </a:p>
        </p:txBody>
      </p:sp>
      <p:sp>
        <p:nvSpPr>
          <p:cNvPr id="8" name="TextBox 7"/>
          <p:cNvSpPr txBox="1"/>
          <p:nvPr/>
        </p:nvSpPr>
        <p:spPr>
          <a:xfrm>
            <a:off x="962025" y="2572791"/>
            <a:ext cx="10363200" cy="487560"/>
          </a:xfrm>
          <a:prstGeom prst="rect">
            <a:avLst/>
          </a:prstGeom>
          <a:noFill/>
        </p:spPr>
        <p:txBody>
          <a:bodyPr wrap="square" lIns="0" rIns="0" tIns="0" bIns="0" anchor="t">
            <a:spAutoFit/>
          </a:bodyPr>
          <a:lstStyle/>
          <a:p>
            <a:pPr algn="l">
              <a:lnSpc>
                <a:spcPts val="1920"/>
              </a:lnSpc>
            </a:pPr>
            <a:r>
              <a:rPr b="0" sz="1200" i="0" u="none">
                <a:solidFill>
                  <a:srgbClr val="333333"/>
                </a:solidFill>
                <a:latin typeface="Inter"/>
              </a:rPr>
              <a:t>Comte’un tıpkı doğadakine benzer toplum yasalarını kesin bir biçimde saptayan empirik (gözlem, deney ve duyuya dayalı) ve pozitivist bir sosyal bilim anlayışını geliştirmesinin altında, bilimsel felsefesinin yanında kargaşadan uzak bir toplumsal düzen arayışı vardır.</a:t>
            </a:r>
          </a:p>
        </p:txBody>
      </p:sp>
      <p:sp>
        <p:nvSpPr>
          <p:cNvPr id="9" name="TextBox 8"/>
          <p:cNvSpPr txBox="1"/>
          <p:nvPr/>
        </p:nvSpPr>
        <p:spPr>
          <a:xfrm>
            <a:off x="962025" y="3727102"/>
            <a:ext cx="11229975" cy="243780"/>
          </a:xfrm>
          <a:prstGeom prst="rect">
            <a:avLst/>
          </a:prstGeom>
          <a:noFill/>
        </p:spPr>
        <p:txBody>
          <a:bodyPr wrap="none" lIns="0" rIns="0" tIns="0" bIns="0" anchor="t">
            <a:spAutoFit/>
          </a:bodyPr>
          <a:lstStyle/>
          <a:p>
            <a:pPr algn="l">
              <a:lnSpc>
                <a:spcPts val="1920"/>
              </a:lnSpc>
            </a:pPr>
            <a:r>
              <a:rPr b="0" sz="1200" i="0" u="none">
                <a:solidFill>
                  <a:srgbClr val="333333"/>
                </a:solidFill>
                <a:latin typeface="Inter"/>
              </a:rPr>
              <a:t>Böylelikle, bir pozitif sosyal bilim olarak sosyolojinin isim babalığını yapar.</a:t>
            </a:r>
          </a:p>
        </p:txBody>
      </p:sp>
      <p:sp>
        <p:nvSpPr>
          <p:cNvPr id="10" name="TextBox 9"/>
          <p:cNvSpPr txBox="1"/>
          <p:nvPr/>
        </p:nvSpPr>
        <p:spPr>
          <a:xfrm>
            <a:off x="952500" y="5009108"/>
            <a:ext cx="11239500" cy="200025"/>
          </a:xfrm>
          <a:prstGeom prst="rect">
            <a:avLst/>
          </a:prstGeom>
          <a:noFill/>
        </p:spPr>
        <p:txBody>
          <a:bodyPr wrap="none" lIns="0" rIns="0" tIns="0" bIns="0" anchor="t">
            <a:spAutoFit/>
          </a:bodyPr>
          <a:lstStyle/>
          <a:p>
            <a:pPr algn="l"/>
            <a:r>
              <a:rPr b="1" sz="1350" i="0" u="none">
                <a:solidFill>
                  <a:srgbClr val="F4F1EA"/>
                </a:solidFill>
                <a:latin typeface="Inter"/>
              </a:rPr>
              <a:t>İlk başta sosyoloji yerine sosyal fizik ifadesini kullanır: Bu ne anlama gelir, tartışalım!!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85800" y="2893814"/>
            <a:ext cx="3454449" cy="2022871"/>
          </a:xfrm>
          <a:prstGeom prst="roundRect">
            <a:avLst>
              <a:gd name="adj" fmla="val 3766"/>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68849" y="2893814"/>
            <a:ext cx="3454449" cy="2022871"/>
          </a:xfrm>
          <a:prstGeom prst="roundRect">
            <a:avLst>
              <a:gd name="adj" fmla="val 3766"/>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51899" y="2893814"/>
            <a:ext cx="3454449" cy="2022871"/>
          </a:xfrm>
          <a:prstGeom prst="roundRect">
            <a:avLst>
              <a:gd name="adj" fmla="val 3766"/>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62025" y="3170039"/>
            <a:ext cx="342900" cy="342900"/>
          </a:xfrm>
          <a:prstGeom prst="roundRect">
            <a:avLst>
              <a:gd name="adj" fmla="val 50000"/>
            </a:avLst>
          </a:prstGeom>
          <a:solidFill>
            <a:srgbClr val="8C6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45074" y="3170039"/>
            <a:ext cx="342900" cy="342900"/>
          </a:xfrm>
          <a:prstGeom prst="roundRect">
            <a:avLst>
              <a:gd name="adj" fmla="val 50000"/>
            </a:avLst>
          </a:prstGeom>
          <a:solidFill>
            <a:srgbClr val="8C6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328124" y="3170039"/>
            <a:ext cx="342900" cy="342900"/>
          </a:xfrm>
          <a:prstGeom prst="roundRect">
            <a:avLst>
              <a:gd name="adj" fmla="val 50000"/>
            </a:avLst>
          </a:prstGeom>
          <a:solidFill>
            <a:srgbClr val="8C6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33400"/>
            <a:ext cx="11506200" cy="161925"/>
          </a:xfrm>
          <a:prstGeom prst="rect">
            <a:avLst/>
          </a:prstGeom>
          <a:noFill/>
        </p:spPr>
        <p:txBody>
          <a:bodyPr wrap="none" lIns="0" rIns="0" tIns="0" bIns="0" anchor="t">
            <a:spAutoFit/>
          </a:bodyPr>
          <a:lstStyle/>
          <a:p>
            <a:pPr algn="l"/>
            <a:r>
              <a:rPr b="1" sz="1050" i="0" u="none">
                <a:solidFill>
                  <a:srgbClr val="8C6D31"/>
                </a:solidFill>
                <a:latin typeface="Inter"/>
              </a:rPr>
              <a:t>EVRIMSEL TEORI</a:t>
            </a:r>
          </a:p>
        </p:txBody>
      </p:sp>
      <p:sp>
        <p:nvSpPr>
          <p:cNvPr id="9" name="TextBox 8"/>
          <p:cNvSpPr txBox="1"/>
          <p:nvPr/>
        </p:nvSpPr>
        <p:spPr>
          <a:xfrm>
            <a:off x="685800" y="771525"/>
            <a:ext cx="11506200" cy="409575"/>
          </a:xfrm>
          <a:prstGeom prst="rect">
            <a:avLst/>
          </a:prstGeom>
          <a:noFill/>
        </p:spPr>
        <p:txBody>
          <a:bodyPr wrap="none" lIns="0" rIns="0" tIns="0" bIns="0" anchor="t">
            <a:spAutoFit/>
          </a:bodyPr>
          <a:lstStyle/>
          <a:p>
            <a:pPr algn="l"/>
            <a:r>
              <a:rPr b="1" sz="2400" i="0" u="none">
                <a:solidFill>
                  <a:srgbClr val="222222"/>
                </a:solidFill>
                <a:latin typeface="Cinzel"/>
              </a:rPr>
              <a:t>Auguste Comte: Üç Hâl Yasası (I)</a:t>
            </a:r>
          </a:p>
        </p:txBody>
      </p:sp>
      <p:sp>
        <p:nvSpPr>
          <p:cNvPr id="10" name="TextBox 9"/>
          <p:cNvSpPr txBox="1"/>
          <p:nvPr/>
        </p:nvSpPr>
        <p:spPr>
          <a:xfrm>
            <a:off x="819150" y="3170039"/>
            <a:ext cx="628650" cy="342900"/>
          </a:xfrm>
          <a:prstGeom prst="rect">
            <a:avLst/>
          </a:prstGeom>
          <a:noFill/>
        </p:spPr>
        <p:txBody>
          <a:bodyPr wrap="square" lIns="0" rIns="0" tIns="0" bIns="0" anchor="ctr">
            <a:spAutoFit/>
          </a:bodyPr>
          <a:lstStyle/>
          <a:p>
            <a:pPr algn="ctr"/>
            <a:r>
              <a:rPr b="1" sz="1200" i="0" u="none">
                <a:solidFill>
                  <a:srgbClr val="FFFFFF"/>
                </a:solidFill>
                <a:latin typeface="Inter"/>
              </a:rPr>
              <a:t>1</a:t>
            </a:r>
          </a:p>
        </p:txBody>
      </p:sp>
      <p:sp>
        <p:nvSpPr>
          <p:cNvPr id="11" name="TextBox 10"/>
          <p:cNvSpPr txBox="1"/>
          <p:nvPr/>
        </p:nvSpPr>
        <p:spPr>
          <a:xfrm>
            <a:off x="962025" y="3665339"/>
            <a:ext cx="2997249" cy="975121"/>
          </a:xfrm>
          <a:prstGeom prst="rect">
            <a:avLst/>
          </a:prstGeom>
          <a:noFill/>
        </p:spPr>
        <p:txBody>
          <a:bodyPr wrap="square" lIns="0" rIns="0" tIns="0" bIns="0" anchor="t">
            <a:spAutoFit/>
          </a:bodyPr>
          <a:lstStyle/>
          <a:p>
            <a:pPr algn="l">
              <a:lnSpc>
                <a:spcPts val="1920"/>
              </a:lnSpc>
            </a:pPr>
            <a:r>
              <a:rPr b="0" sz="1200" i="0" u="none">
                <a:solidFill>
                  <a:srgbClr val="333333"/>
                </a:solidFill>
                <a:latin typeface="Inter"/>
              </a:rPr>
              <a:t>Comte’a göre, sadece içinde bulunduğumuz toplumun değil bütün bir insanlık tarihini yöneten temel yasalar vardır.</a:t>
            </a:r>
          </a:p>
        </p:txBody>
      </p:sp>
      <p:sp>
        <p:nvSpPr>
          <p:cNvPr id="12" name="TextBox 11"/>
          <p:cNvSpPr txBox="1"/>
          <p:nvPr/>
        </p:nvSpPr>
        <p:spPr>
          <a:xfrm>
            <a:off x="4502199" y="3170039"/>
            <a:ext cx="628650" cy="342900"/>
          </a:xfrm>
          <a:prstGeom prst="rect">
            <a:avLst/>
          </a:prstGeom>
          <a:noFill/>
        </p:spPr>
        <p:txBody>
          <a:bodyPr wrap="square" lIns="0" rIns="0" tIns="0" bIns="0" anchor="ctr">
            <a:spAutoFit/>
          </a:bodyPr>
          <a:lstStyle/>
          <a:p>
            <a:pPr algn="ctr"/>
            <a:r>
              <a:rPr b="1" sz="1200" i="0" u="none">
                <a:solidFill>
                  <a:srgbClr val="FFFFFF"/>
                </a:solidFill>
                <a:latin typeface="Inter"/>
              </a:rPr>
              <a:t>2</a:t>
            </a:r>
          </a:p>
        </p:txBody>
      </p:sp>
      <p:sp>
        <p:nvSpPr>
          <p:cNvPr id="13" name="TextBox 12"/>
          <p:cNvSpPr txBox="1"/>
          <p:nvPr/>
        </p:nvSpPr>
        <p:spPr>
          <a:xfrm>
            <a:off x="4645074" y="3665339"/>
            <a:ext cx="2997249" cy="975121"/>
          </a:xfrm>
          <a:prstGeom prst="rect">
            <a:avLst/>
          </a:prstGeom>
          <a:noFill/>
        </p:spPr>
        <p:txBody>
          <a:bodyPr wrap="square" lIns="0" rIns="0" tIns="0" bIns="0" anchor="t">
            <a:spAutoFit/>
          </a:bodyPr>
          <a:lstStyle/>
          <a:p>
            <a:pPr algn="l">
              <a:lnSpc>
                <a:spcPts val="1920"/>
              </a:lnSpc>
            </a:pPr>
            <a:r>
              <a:rPr b="0" sz="1200" i="0" u="none">
                <a:solidFill>
                  <a:srgbClr val="333333"/>
                </a:solidFill>
                <a:latin typeface="Inter"/>
              </a:rPr>
              <a:t>Buna göre, insanlık tarihi de belli bir örüntüye göre evrimsel olarak ilerlemekte ve temel bazı ‘evre’lerden geçmektedir.</a:t>
            </a:r>
          </a:p>
        </p:txBody>
      </p:sp>
      <p:sp>
        <p:nvSpPr>
          <p:cNvPr id="14" name="TextBox 13"/>
          <p:cNvSpPr txBox="1"/>
          <p:nvPr/>
        </p:nvSpPr>
        <p:spPr>
          <a:xfrm>
            <a:off x="8185249" y="3170039"/>
            <a:ext cx="628650" cy="342900"/>
          </a:xfrm>
          <a:prstGeom prst="rect">
            <a:avLst/>
          </a:prstGeom>
          <a:noFill/>
        </p:spPr>
        <p:txBody>
          <a:bodyPr wrap="square" lIns="0" rIns="0" tIns="0" bIns="0" anchor="ctr">
            <a:spAutoFit/>
          </a:bodyPr>
          <a:lstStyle/>
          <a:p>
            <a:pPr algn="ctr"/>
            <a:r>
              <a:rPr b="1" sz="1200" i="0" u="none">
                <a:solidFill>
                  <a:srgbClr val="FFFFFF"/>
                </a:solidFill>
                <a:latin typeface="Inter"/>
              </a:rPr>
              <a:t>3</a:t>
            </a:r>
          </a:p>
        </p:txBody>
      </p:sp>
      <p:sp>
        <p:nvSpPr>
          <p:cNvPr id="15" name="TextBox 14"/>
          <p:cNvSpPr txBox="1"/>
          <p:nvPr/>
        </p:nvSpPr>
        <p:spPr>
          <a:xfrm>
            <a:off x="8328124" y="3665339"/>
            <a:ext cx="2997249" cy="975121"/>
          </a:xfrm>
          <a:prstGeom prst="rect">
            <a:avLst/>
          </a:prstGeom>
          <a:noFill/>
        </p:spPr>
        <p:txBody>
          <a:bodyPr wrap="square" lIns="0" rIns="0" tIns="0" bIns="0" anchor="t">
            <a:spAutoFit/>
          </a:bodyPr>
          <a:lstStyle/>
          <a:p>
            <a:pPr algn="l">
              <a:lnSpc>
                <a:spcPts val="1920"/>
              </a:lnSpc>
            </a:pPr>
            <a:r>
              <a:rPr b="0" sz="1200" i="0" u="none">
                <a:solidFill>
                  <a:srgbClr val="333333"/>
                </a:solidFill>
                <a:latin typeface="Inter"/>
              </a:rPr>
              <a:t>Comte’a göre, üç hâl yasası işte insanlık tarihini evrimsel olarak belirleyen ve farklı evrelere ayıran temel yasa olarak görülmelidir.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85800" y="2269033"/>
            <a:ext cx="10820400" cy="963810"/>
          </a:xfrm>
          <a:prstGeom prst="roundRect">
            <a:avLst>
              <a:gd name="adj" fmla="val 7906"/>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423344"/>
            <a:ext cx="10820400" cy="963810"/>
          </a:xfrm>
          <a:prstGeom prst="roundRect">
            <a:avLst>
              <a:gd name="adj" fmla="val 7906"/>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577655"/>
            <a:ext cx="10820400" cy="963810"/>
          </a:xfrm>
          <a:prstGeom prst="roundRect">
            <a:avLst>
              <a:gd name="adj" fmla="val 7906"/>
            </a:avLst>
          </a:prstGeom>
          <a:solidFill>
            <a:srgbClr val="F5F2EB"/>
          </a:solidFill>
          <a:ln w="9525">
            <a:solidFill>
              <a:srgbClr val="DF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33400"/>
            <a:ext cx="11506200" cy="161925"/>
          </a:xfrm>
          <a:prstGeom prst="rect">
            <a:avLst/>
          </a:prstGeom>
          <a:noFill/>
        </p:spPr>
        <p:txBody>
          <a:bodyPr wrap="none" lIns="0" rIns="0" tIns="0" bIns="0" anchor="t">
            <a:spAutoFit/>
          </a:bodyPr>
          <a:lstStyle/>
          <a:p>
            <a:pPr algn="l"/>
            <a:r>
              <a:rPr b="1" sz="1050" i="0" u="none">
                <a:solidFill>
                  <a:srgbClr val="8C6D31"/>
                </a:solidFill>
                <a:latin typeface="Inter"/>
              </a:rPr>
              <a:t>ZIHIN VE TOPLUM</a:t>
            </a:r>
          </a:p>
        </p:txBody>
      </p:sp>
      <p:sp>
        <p:nvSpPr>
          <p:cNvPr id="6" name="TextBox 5"/>
          <p:cNvSpPr txBox="1"/>
          <p:nvPr/>
        </p:nvSpPr>
        <p:spPr>
          <a:xfrm>
            <a:off x="685800" y="771525"/>
            <a:ext cx="11506200" cy="409575"/>
          </a:xfrm>
          <a:prstGeom prst="rect">
            <a:avLst/>
          </a:prstGeom>
          <a:noFill/>
        </p:spPr>
        <p:txBody>
          <a:bodyPr wrap="none" lIns="0" rIns="0" tIns="0" bIns="0" anchor="t">
            <a:spAutoFit/>
          </a:bodyPr>
          <a:lstStyle/>
          <a:p>
            <a:pPr algn="l"/>
            <a:r>
              <a:rPr b="1" sz="2400" i="0" u="none">
                <a:solidFill>
                  <a:srgbClr val="222222"/>
                </a:solidFill>
                <a:latin typeface="Cinzel"/>
              </a:rPr>
              <a:t>Auguste Comte: Üç Hâl Yasası (II)</a:t>
            </a:r>
          </a:p>
        </p:txBody>
      </p:sp>
      <p:sp>
        <p:nvSpPr>
          <p:cNvPr id="7" name="TextBox 6"/>
          <p:cNvSpPr txBox="1"/>
          <p:nvPr/>
        </p:nvSpPr>
        <p:spPr>
          <a:xfrm>
            <a:off x="962025" y="2507158"/>
            <a:ext cx="10363200" cy="487560"/>
          </a:xfrm>
          <a:prstGeom prst="rect">
            <a:avLst/>
          </a:prstGeom>
          <a:noFill/>
        </p:spPr>
        <p:txBody>
          <a:bodyPr wrap="square" lIns="0" rIns="0" tIns="0" bIns="0" anchor="t">
            <a:spAutoFit/>
          </a:bodyPr>
          <a:lstStyle/>
          <a:p>
            <a:pPr algn="l">
              <a:lnSpc>
                <a:spcPts val="1920"/>
              </a:lnSpc>
            </a:pPr>
            <a:r>
              <a:rPr b="0" sz="1200" i="0" u="none">
                <a:solidFill>
                  <a:srgbClr val="333333"/>
                </a:solidFill>
                <a:latin typeface="Inter"/>
              </a:rPr>
              <a:t>Auguste Comte, insanlık tarihini belirleyen bu üç hâl yasasını, insan zihninin ve toplum biçimlerinin geçirdiği dönüşümlerde ortaya koyabileceğimizi söyler.</a:t>
            </a:r>
          </a:p>
        </p:txBody>
      </p:sp>
      <p:sp>
        <p:nvSpPr>
          <p:cNvPr id="8" name="TextBox 7"/>
          <p:cNvSpPr txBox="1"/>
          <p:nvPr/>
        </p:nvSpPr>
        <p:spPr>
          <a:xfrm>
            <a:off x="962025" y="3661469"/>
            <a:ext cx="10363200" cy="487560"/>
          </a:xfrm>
          <a:prstGeom prst="rect">
            <a:avLst/>
          </a:prstGeom>
          <a:noFill/>
        </p:spPr>
        <p:txBody>
          <a:bodyPr wrap="square" lIns="0" rIns="0" tIns="0" bIns="0" anchor="t">
            <a:spAutoFit/>
          </a:bodyPr>
          <a:lstStyle/>
          <a:p>
            <a:pPr algn="l">
              <a:lnSpc>
                <a:spcPts val="1920"/>
              </a:lnSpc>
            </a:pPr>
            <a:r>
              <a:rPr b="0" sz="1200" i="0" u="none">
                <a:solidFill>
                  <a:srgbClr val="333333"/>
                </a:solidFill>
                <a:latin typeface="Inter"/>
              </a:rPr>
              <a:t>Comte’a göre, insan zihninin ard arda geçirdiği üç düşünce biçimi vardır. Bu üç düşünce biçimi, aynı zamanda insanlık tarihindeki ard arda gelen toplum biçimlerine de denk gelmektedir.</a:t>
            </a:r>
          </a:p>
        </p:txBody>
      </p:sp>
      <p:sp>
        <p:nvSpPr>
          <p:cNvPr id="9" name="TextBox 8"/>
          <p:cNvSpPr txBox="1"/>
          <p:nvPr/>
        </p:nvSpPr>
        <p:spPr>
          <a:xfrm>
            <a:off x="962025" y="4815780"/>
            <a:ext cx="10363200" cy="487560"/>
          </a:xfrm>
          <a:prstGeom prst="rect">
            <a:avLst/>
          </a:prstGeom>
          <a:noFill/>
        </p:spPr>
        <p:txBody>
          <a:bodyPr wrap="square" lIns="0" rIns="0" tIns="0" bIns="0" anchor="t">
            <a:spAutoFit/>
          </a:bodyPr>
          <a:lstStyle/>
          <a:p>
            <a:pPr algn="l">
              <a:lnSpc>
                <a:spcPts val="1920"/>
              </a:lnSpc>
            </a:pPr>
            <a:r>
              <a:rPr b="1" sz="1200" i="0" u="none">
                <a:solidFill>
                  <a:srgbClr val="222222"/>
                </a:solidFill>
                <a:latin typeface="Inter"/>
              </a:rPr>
              <a:t>İşte, aslında, Auguste Comte’un bu düşüncesi üç hâl kanunu olarak özetlenir ve sosyoloji ile pozitivizmin kuruluşunda önemli bir işlev yüklenir.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85800" y="2733675"/>
            <a:ext cx="3486150" cy="2857500"/>
          </a:xfrm>
          <a:prstGeom prst="roundRect">
            <a:avLst>
              <a:gd name="adj" fmla="val 2666"/>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62450" y="2733675"/>
            <a:ext cx="3486150" cy="2857500"/>
          </a:xfrm>
          <a:prstGeom prst="roundRect">
            <a:avLst>
              <a:gd name="adj" fmla="val 2666"/>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39100" y="2733675"/>
            <a:ext cx="3467100" cy="2857500"/>
          </a:xfrm>
          <a:prstGeom prst="roundRect">
            <a:avLst>
              <a:gd name="adj" fmla="val 2666"/>
            </a:avLst>
          </a:prstGeom>
          <a:solidFill>
            <a:srgbClr val="222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33400"/>
            <a:ext cx="11506200" cy="161925"/>
          </a:xfrm>
          <a:prstGeom prst="rect">
            <a:avLst/>
          </a:prstGeom>
          <a:noFill/>
        </p:spPr>
        <p:txBody>
          <a:bodyPr wrap="none" lIns="0" rIns="0" tIns="0" bIns="0" anchor="t">
            <a:spAutoFit/>
          </a:bodyPr>
          <a:lstStyle/>
          <a:p>
            <a:pPr algn="l"/>
            <a:r>
              <a:rPr b="1" sz="1050" i="0" u="none">
                <a:solidFill>
                  <a:srgbClr val="8C6D31"/>
                </a:solidFill>
                <a:latin typeface="Inter"/>
              </a:rPr>
              <a:t>AŞAMALAR</a:t>
            </a:r>
          </a:p>
        </p:txBody>
      </p:sp>
      <p:sp>
        <p:nvSpPr>
          <p:cNvPr id="6" name="TextBox 5"/>
          <p:cNvSpPr txBox="1"/>
          <p:nvPr/>
        </p:nvSpPr>
        <p:spPr>
          <a:xfrm>
            <a:off x="685800" y="771525"/>
            <a:ext cx="11506200" cy="409575"/>
          </a:xfrm>
          <a:prstGeom prst="rect">
            <a:avLst/>
          </a:prstGeom>
          <a:noFill/>
        </p:spPr>
        <p:txBody>
          <a:bodyPr wrap="none" lIns="0" rIns="0" tIns="0" bIns="0" anchor="t">
            <a:spAutoFit/>
          </a:bodyPr>
          <a:lstStyle/>
          <a:p>
            <a:pPr algn="l"/>
            <a:r>
              <a:rPr b="1" sz="2400" i="0" u="none">
                <a:solidFill>
                  <a:srgbClr val="222222"/>
                </a:solidFill>
                <a:latin typeface="Cinzel"/>
              </a:rPr>
              <a:t>Auguste Comte: Üç Hâl Yasası (III)</a:t>
            </a:r>
          </a:p>
        </p:txBody>
      </p:sp>
      <p:sp>
        <p:nvSpPr>
          <p:cNvPr id="7" name="TextBox 6"/>
          <p:cNvSpPr txBox="1"/>
          <p:nvPr/>
        </p:nvSpPr>
        <p:spPr>
          <a:xfrm>
            <a:off x="685800" y="1409700"/>
            <a:ext cx="10915650" cy="361950"/>
          </a:xfrm>
          <a:prstGeom prst="rect">
            <a:avLst/>
          </a:prstGeom>
          <a:noFill/>
        </p:spPr>
        <p:txBody>
          <a:bodyPr wrap="square" lIns="0" rIns="0" tIns="0" bIns="0" anchor="t">
            <a:spAutoFit/>
          </a:bodyPr>
          <a:lstStyle/>
          <a:p>
            <a:pPr algn="l"/>
            <a:r>
              <a:rPr b="0" sz="1125" i="0" u="none">
                <a:solidFill>
                  <a:srgbClr val="555555"/>
                </a:solidFill>
                <a:latin typeface="Inter"/>
              </a:rPr>
              <a:t>Bu üç hâl (aşama) teolojik, metafizik ve pozitif olarak belirtilir. İnsan zihni, bilimler ve toplumlar, her şeyi önce teolojik ve sonra metafizik olarak algılayıp en son aşamada “pozitif” olarak değerlendirir ve algılar.</a:t>
            </a:r>
          </a:p>
        </p:txBody>
      </p:sp>
      <p:sp>
        <p:nvSpPr>
          <p:cNvPr id="8" name="TextBox 7"/>
          <p:cNvSpPr txBox="1"/>
          <p:nvPr/>
        </p:nvSpPr>
        <p:spPr>
          <a:xfrm>
            <a:off x="923925" y="2971800"/>
            <a:ext cx="3762375" cy="142875"/>
          </a:xfrm>
          <a:prstGeom prst="rect">
            <a:avLst/>
          </a:prstGeom>
          <a:noFill/>
        </p:spPr>
        <p:txBody>
          <a:bodyPr wrap="none" lIns="0" rIns="0" tIns="0" bIns="0" anchor="t">
            <a:spAutoFit/>
          </a:bodyPr>
          <a:lstStyle/>
          <a:p>
            <a:pPr algn="l"/>
            <a:r>
              <a:rPr b="1" sz="900" i="0" u="none">
                <a:solidFill>
                  <a:srgbClr val="8C6D31"/>
                </a:solidFill>
                <a:latin typeface="Inter"/>
              </a:rPr>
              <a:t>1. AŞAMA</a:t>
            </a:r>
          </a:p>
        </p:txBody>
      </p:sp>
      <p:sp>
        <p:nvSpPr>
          <p:cNvPr id="9" name="TextBox 8"/>
          <p:cNvSpPr txBox="1"/>
          <p:nvPr/>
        </p:nvSpPr>
        <p:spPr>
          <a:xfrm>
            <a:off x="923925" y="3190875"/>
            <a:ext cx="3950493" cy="200025"/>
          </a:xfrm>
          <a:prstGeom prst="rect">
            <a:avLst/>
          </a:prstGeom>
          <a:noFill/>
        </p:spPr>
        <p:txBody>
          <a:bodyPr wrap="none" lIns="0" rIns="0" tIns="0" bIns="0" anchor="t">
            <a:spAutoFit/>
          </a:bodyPr>
          <a:lstStyle/>
          <a:p>
            <a:pPr algn="l"/>
            <a:r>
              <a:rPr b="1" sz="1350" i="0" u="none">
                <a:solidFill>
                  <a:srgbClr val="222222"/>
                </a:solidFill>
                <a:latin typeface="Inter"/>
              </a:rPr>
              <a:t>Teolojik Hâl (Aşama)</a:t>
            </a:r>
          </a:p>
        </p:txBody>
      </p:sp>
      <p:sp>
        <p:nvSpPr>
          <p:cNvPr id="10" name="TextBox 9"/>
          <p:cNvSpPr txBox="1"/>
          <p:nvPr/>
        </p:nvSpPr>
        <p:spPr>
          <a:xfrm>
            <a:off x="923925" y="3505200"/>
            <a:ext cx="3105150" cy="1847850"/>
          </a:xfrm>
          <a:prstGeom prst="rect">
            <a:avLst/>
          </a:prstGeom>
          <a:noFill/>
        </p:spPr>
        <p:txBody>
          <a:bodyPr wrap="square" lIns="0" rIns="0" tIns="0" bIns="0" anchor="t">
            <a:spAutoFit/>
          </a:bodyPr>
          <a:lstStyle/>
          <a:p>
            <a:pPr algn="l">
              <a:lnSpc>
                <a:spcPts val="1462"/>
              </a:lnSpc>
            </a:pPr>
            <a:r>
              <a:rPr b="0" sz="975" i="0" u="none">
                <a:solidFill>
                  <a:srgbClr val="555555"/>
                </a:solidFill>
                <a:latin typeface="Inter"/>
              </a:rPr>
              <a:t>Teolojik hâl: insan zihni varlıkların temel doğasını, bütün etkilerin ilk ve nihai nedenlerini (kökeni ve amacını) -kısaca Mutlak bilgiyi- araştırırken, bütün olguların doğrudan doğaüstü varlıkların eylemleriyle üretildiğini varsayar. Bu asıl olarak Avrupa Ortaçağı’nı belirleyen toplum biçimine denk düşer.</a:t>
            </a:r>
          </a:p>
        </p:txBody>
      </p:sp>
      <p:sp>
        <p:nvSpPr>
          <p:cNvPr id="11" name="TextBox 10"/>
          <p:cNvSpPr txBox="1"/>
          <p:nvPr/>
        </p:nvSpPr>
        <p:spPr>
          <a:xfrm>
            <a:off x="4600575" y="2971800"/>
            <a:ext cx="3762375" cy="142875"/>
          </a:xfrm>
          <a:prstGeom prst="rect">
            <a:avLst/>
          </a:prstGeom>
          <a:noFill/>
        </p:spPr>
        <p:txBody>
          <a:bodyPr wrap="none" lIns="0" rIns="0" tIns="0" bIns="0" anchor="t">
            <a:spAutoFit/>
          </a:bodyPr>
          <a:lstStyle/>
          <a:p>
            <a:pPr algn="l"/>
            <a:r>
              <a:rPr b="1" sz="900" i="0" u="none">
                <a:solidFill>
                  <a:srgbClr val="8C6D31"/>
                </a:solidFill>
                <a:latin typeface="Inter"/>
              </a:rPr>
              <a:t>2. AŞAMA</a:t>
            </a:r>
          </a:p>
        </p:txBody>
      </p:sp>
      <p:sp>
        <p:nvSpPr>
          <p:cNvPr id="12" name="TextBox 11"/>
          <p:cNvSpPr txBox="1"/>
          <p:nvPr/>
        </p:nvSpPr>
        <p:spPr>
          <a:xfrm>
            <a:off x="4600575" y="3190875"/>
            <a:ext cx="3950493" cy="200025"/>
          </a:xfrm>
          <a:prstGeom prst="rect">
            <a:avLst/>
          </a:prstGeom>
          <a:noFill/>
        </p:spPr>
        <p:txBody>
          <a:bodyPr wrap="none" lIns="0" rIns="0" tIns="0" bIns="0" anchor="t">
            <a:spAutoFit/>
          </a:bodyPr>
          <a:lstStyle/>
          <a:p>
            <a:pPr algn="l"/>
            <a:r>
              <a:rPr b="1" sz="1350" i="0" u="none">
                <a:solidFill>
                  <a:srgbClr val="222222"/>
                </a:solidFill>
                <a:latin typeface="Inter"/>
              </a:rPr>
              <a:t>Metafizik Hâl (Aşama)</a:t>
            </a:r>
          </a:p>
        </p:txBody>
      </p:sp>
      <p:sp>
        <p:nvSpPr>
          <p:cNvPr id="13" name="TextBox 12"/>
          <p:cNvSpPr txBox="1"/>
          <p:nvPr/>
        </p:nvSpPr>
        <p:spPr>
          <a:xfrm>
            <a:off x="4600575" y="3505200"/>
            <a:ext cx="3105150" cy="1847850"/>
          </a:xfrm>
          <a:prstGeom prst="rect">
            <a:avLst/>
          </a:prstGeom>
          <a:noFill/>
        </p:spPr>
        <p:txBody>
          <a:bodyPr wrap="square" lIns="0" rIns="0" tIns="0" bIns="0" anchor="t">
            <a:spAutoFit/>
          </a:bodyPr>
          <a:lstStyle/>
          <a:p>
            <a:pPr algn="l">
              <a:lnSpc>
                <a:spcPts val="1462"/>
              </a:lnSpc>
            </a:pPr>
            <a:r>
              <a:rPr b="0" sz="975" i="0" u="none">
                <a:solidFill>
                  <a:srgbClr val="555555"/>
                </a:solidFill>
                <a:latin typeface="Inter"/>
              </a:rPr>
              <a:t>Metafizik ya da Soyut hâl: teolojik aşamanın bir uzantısıdır. Kişisel olmayan soyut kavramlarla açıklamayı ifade eder. İnsanlar bu aşamada genellikle tanrıyı soyut bir varlık olarak tanımlamaya çalışırlar. Olgular, insan-benzeri güçlerle değil, soyut kavramlarla açıklanmaya çalışılır. 14. Yüzyıldan Fransız Devrimi’ne kadar olan toplumsal düzen, bu metafizik hâle karşılık gelir.</a:t>
            </a:r>
          </a:p>
        </p:txBody>
      </p:sp>
      <p:sp>
        <p:nvSpPr>
          <p:cNvPr id="14" name="TextBox 13"/>
          <p:cNvSpPr txBox="1"/>
          <p:nvPr/>
        </p:nvSpPr>
        <p:spPr>
          <a:xfrm>
            <a:off x="8267700" y="2962275"/>
            <a:ext cx="3762375" cy="142875"/>
          </a:xfrm>
          <a:prstGeom prst="rect">
            <a:avLst/>
          </a:prstGeom>
          <a:noFill/>
        </p:spPr>
        <p:txBody>
          <a:bodyPr wrap="none" lIns="0" rIns="0" tIns="0" bIns="0" anchor="t">
            <a:spAutoFit/>
          </a:bodyPr>
          <a:lstStyle/>
          <a:p>
            <a:pPr algn="l"/>
            <a:r>
              <a:rPr b="1" sz="900" i="0" u="none">
                <a:solidFill>
                  <a:srgbClr val="C5A059"/>
                </a:solidFill>
                <a:latin typeface="Inter"/>
              </a:rPr>
              <a:t>3. ZIRVE AŞAMA</a:t>
            </a:r>
          </a:p>
        </p:txBody>
      </p:sp>
      <p:sp>
        <p:nvSpPr>
          <p:cNvPr id="15" name="TextBox 14"/>
          <p:cNvSpPr txBox="1"/>
          <p:nvPr/>
        </p:nvSpPr>
        <p:spPr>
          <a:xfrm>
            <a:off x="8267700" y="3181350"/>
            <a:ext cx="3924300" cy="200025"/>
          </a:xfrm>
          <a:prstGeom prst="rect">
            <a:avLst/>
          </a:prstGeom>
          <a:noFill/>
        </p:spPr>
        <p:txBody>
          <a:bodyPr wrap="none" lIns="0" rIns="0" tIns="0" bIns="0" anchor="t">
            <a:spAutoFit/>
          </a:bodyPr>
          <a:lstStyle/>
          <a:p>
            <a:pPr algn="l"/>
            <a:r>
              <a:rPr b="1" sz="1350" i="0" u="none">
                <a:solidFill>
                  <a:srgbClr val="FFFFFF"/>
                </a:solidFill>
                <a:latin typeface="Inter"/>
              </a:rPr>
              <a:t>Pozitif Hâl (Aşama)</a:t>
            </a:r>
          </a:p>
        </p:txBody>
      </p:sp>
      <p:sp>
        <p:nvSpPr>
          <p:cNvPr id="16" name="TextBox 15"/>
          <p:cNvSpPr txBox="1"/>
          <p:nvPr/>
        </p:nvSpPr>
        <p:spPr>
          <a:xfrm>
            <a:off x="8267700" y="3495675"/>
            <a:ext cx="3105150" cy="1866900"/>
          </a:xfrm>
          <a:prstGeom prst="rect">
            <a:avLst/>
          </a:prstGeom>
          <a:noFill/>
        </p:spPr>
        <p:txBody>
          <a:bodyPr wrap="square" lIns="0" rIns="0" tIns="0" bIns="0" anchor="t">
            <a:spAutoFit/>
          </a:bodyPr>
          <a:lstStyle/>
          <a:p>
            <a:pPr algn="l">
              <a:lnSpc>
                <a:spcPts val="1462"/>
              </a:lnSpc>
            </a:pPr>
            <a:r>
              <a:rPr b="0" sz="975" i="0" u="none">
                <a:solidFill>
                  <a:srgbClr val="D0CBBF"/>
                </a:solidFill>
                <a:latin typeface="Inter"/>
              </a:rPr>
              <a:t>Bütün olguların doğa ve toplum yasalarının işleyişi temelinde açıklandığı, bilimsel yöntemin dünyayı kavrarken temel alındığı zihinsel aşama, pozitif hâldir. Toplum biçimleri düzeyinde en iyi ve en ileri aşama budur. Fransız Devrimi’yle ilk adımları atılan hâl ve aşama budur.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85800" y="3295650"/>
            <a:ext cx="10820400" cy="714375"/>
          </a:xfrm>
          <a:prstGeom prst="roundRect">
            <a:avLst>
              <a:gd name="adj" fmla="val 10666"/>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4200525"/>
            <a:ext cx="5314950" cy="828675"/>
          </a:xfrm>
          <a:prstGeom prst="roundRect">
            <a:avLst>
              <a:gd name="adj" fmla="val 9195"/>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91250" y="4200525"/>
            <a:ext cx="5314950" cy="828675"/>
          </a:xfrm>
          <a:prstGeom prst="roundRect">
            <a:avLst>
              <a:gd name="adj" fmla="val 9195"/>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014537" y="3495675"/>
            <a:ext cx="952500" cy="314325"/>
          </a:xfrm>
          <a:prstGeom prst="roundRect">
            <a:avLst>
              <a:gd name="adj" fmla="val 12121"/>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24287" y="3495675"/>
            <a:ext cx="962025" cy="314325"/>
          </a:xfrm>
          <a:prstGeom prst="roundRect">
            <a:avLst>
              <a:gd name="adj" fmla="val 12121"/>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43562" y="3495675"/>
            <a:ext cx="571500" cy="314325"/>
          </a:xfrm>
          <a:prstGeom prst="roundRect">
            <a:avLst>
              <a:gd name="adj" fmla="val 12121"/>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72312" y="3495675"/>
            <a:ext cx="676275" cy="314325"/>
          </a:xfrm>
          <a:prstGeom prst="roundRect">
            <a:avLst>
              <a:gd name="adj" fmla="val 12121"/>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05837" y="3495675"/>
            <a:ext cx="752475" cy="314325"/>
          </a:xfrm>
          <a:prstGeom prst="roundRect">
            <a:avLst>
              <a:gd name="adj" fmla="val 12121"/>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215562" y="3495675"/>
            <a:ext cx="914400" cy="314325"/>
          </a:xfrm>
          <a:prstGeom prst="roundRect">
            <a:avLst>
              <a:gd name="adj" fmla="val 12121"/>
            </a:avLst>
          </a:prstGeom>
          <a:solidFill>
            <a:srgbClr val="222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3357562" y="3595687"/>
            <a:ext cx="76200" cy="114300"/>
          </a:xfrm>
          <a:prstGeom prst="rect">
            <a:avLst/>
          </a:prstGeom>
        </p:spPr>
      </p:pic>
      <p:pic>
        <p:nvPicPr>
          <p:cNvPr id="12" name="Picture 11" descr="image.png"/>
          <p:cNvPicPr>
            <a:picLocks noChangeAspect="1"/>
          </p:cNvPicPr>
          <p:nvPr/>
        </p:nvPicPr>
        <p:blipFill>
          <a:blip r:embed="rId3"/>
          <a:stretch>
            <a:fillRect/>
          </a:stretch>
        </p:blipFill>
        <p:spPr>
          <a:xfrm>
            <a:off x="5176837" y="3595687"/>
            <a:ext cx="76200" cy="114300"/>
          </a:xfrm>
          <a:prstGeom prst="rect">
            <a:avLst/>
          </a:prstGeom>
        </p:spPr>
      </p:pic>
      <p:pic>
        <p:nvPicPr>
          <p:cNvPr id="13" name="Picture 12" descr="image.png"/>
          <p:cNvPicPr>
            <a:picLocks noChangeAspect="1"/>
          </p:cNvPicPr>
          <p:nvPr/>
        </p:nvPicPr>
        <p:blipFill>
          <a:blip r:embed="rId3"/>
          <a:stretch>
            <a:fillRect/>
          </a:stretch>
        </p:blipFill>
        <p:spPr>
          <a:xfrm>
            <a:off x="6605587" y="3595687"/>
            <a:ext cx="76200" cy="114300"/>
          </a:xfrm>
          <a:prstGeom prst="rect">
            <a:avLst/>
          </a:prstGeom>
        </p:spPr>
      </p:pic>
      <p:pic>
        <p:nvPicPr>
          <p:cNvPr id="14" name="Picture 13" descr="image.png"/>
          <p:cNvPicPr>
            <a:picLocks noChangeAspect="1"/>
          </p:cNvPicPr>
          <p:nvPr/>
        </p:nvPicPr>
        <p:blipFill>
          <a:blip r:embed="rId2"/>
          <a:stretch>
            <a:fillRect/>
          </a:stretch>
        </p:blipFill>
        <p:spPr>
          <a:xfrm>
            <a:off x="8139112" y="3595687"/>
            <a:ext cx="76200" cy="114300"/>
          </a:xfrm>
          <a:prstGeom prst="rect">
            <a:avLst/>
          </a:prstGeom>
        </p:spPr>
      </p:pic>
      <p:pic>
        <p:nvPicPr>
          <p:cNvPr id="15" name="Picture 14" descr="image.png"/>
          <p:cNvPicPr>
            <a:picLocks noChangeAspect="1"/>
          </p:cNvPicPr>
          <p:nvPr/>
        </p:nvPicPr>
        <p:blipFill>
          <a:blip r:embed="rId3"/>
          <a:stretch>
            <a:fillRect/>
          </a:stretch>
        </p:blipFill>
        <p:spPr>
          <a:xfrm>
            <a:off x="9748837" y="3595687"/>
            <a:ext cx="76200" cy="114300"/>
          </a:xfrm>
          <a:prstGeom prst="rect">
            <a:avLst/>
          </a:prstGeom>
        </p:spPr>
      </p:pic>
      <p:sp>
        <p:nvSpPr>
          <p:cNvPr id="16" name="TextBox 15"/>
          <p:cNvSpPr txBox="1"/>
          <p:nvPr/>
        </p:nvSpPr>
        <p:spPr>
          <a:xfrm>
            <a:off x="685800" y="533400"/>
            <a:ext cx="11506200" cy="161925"/>
          </a:xfrm>
          <a:prstGeom prst="rect">
            <a:avLst/>
          </a:prstGeom>
          <a:noFill/>
        </p:spPr>
        <p:txBody>
          <a:bodyPr wrap="none" lIns="0" rIns="0" tIns="0" bIns="0" anchor="t">
            <a:spAutoFit/>
          </a:bodyPr>
          <a:lstStyle/>
          <a:p>
            <a:pPr algn="l"/>
            <a:r>
              <a:rPr b="1" sz="1050" i="0" u="none">
                <a:solidFill>
                  <a:srgbClr val="8C6D31"/>
                </a:solidFill>
                <a:latin typeface="Inter"/>
              </a:rPr>
              <a:t>SINIFLANDIRMA</a:t>
            </a:r>
          </a:p>
        </p:txBody>
      </p:sp>
      <p:sp>
        <p:nvSpPr>
          <p:cNvPr id="17" name="TextBox 16"/>
          <p:cNvSpPr txBox="1"/>
          <p:nvPr/>
        </p:nvSpPr>
        <p:spPr>
          <a:xfrm>
            <a:off x="685800" y="771525"/>
            <a:ext cx="11506200" cy="409575"/>
          </a:xfrm>
          <a:prstGeom prst="rect">
            <a:avLst/>
          </a:prstGeom>
          <a:noFill/>
        </p:spPr>
        <p:txBody>
          <a:bodyPr wrap="none" lIns="0" rIns="0" tIns="0" bIns="0" anchor="t">
            <a:spAutoFit/>
          </a:bodyPr>
          <a:lstStyle/>
          <a:p>
            <a:pPr algn="l"/>
            <a:r>
              <a:rPr b="1" sz="2400" i="0" u="none">
                <a:solidFill>
                  <a:srgbClr val="222222"/>
                </a:solidFill>
                <a:latin typeface="Cinzel"/>
              </a:rPr>
              <a:t>Bilimler Hiyerarşisi ve Sosyoloji (I)</a:t>
            </a:r>
          </a:p>
        </p:txBody>
      </p:sp>
      <p:sp>
        <p:nvSpPr>
          <p:cNvPr id="18" name="TextBox 17"/>
          <p:cNvSpPr txBox="1"/>
          <p:nvPr/>
        </p:nvSpPr>
        <p:spPr>
          <a:xfrm>
            <a:off x="685800" y="1409700"/>
            <a:ext cx="10915650" cy="361950"/>
          </a:xfrm>
          <a:prstGeom prst="rect">
            <a:avLst/>
          </a:prstGeom>
          <a:noFill/>
        </p:spPr>
        <p:txBody>
          <a:bodyPr wrap="square" lIns="0" rIns="0" tIns="0" bIns="0" anchor="t">
            <a:spAutoFit/>
          </a:bodyPr>
          <a:lstStyle/>
          <a:p>
            <a:pPr algn="l"/>
            <a:r>
              <a:rPr b="0" sz="1125" i="0" u="none">
                <a:solidFill>
                  <a:srgbClr val="555555"/>
                </a:solidFill>
                <a:latin typeface="Inter"/>
              </a:rPr>
              <a:t>Comte’a göre, insan zihni ve toplumlar gibi, bilimler de bu üç evreden geçerek en üst aşama olan “pozitif” aşamaya ulaşırlar. Peki, bu bilimlerin hepsi aynı düzeyde midir? Yoksa aralarında bir hiyerarşi var mıdır? Comte’a göre bilimler arasında bir hiyerarşi vardır:</a:t>
            </a:r>
          </a:p>
        </p:txBody>
      </p:sp>
      <p:sp>
        <p:nvSpPr>
          <p:cNvPr id="19" name="TextBox 18"/>
          <p:cNvSpPr txBox="1"/>
          <p:nvPr/>
        </p:nvSpPr>
        <p:spPr>
          <a:xfrm>
            <a:off x="923925" y="3571875"/>
            <a:ext cx="1238250" cy="161925"/>
          </a:xfrm>
          <a:prstGeom prst="rect">
            <a:avLst/>
          </a:prstGeom>
          <a:noFill/>
        </p:spPr>
        <p:txBody>
          <a:bodyPr wrap="none" lIns="0" rIns="0" tIns="0" bIns="0" anchor="t">
            <a:spAutoFit/>
          </a:bodyPr>
          <a:lstStyle/>
          <a:p>
            <a:pPr algn="l"/>
            <a:r>
              <a:rPr b="1" sz="1050" i="0" u="none">
                <a:solidFill>
                  <a:srgbClr val="8C6D31"/>
                </a:solidFill>
                <a:latin typeface="Inter"/>
              </a:rPr>
              <a:t>HİYERARŞİ:</a:t>
            </a:r>
          </a:p>
        </p:txBody>
      </p:sp>
      <p:sp>
        <p:nvSpPr>
          <p:cNvPr id="20" name="TextBox 19"/>
          <p:cNvSpPr txBox="1"/>
          <p:nvPr/>
        </p:nvSpPr>
        <p:spPr>
          <a:xfrm>
            <a:off x="2147887" y="3571875"/>
            <a:ext cx="781050" cy="161925"/>
          </a:xfrm>
          <a:prstGeom prst="rect">
            <a:avLst/>
          </a:prstGeom>
          <a:noFill/>
        </p:spPr>
        <p:txBody>
          <a:bodyPr wrap="square" lIns="0" rIns="0" tIns="0" bIns="0" anchor="t">
            <a:spAutoFit/>
          </a:bodyPr>
          <a:lstStyle/>
          <a:p>
            <a:pPr algn="l"/>
            <a:r>
              <a:rPr b="1" sz="1050" i="0" u="none">
                <a:solidFill>
                  <a:srgbClr val="333333"/>
                </a:solidFill>
                <a:latin typeface="Inter"/>
              </a:rPr>
              <a:t>Matematik</a:t>
            </a:r>
          </a:p>
        </p:txBody>
      </p:sp>
      <p:sp>
        <p:nvSpPr>
          <p:cNvPr id="21" name="TextBox 20"/>
          <p:cNvSpPr txBox="1"/>
          <p:nvPr/>
        </p:nvSpPr>
        <p:spPr>
          <a:xfrm>
            <a:off x="3957637" y="3571875"/>
            <a:ext cx="790575" cy="161925"/>
          </a:xfrm>
          <a:prstGeom prst="rect">
            <a:avLst/>
          </a:prstGeom>
          <a:noFill/>
        </p:spPr>
        <p:txBody>
          <a:bodyPr wrap="square" lIns="0" rIns="0" tIns="0" bIns="0" anchor="t">
            <a:spAutoFit/>
          </a:bodyPr>
          <a:lstStyle/>
          <a:p>
            <a:pPr algn="l"/>
            <a:r>
              <a:rPr b="1" sz="1050" i="0" u="none">
                <a:solidFill>
                  <a:srgbClr val="333333"/>
                </a:solidFill>
                <a:latin typeface="Inter"/>
              </a:rPr>
              <a:t>Astronomi</a:t>
            </a:r>
          </a:p>
        </p:txBody>
      </p:sp>
      <p:sp>
        <p:nvSpPr>
          <p:cNvPr id="22" name="TextBox 21"/>
          <p:cNvSpPr txBox="1"/>
          <p:nvPr/>
        </p:nvSpPr>
        <p:spPr>
          <a:xfrm>
            <a:off x="5776912" y="3571875"/>
            <a:ext cx="400050" cy="161925"/>
          </a:xfrm>
          <a:prstGeom prst="rect">
            <a:avLst/>
          </a:prstGeom>
          <a:noFill/>
        </p:spPr>
        <p:txBody>
          <a:bodyPr wrap="square" lIns="0" rIns="0" tIns="0" bIns="0" anchor="t">
            <a:spAutoFit/>
          </a:bodyPr>
          <a:lstStyle/>
          <a:p>
            <a:pPr algn="l"/>
            <a:r>
              <a:rPr b="1" sz="1050" i="0" u="none">
                <a:solidFill>
                  <a:srgbClr val="333333"/>
                </a:solidFill>
                <a:latin typeface="Inter"/>
              </a:rPr>
              <a:t>Fizik</a:t>
            </a:r>
          </a:p>
        </p:txBody>
      </p:sp>
      <p:sp>
        <p:nvSpPr>
          <p:cNvPr id="23" name="TextBox 22"/>
          <p:cNvSpPr txBox="1"/>
          <p:nvPr/>
        </p:nvSpPr>
        <p:spPr>
          <a:xfrm>
            <a:off x="7205662" y="3571875"/>
            <a:ext cx="504825" cy="161925"/>
          </a:xfrm>
          <a:prstGeom prst="rect">
            <a:avLst/>
          </a:prstGeom>
          <a:noFill/>
        </p:spPr>
        <p:txBody>
          <a:bodyPr wrap="square" lIns="0" rIns="0" tIns="0" bIns="0" anchor="t">
            <a:spAutoFit/>
          </a:bodyPr>
          <a:lstStyle/>
          <a:p>
            <a:pPr algn="l"/>
            <a:r>
              <a:rPr b="1" sz="1050" i="0" u="none">
                <a:solidFill>
                  <a:srgbClr val="333333"/>
                </a:solidFill>
                <a:latin typeface="Inter"/>
              </a:rPr>
              <a:t>Kimya</a:t>
            </a:r>
          </a:p>
        </p:txBody>
      </p:sp>
      <p:sp>
        <p:nvSpPr>
          <p:cNvPr id="24" name="TextBox 23"/>
          <p:cNvSpPr txBox="1"/>
          <p:nvPr/>
        </p:nvSpPr>
        <p:spPr>
          <a:xfrm>
            <a:off x="8739187" y="3571875"/>
            <a:ext cx="581025" cy="161925"/>
          </a:xfrm>
          <a:prstGeom prst="rect">
            <a:avLst/>
          </a:prstGeom>
          <a:noFill/>
        </p:spPr>
        <p:txBody>
          <a:bodyPr wrap="square" lIns="0" rIns="0" tIns="0" bIns="0" anchor="t">
            <a:spAutoFit/>
          </a:bodyPr>
          <a:lstStyle/>
          <a:p>
            <a:pPr algn="l"/>
            <a:r>
              <a:rPr b="1" sz="1050" i="0" u="none">
                <a:solidFill>
                  <a:srgbClr val="333333"/>
                </a:solidFill>
                <a:latin typeface="Inter"/>
              </a:rPr>
              <a:t>Biyoloji</a:t>
            </a:r>
          </a:p>
        </p:txBody>
      </p:sp>
      <p:sp>
        <p:nvSpPr>
          <p:cNvPr id="25" name="TextBox 24"/>
          <p:cNvSpPr txBox="1"/>
          <p:nvPr/>
        </p:nvSpPr>
        <p:spPr>
          <a:xfrm>
            <a:off x="10367962" y="3571875"/>
            <a:ext cx="704850" cy="161925"/>
          </a:xfrm>
          <a:prstGeom prst="rect">
            <a:avLst/>
          </a:prstGeom>
          <a:noFill/>
        </p:spPr>
        <p:txBody>
          <a:bodyPr wrap="square" lIns="0" rIns="0" tIns="0" bIns="0" anchor="t">
            <a:spAutoFit/>
          </a:bodyPr>
          <a:lstStyle/>
          <a:p>
            <a:pPr algn="l"/>
            <a:r>
              <a:rPr b="1" sz="1050" i="0" u="none">
                <a:solidFill>
                  <a:srgbClr val="FFFFFF"/>
                </a:solidFill>
                <a:latin typeface="Inter"/>
              </a:rPr>
              <a:t>Sosyoloji</a:t>
            </a:r>
          </a:p>
        </p:txBody>
      </p:sp>
      <p:sp>
        <p:nvSpPr>
          <p:cNvPr id="26" name="TextBox 25"/>
          <p:cNvSpPr txBox="1"/>
          <p:nvPr/>
        </p:nvSpPr>
        <p:spPr>
          <a:xfrm>
            <a:off x="885825" y="4400550"/>
            <a:ext cx="5010150" cy="428625"/>
          </a:xfrm>
          <a:prstGeom prst="rect">
            <a:avLst/>
          </a:prstGeom>
          <a:noFill/>
        </p:spPr>
        <p:txBody>
          <a:bodyPr wrap="square" lIns="0" rIns="0" tIns="0" bIns="0" anchor="t">
            <a:spAutoFit/>
          </a:bodyPr>
          <a:lstStyle/>
          <a:p>
            <a:pPr algn="l">
              <a:lnSpc>
                <a:spcPts val="1687"/>
              </a:lnSpc>
            </a:pPr>
            <a:r>
              <a:rPr b="0" sz="1125" i="0" u="none">
                <a:solidFill>
                  <a:srgbClr val="555555"/>
                </a:solidFill>
                <a:latin typeface="Inter"/>
              </a:rPr>
              <a:t>Hiyerarşide, sonra gelen bilimler, bilgi alanları açısından daha karmaşıktır.</a:t>
            </a:r>
          </a:p>
        </p:txBody>
      </p:sp>
      <p:sp>
        <p:nvSpPr>
          <p:cNvPr id="27" name="TextBox 26"/>
          <p:cNvSpPr txBox="1"/>
          <p:nvPr/>
        </p:nvSpPr>
        <p:spPr>
          <a:xfrm>
            <a:off x="6391275" y="4400550"/>
            <a:ext cx="5800725" cy="214312"/>
          </a:xfrm>
          <a:prstGeom prst="rect">
            <a:avLst/>
          </a:prstGeom>
          <a:noFill/>
        </p:spPr>
        <p:txBody>
          <a:bodyPr wrap="none" lIns="0" rIns="0" tIns="0" bIns="0" anchor="t">
            <a:spAutoFit/>
          </a:bodyPr>
          <a:lstStyle/>
          <a:p>
            <a:pPr algn="l">
              <a:lnSpc>
                <a:spcPts val="1687"/>
              </a:lnSpc>
            </a:pPr>
            <a:r>
              <a:rPr b="0" sz="1125" i="0" u="none">
                <a:solidFill>
                  <a:srgbClr val="555555"/>
                </a:solidFill>
                <a:latin typeface="Inter"/>
              </a:rPr>
              <a:t>Kısacası , bilimler basitten karmaşığa doğru sıralanmıştır.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85800" y="2492722"/>
            <a:ext cx="10820400" cy="790575"/>
          </a:xfrm>
          <a:prstGeom prst="roundRect">
            <a:avLst>
              <a:gd name="adj" fmla="val 9638"/>
            </a:avLst>
          </a:prstGeom>
          <a:solidFill>
            <a:srgbClr val="222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473797"/>
            <a:ext cx="10820400" cy="720030"/>
          </a:xfrm>
          <a:prstGeom prst="roundRect">
            <a:avLst>
              <a:gd name="adj" fmla="val 10582"/>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384327"/>
            <a:ext cx="5314950" cy="933450"/>
          </a:xfrm>
          <a:prstGeom prst="roundRect">
            <a:avLst>
              <a:gd name="adj" fmla="val 8163"/>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4384327"/>
            <a:ext cx="5314950" cy="933450"/>
          </a:xfrm>
          <a:prstGeom prst="roundRect">
            <a:avLst>
              <a:gd name="adj" fmla="val 8163"/>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33400"/>
            <a:ext cx="11506200" cy="161925"/>
          </a:xfrm>
          <a:prstGeom prst="rect">
            <a:avLst/>
          </a:prstGeom>
          <a:noFill/>
        </p:spPr>
        <p:txBody>
          <a:bodyPr wrap="none" lIns="0" rIns="0" tIns="0" bIns="0" anchor="t">
            <a:spAutoFit/>
          </a:bodyPr>
          <a:lstStyle/>
          <a:p>
            <a:pPr algn="l"/>
            <a:r>
              <a:rPr b="1" sz="1050" i="0" u="none">
                <a:solidFill>
                  <a:srgbClr val="8C6D31"/>
                </a:solidFill>
                <a:latin typeface="Inter"/>
              </a:rPr>
              <a:t>KRALIÇE BILIM</a:t>
            </a:r>
          </a:p>
        </p:txBody>
      </p:sp>
      <p:sp>
        <p:nvSpPr>
          <p:cNvPr id="7" name="TextBox 6"/>
          <p:cNvSpPr txBox="1"/>
          <p:nvPr/>
        </p:nvSpPr>
        <p:spPr>
          <a:xfrm>
            <a:off x="685800" y="771525"/>
            <a:ext cx="11506200" cy="409575"/>
          </a:xfrm>
          <a:prstGeom prst="rect">
            <a:avLst/>
          </a:prstGeom>
          <a:noFill/>
        </p:spPr>
        <p:txBody>
          <a:bodyPr wrap="none" lIns="0" rIns="0" tIns="0" bIns="0" anchor="t">
            <a:spAutoFit/>
          </a:bodyPr>
          <a:lstStyle/>
          <a:p>
            <a:pPr algn="l"/>
            <a:r>
              <a:rPr b="1" sz="2400" i="0" u="none">
                <a:solidFill>
                  <a:srgbClr val="222222"/>
                </a:solidFill>
                <a:latin typeface="Cinzel"/>
              </a:rPr>
              <a:t>Bilimler Hiyerarşisi ve Sosyoloji (II)</a:t>
            </a:r>
          </a:p>
        </p:txBody>
      </p:sp>
      <p:sp>
        <p:nvSpPr>
          <p:cNvPr id="8" name="TextBox 7"/>
          <p:cNvSpPr txBox="1"/>
          <p:nvPr/>
        </p:nvSpPr>
        <p:spPr>
          <a:xfrm>
            <a:off x="952500" y="2759422"/>
            <a:ext cx="11239500" cy="257175"/>
          </a:xfrm>
          <a:prstGeom prst="rect">
            <a:avLst/>
          </a:prstGeom>
          <a:noFill/>
        </p:spPr>
        <p:txBody>
          <a:bodyPr wrap="none" lIns="0" rIns="0" tIns="0" bIns="0" anchor="t">
            <a:spAutoFit/>
          </a:bodyPr>
          <a:lstStyle/>
          <a:p>
            <a:pPr algn="l">
              <a:lnSpc>
                <a:spcPts val="2025"/>
              </a:lnSpc>
            </a:pPr>
            <a:r>
              <a:rPr b="1" sz="1350" i="0" u="none">
                <a:solidFill>
                  <a:srgbClr val="F4F1EA"/>
                </a:solidFill>
                <a:latin typeface="Inter"/>
              </a:rPr>
              <a:t>Toplum bilimleri, Comte'un hiyerarşisinde "Kraliçe bilim" olarak adlandırılır çünkü temelde en karmaşık olanlardır.</a:t>
            </a:r>
          </a:p>
        </p:txBody>
      </p:sp>
      <p:sp>
        <p:nvSpPr>
          <p:cNvPr id="9" name="TextBox 8"/>
          <p:cNvSpPr txBox="1"/>
          <p:nvPr/>
        </p:nvSpPr>
        <p:spPr>
          <a:xfrm>
            <a:off x="962025" y="3711922"/>
            <a:ext cx="11229975" cy="243780"/>
          </a:xfrm>
          <a:prstGeom prst="rect">
            <a:avLst/>
          </a:prstGeom>
          <a:noFill/>
        </p:spPr>
        <p:txBody>
          <a:bodyPr wrap="none" lIns="0" rIns="0" tIns="0" bIns="0" anchor="t">
            <a:spAutoFit/>
          </a:bodyPr>
          <a:lstStyle/>
          <a:p>
            <a:pPr algn="l">
              <a:lnSpc>
                <a:spcPts val="1920"/>
              </a:lnSpc>
            </a:pPr>
            <a:r>
              <a:rPr b="0" sz="1200" i="0" u="none">
                <a:solidFill>
                  <a:srgbClr val="333333"/>
                </a:solidFill>
                <a:latin typeface="Inter"/>
              </a:rPr>
              <a:t>Comte'a göre, sosyoloji kendini oluşturan bireylere indirgenemeyen karmaşık bir varlık olarak toplumsal bütünü araştırır.</a:t>
            </a:r>
          </a:p>
        </p:txBody>
      </p:sp>
      <p:sp>
        <p:nvSpPr>
          <p:cNvPr id="10" name="TextBox 9"/>
          <p:cNvSpPr txBox="1"/>
          <p:nvPr/>
        </p:nvSpPr>
        <p:spPr>
          <a:xfrm>
            <a:off x="962025" y="4622452"/>
            <a:ext cx="4857750" cy="457200"/>
          </a:xfrm>
          <a:prstGeom prst="rect">
            <a:avLst/>
          </a:prstGeom>
          <a:noFill/>
        </p:spPr>
        <p:txBody>
          <a:bodyPr wrap="square" lIns="0" rIns="0" tIns="0" bIns="0" anchor="t">
            <a:spAutoFit/>
          </a:bodyPr>
          <a:lstStyle/>
          <a:p>
            <a:pPr algn="l">
              <a:lnSpc>
                <a:spcPts val="1800"/>
              </a:lnSpc>
            </a:pPr>
            <a:r>
              <a:rPr b="0" sz="1125" i="0" u="none">
                <a:solidFill>
                  <a:srgbClr val="555555"/>
                </a:solidFill>
                <a:latin typeface="Inter"/>
              </a:rPr>
              <a:t>Toplumsal bütün, kendisini oluşturan bireylere indirgenemeyecek bir birimdir.</a:t>
            </a:r>
          </a:p>
        </p:txBody>
      </p:sp>
      <p:sp>
        <p:nvSpPr>
          <p:cNvPr id="11" name="TextBox 10"/>
          <p:cNvSpPr txBox="1"/>
          <p:nvPr/>
        </p:nvSpPr>
        <p:spPr>
          <a:xfrm>
            <a:off x="6467475" y="4622452"/>
            <a:ext cx="5724525" cy="228600"/>
          </a:xfrm>
          <a:prstGeom prst="rect">
            <a:avLst/>
          </a:prstGeom>
          <a:noFill/>
        </p:spPr>
        <p:txBody>
          <a:bodyPr wrap="none" lIns="0" rIns="0" tIns="0" bIns="0" anchor="t">
            <a:spAutoFit/>
          </a:bodyPr>
          <a:lstStyle/>
          <a:p>
            <a:pPr algn="l">
              <a:lnSpc>
                <a:spcPts val="1800"/>
              </a:lnSpc>
            </a:pPr>
            <a:r>
              <a:rPr b="0" sz="1125" i="0" u="none">
                <a:solidFill>
                  <a:srgbClr val="555555"/>
                </a:solidFill>
                <a:latin typeface="Inter"/>
              </a:rPr>
              <a:t>Hatta, toplum kendisini oluşturan bireylerden daha temel ve somuttur.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85800" y="1899344"/>
            <a:ext cx="10820400" cy="720030"/>
          </a:xfrm>
          <a:prstGeom prst="roundRect">
            <a:avLst>
              <a:gd name="adj" fmla="val 10582"/>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2809875"/>
            <a:ext cx="10820400" cy="720030"/>
          </a:xfrm>
          <a:prstGeom prst="roundRect">
            <a:avLst>
              <a:gd name="adj" fmla="val 10582"/>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3720405"/>
            <a:ext cx="10820400" cy="762000"/>
          </a:xfrm>
          <a:prstGeom prst="roundRect">
            <a:avLst>
              <a:gd name="adj" fmla="val 10000"/>
            </a:avLst>
          </a:prstGeom>
          <a:solidFill>
            <a:srgbClr val="8C6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4672905"/>
            <a:ext cx="10820400" cy="1238250"/>
          </a:xfrm>
          <a:prstGeom prst="roundRect">
            <a:avLst>
              <a:gd name="adj" fmla="val 6153"/>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33400"/>
            <a:ext cx="11506200" cy="161925"/>
          </a:xfrm>
          <a:prstGeom prst="rect">
            <a:avLst/>
          </a:prstGeom>
          <a:noFill/>
        </p:spPr>
        <p:txBody>
          <a:bodyPr wrap="none" lIns="0" rIns="0" tIns="0" bIns="0" anchor="t">
            <a:spAutoFit/>
          </a:bodyPr>
          <a:lstStyle/>
          <a:p>
            <a:pPr algn="l"/>
            <a:r>
              <a:rPr b="1" sz="1050" i="0" u="none">
                <a:solidFill>
                  <a:srgbClr val="8C6D31"/>
                </a:solidFill>
                <a:latin typeface="Inter"/>
              </a:rPr>
              <a:t>PRATIK UYGULAMA</a:t>
            </a:r>
          </a:p>
        </p:txBody>
      </p:sp>
      <p:sp>
        <p:nvSpPr>
          <p:cNvPr id="7" name="TextBox 6"/>
          <p:cNvSpPr txBox="1"/>
          <p:nvPr/>
        </p:nvSpPr>
        <p:spPr>
          <a:xfrm>
            <a:off x="685800" y="771525"/>
            <a:ext cx="11506200" cy="409575"/>
          </a:xfrm>
          <a:prstGeom prst="rect">
            <a:avLst/>
          </a:prstGeom>
          <a:noFill/>
        </p:spPr>
        <p:txBody>
          <a:bodyPr wrap="none" lIns="0" rIns="0" tIns="0" bIns="0" anchor="t">
            <a:spAutoFit/>
          </a:bodyPr>
          <a:lstStyle/>
          <a:p>
            <a:pPr algn="l"/>
            <a:r>
              <a:rPr b="1" sz="2400" i="0" u="none">
                <a:solidFill>
                  <a:srgbClr val="222222"/>
                </a:solidFill>
                <a:latin typeface="Cinzel"/>
              </a:rPr>
              <a:t>Sosyolojinin Siyasi-Toplumsal Rolü</a:t>
            </a:r>
          </a:p>
        </p:txBody>
      </p:sp>
      <p:sp>
        <p:nvSpPr>
          <p:cNvPr id="8" name="TextBox 7"/>
          <p:cNvSpPr txBox="1"/>
          <p:nvPr/>
        </p:nvSpPr>
        <p:spPr>
          <a:xfrm>
            <a:off x="962025" y="2137469"/>
            <a:ext cx="11229975" cy="243780"/>
          </a:xfrm>
          <a:prstGeom prst="rect">
            <a:avLst/>
          </a:prstGeom>
          <a:noFill/>
        </p:spPr>
        <p:txBody>
          <a:bodyPr wrap="none" lIns="0" rIns="0" tIns="0" bIns="0" anchor="t">
            <a:spAutoFit/>
          </a:bodyPr>
          <a:lstStyle/>
          <a:p>
            <a:pPr algn="l">
              <a:lnSpc>
                <a:spcPts val="1920"/>
              </a:lnSpc>
            </a:pPr>
            <a:r>
              <a:rPr b="0" sz="1200" i="0" u="none">
                <a:solidFill>
                  <a:srgbClr val="333333"/>
                </a:solidFill>
                <a:latin typeface="Inter"/>
              </a:rPr>
              <a:t>Ayrıca, Comte’a göre, sosyoloji yalnızca toplumu anlamakla kalmamalıdır, onun iyileştirilmesi ve düzenlenmesi için de kullanılmalıdır.</a:t>
            </a:r>
          </a:p>
        </p:txBody>
      </p:sp>
      <p:sp>
        <p:nvSpPr>
          <p:cNvPr id="9" name="TextBox 8"/>
          <p:cNvSpPr txBox="1"/>
          <p:nvPr/>
        </p:nvSpPr>
        <p:spPr>
          <a:xfrm>
            <a:off x="962025" y="3048000"/>
            <a:ext cx="11229975" cy="243780"/>
          </a:xfrm>
          <a:prstGeom prst="rect">
            <a:avLst/>
          </a:prstGeom>
          <a:noFill/>
        </p:spPr>
        <p:txBody>
          <a:bodyPr wrap="none" lIns="0" rIns="0" tIns="0" bIns="0" anchor="t">
            <a:spAutoFit/>
          </a:bodyPr>
          <a:lstStyle/>
          <a:p>
            <a:pPr algn="l">
              <a:lnSpc>
                <a:spcPts val="1920"/>
              </a:lnSpc>
            </a:pPr>
            <a:r>
              <a:rPr b="0" sz="1200" i="0" u="none">
                <a:solidFill>
                  <a:srgbClr val="333333"/>
                </a:solidFill>
                <a:latin typeface="Inter"/>
              </a:rPr>
              <a:t>Sosyoloji, toplumsal yasaları ortaya koyarak o yasalar temelinde öngörülerde bulunur ve bu öngörülerle topluma müdahâle eder.</a:t>
            </a:r>
          </a:p>
        </p:txBody>
      </p:sp>
      <p:sp>
        <p:nvSpPr>
          <p:cNvPr id="10" name="TextBox 9"/>
          <p:cNvSpPr txBox="1"/>
          <p:nvPr/>
        </p:nvSpPr>
        <p:spPr>
          <a:xfrm>
            <a:off x="-142875" y="3949005"/>
            <a:ext cx="12477750" cy="304800"/>
          </a:xfrm>
          <a:prstGeom prst="rect">
            <a:avLst/>
          </a:prstGeom>
          <a:noFill/>
        </p:spPr>
        <p:txBody>
          <a:bodyPr wrap="none" lIns="0" rIns="0" tIns="0" bIns="0" anchor="t">
            <a:spAutoFit/>
          </a:bodyPr>
          <a:lstStyle/>
          <a:p>
            <a:pPr algn="ctr"/>
            <a:r>
              <a:rPr b="1" sz="1800" i="0" u="none">
                <a:solidFill>
                  <a:srgbClr val="FFFFFF"/>
                </a:solidFill>
                <a:latin typeface="Cinzel"/>
              </a:rPr>
              <a:t>“Bilmek öngörmek, öngörmek yapmaktır.”</a:t>
            </a:r>
          </a:p>
        </p:txBody>
      </p:sp>
      <p:sp>
        <p:nvSpPr>
          <p:cNvPr id="11" name="TextBox 10"/>
          <p:cNvSpPr txBox="1"/>
          <p:nvPr/>
        </p:nvSpPr>
        <p:spPr>
          <a:xfrm>
            <a:off x="962025" y="4911030"/>
            <a:ext cx="11229975" cy="228600"/>
          </a:xfrm>
          <a:prstGeom prst="rect">
            <a:avLst/>
          </a:prstGeom>
          <a:noFill/>
        </p:spPr>
        <p:txBody>
          <a:bodyPr wrap="none" lIns="0" rIns="0" tIns="0" bIns="0" anchor="t">
            <a:spAutoFit/>
          </a:bodyPr>
          <a:lstStyle/>
          <a:p>
            <a:pPr algn="l">
              <a:lnSpc>
                <a:spcPts val="1800"/>
              </a:lnSpc>
            </a:pPr>
            <a:r>
              <a:rPr b="0" sz="1125" i="0" u="none">
                <a:solidFill>
                  <a:srgbClr val="555555"/>
                </a:solidFill>
                <a:latin typeface="Inter"/>
              </a:rPr>
              <a:t>Tüm bunların altında yatan genel fikir, toplumsal düzensizliğin bütün kötülüklerin kaynağı olduğu inancıdır.</a:t>
            </a:r>
          </a:p>
        </p:txBody>
      </p:sp>
      <p:sp>
        <p:nvSpPr>
          <p:cNvPr id="12" name="TextBox 11"/>
          <p:cNvSpPr txBox="1"/>
          <p:nvPr/>
        </p:nvSpPr>
        <p:spPr>
          <a:xfrm>
            <a:off x="962025" y="5215830"/>
            <a:ext cx="10363200" cy="457200"/>
          </a:xfrm>
          <a:prstGeom prst="rect">
            <a:avLst/>
          </a:prstGeom>
          <a:noFill/>
        </p:spPr>
        <p:txBody>
          <a:bodyPr wrap="square" lIns="0" rIns="0" tIns="0" bIns="0" anchor="t">
            <a:spAutoFit/>
          </a:bodyPr>
          <a:lstStyle/>
          <a:p>
            <a:pPr algn="l">
              <a:lnSpc>
                <a:spcPts val="1800"/>
              </a:lnSpc>
            </a:pPr>
            <a:r>
              <a:rPr b="0" sz="1125" i="0" u="none">
                <a:solidFill>
                  <a:srgbClr val="555555"/>
                </a:solidFill>
                <a:latin typeface="Inter"/>
              </a:rPr>
              <a:t>Comte’un tüm arayışının altında, düzeni ilerleme fikriyle birlikte düşünme çabası yatar. Sosyoloji, tam da bu ikisini bir araya getirmeye yardımcı olacağı için çok değerlidir.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85800" y="2543175"/>
            <a:ext cx="10820400" cy="933450"/>
          </a:xfrm>
          <a:prstGeom prst="roundRect">
            <a:avLst>
              <a:gd name="adj" fmla="val 8163"/>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667125"/>
            <a:ext cx="5305425" cy="1562100"/>
          </a:xfrm>
          <a:prstGeom prst="roundRect">
            <a:avLst>
              <a:gd name="adj" fmla="val 4878"/>
            </a:avLst>
          </a:prstGeom>
          <a:solidFill>
            <a:srgbClr val="222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81725" y="3667125"/>
            <a:ext cx="5324475" cy="1562100"/>
          </a:xfrm>
          <a:prstGeom prst="roundRect">
            <a:avLst>
              <a:gd name="adj" fmla="val 4878"/>
            </a:avLst>
          </a:prstGeom>
          <a:solidFill>
            <a:srgbClr val="FFFFFF"/>
          </a:solidFill>
          <a:ln w="9525">
            <a:solidFill>
              <a:srgbClr val="E8E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33400"/>
            <a:ext cx="11506200" cy="161925"/>
          </a:xfrm>
          <a:prstGeom prst="rect">
            <a:avLst/>
          </a:prstGeom>
          <a:noFill/>
        </p:spPr>
        <p:txBody>
          <a:bodyPr wrap="none" lIns="0" rIns="0" tIns="0" bIns="0" anchor="t">
            <a:spAutoFit/>
          </a:bodyPr>
          <a:lstStyle/>
          <a:p>
            <a:pPr algn="l"/>
            <a:r>
              <a:rPr b="1" sz="1050" i="0" u="none">
                <a:solidFill>
                  <a:srgbClr val="8C6D31"/>
                </a:solidFill>
                <a:latin typeface="Inter"/>
              </a:rPr>
              <a:t>OTORITE VE YAPI</a:t>
            </a:r>
          </a:p>
        </p:txBody>
      </p:sp>
      <p:sp>
        <p:nvSpPr>
          <p:cNvPr id="6" name="TextBox 5"/>
          <p:cNvSpPr txBox="1"/>
          <p:nvPr/>
        </p:nvSpPr>
        <p:spPr>
          <a:xfrm>
            <a:off x="685800" y="771525"/>
            <a:ext cx="11506200" cy="409575"/>
          </a:xfrm>
          <a:prstGeom prst="rect">
            <a:avLst/>
          </a:prstGeom>
          <a:noFill/>
        </p:spPr>
        <p:txBody>
          <a:bodyPr wrap="none" lIns="0" rIns="0" tIns="0" bIns="0" anchor="t">
            <a:spAutoFit/>
          </a:bodyPr>
          <a:lstStyle/>
          <a:p>
            <a:pPr algn="l"/>
            <a:r>
              <a:rPr b="1" sz="2400" i="0" u="none">
                <a:solidFill>
                  <a:srgbClr val="222222"/>
                </a:solidFill>
                <a:latin typeface="Cinzel"/>
              </a:rPr>
              <a:t>Sosyolojinin Siyasi-Toplumsal Rolü</a:t>
            </a:r>
          </a:p>
        </p:txBody>
      </p:sp>
      <p:sp>
        <p:nvSpPr>
          <p:cNvPr id="7" name="TextBox 6"/>
          <p:cNvSpPr txBox="1"/>
          <p:nvPr/>
        </p:nvSpPr>
        <p:spPr>
          <a:xfrm>
            <a:off x="962025" y="2781300"/>
            <a:ext cx="10363200" cy="457200"/>
          </a:xfrm>
          <a:prstGeom prst="rect">
            <a:avLst/>
          </a:prstGeom>
          <a:noFill/>
        </p:spPr>
        <p:txBody>
          <a:bodyPr wrap="square" lIns="0" rIns="0" tIns="0" bIns="0" anchor="t">
            <a:spAutoFit/>
          </a:bodyPr>
          <a:lstStyle/>
          <a:p>
            <a:pPr algn="l">
              <a:lnSpc>
                <a:spcPts val="1800"/>
              </a:lnSpc>
            </a:pPr>
            <a:r>
              <a:rPr b="0" sz="1125" i="0" u="none">
                <a:solidFill>
                  <a:srgbClr val="333333"/>
                </a:solidFill>
                <a:latin typeface="Inter"/>
              </a:rPr>
              <a:t>Comte, otoriter bir devlet düşüncesine göz kırparak toplumda hiyerarşinin zorunlu olduğunu ve bu hiyerarşinin toplumsal düzenin temeli olduğunu iddia eder. Bu hiyerarşiyi de devlet düzenler ve kontrol eder.</a:t>
            </a:r>
          </a:p>
        </p:txBody>
      </p:sp>
      <p:sp>
        <p:nvSpPr>
          <p:cNvPr id="8" name="TextBox 7"/>
          <p:cNvSpPr txBox="1"/>
          <p:nvPr/>
        </p:nvSpPr>
        <p:spPr>
          <a:xfrm>
            <a:off x="914400" y="3895725"/>
            <a:ext cx="6363295" cy="190500"/>
          </a:xfrm>
          <a:prstGeom prst="rect">
            <a:avLst/>
          </a:prstGeom>
          <a:noFill/>
        </p:spPr>
        <p:txBody>
          <a:bodyPr wrap="none" lIns="0" rIns="0" tIns="0" bIns="0" anchor="t">
            <a:spAutoFit/>
          </a:bodyPr>
          <a:lstStyle/>
          <a:p>
            <a:pPr algn="l"/>
            <a:r>
              <a:rPr b="1" sz="1200" i="0" u="none">
                <a:solidFill>
                  <a:srgbClr val="C5A059"/>
                </a:solidFill>
                <a:latin typeface="Inter"/>
              </a:rPr>
              <a:t>Toplumsal Hiyerarşi</a:t>
            </a:r>
          </a:p>
        </p:txBody>
      </p:sp>
      <p:sp>
        <p:nvSpPr>
          <p:cNvPr id="9" name="TextBox 8"/>
          <p:cNvSpPr txBox="1"/>
          <p:nvPr/>
        </p:nvSpPr>
        <p:spPr>
          <a:xfrm>
            <a:off x="914400" y="4181475"/>
            <a:ext cx="4943475" cy="800100"/>
          </a:xfrm>
          <a:prstGeom prst="rect">
            <a:avLst/>
          </a:prstGeom>
          <a:noFill/>
        </p:spPr>
        <p:txBody>
          <a:bodyPr wrap="square" lIns="0" rIns="0" tIns="0" bIns="0" anchor="t">
            <a:spAutoFit/>
          </a:bodyPr>
          <a:lstStyle/>
          <a:p>
            <a:pPr algn="l">
              <a:lnSpc>
                <a:spcPts val="1575"/>
              </a:lnSpc>
            </a:pPr>
            <a:r>
              <a:rPr b="0" sz="1050" i="0" u="none">
                <a:solidFill>
                  <a:srgbClr val="D0CBBF"/>
                </a:solidFill>
                <a:latin typeface="Inter"/>
              </a:rPr>
              <a:t>Buna göre, toplumsal hiyerarşinin en üstünde pozitivist sosyologlar, en altında da emek gücü sarf ederek hayatta kalan işçiler (proletarya) yer alır. İki grup da kendi çıkarlarından önce toplumun çıkarlarını düşünür ve topluma katkı sunmaya çalışırlar.</a:t>
            </a:r>
          </a:p>
        </p:txBody>
      </p:sp>
      <p:sp>
        <p:nvSpPr>
          <p:cNvPr id="10" name="TextBox 9"/>
          <p:cNvSpPr txBox="1"/>
          <p:nvPr/>
        </p:nvSpPr>
        <p:spPr>
          <a:xfrm>
            <a:off x="6419850" y="3905250"/>
            <a:ext cx="5772150" cy="190500"/>
          </a:xfrm>
          <a:prstGeom prst="rect">
            <a:avLst/>
          </a:prstGeom>
          <a:noFill/>
        </p:spPr>
        <p:txBody>
          <a:bodyPr wrap="none" lIns="0" rIns="0" tIns="0" bIns="0" anchor="t">
            <a:spAutoFit/>
          </a:bodyPr>
          <a:lstStyle/>
          <a:p>
            <a:pPr algn="l"/>
            <a:r>
              <a:rPr b="1" sz="1200" i="0" u="none">
                <a:solidFill>
                  <a:srgbClr val="222222"/>
                </a:solidFill>
                <a:latin typeface="Inter"/>
              </a:rPr>
              <a:t>Organizma Olarak Toplum</a:t>
            </a:r>
          </a:p>
        </p:txBody>
      </p:sp>
      <p:sp>
        <p:nvSpPr>
          <p:cNvPr id="11" name="TextBox 10"/>
          <p:cNvSpPr txBox="1"/>
          <p:nvPr/>
        </p:nvSpPr>
        <p:spPr>
          <a:xfrm>
            <a:off x="6419850" y="4191000"/>
            <a:ext cx="4943475" cy="800100"/>
          </a:xfrm>
          <a:prstGeom prst="rect">
            <a:avLst/>
          </a:prstGeom>
          <a:noFill/>
        </p:spPr>
        <p:txBody>
          <a:bodyPr wrap="square" lIns="0" rIns="0" tIns="0" bIns="0" anchor="t">
            <a:spAutoFit/>
          </a:bodyPr>
          <a:lstStyle/>
          <a:p>
            <a:pPr algn="l">
              <a:lnSpc>
                <a:spcPts val="1575"/>
              </a:lnSpc>
            </a:pPr>
            <a:r>
              <a:rPr b="0" sz="1050" i="0" u="none">
                <a:solidFill>
                  <a:srgbClr val="555555"/>
                </a:solidFill>
                <a:latin typeface="Inter"/>
              </a:rPr>
              <a:t>Herkesin toplumsal iş bölümünde belli bir rolü ve işlevi olduğu organizma olarak toplum görüşü, Comte’un otoriter devletçiliğinin bir uzantısıdır. İşte, sosyoloji bu organizma olarak toplumu anlamaya, açıklamaya ve bu toplumun yasalarını ortaya çıkarmaya çalışır.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918"/>
        </a:solidFill>
        <a:effectLst/>
      </p:bgPr>
    </p:bg>
    <p:spTree>
      <p:nvGrpSpPr>
        <p:cNvPr id="1" name=""/>
        <p:cNvGrpSpPr/>
        <p:nvPr/>
      </p:nvGrpSpPr>
      <p:grpSpPr/>
      <p:sp>
        <p:nvSpPr>
          <p:cNvPr id="2" name="Rectangle 1"/>
          <p:cNvSpPr/>
          <p:nvPr/>
        </p:nvSpPr>
        <p:spPr>
          <a:xfrm>
            <a:off x="762000" y="2790825"/>
            <a:ext cx="10668000" cy="1083915"/>
          </a:xfrm>
          <a:prstGeom prst="rect">
            <a:avLst/>
          </a:prstGeom>
          <a:solidFill>
            <a:srgbClr val="26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2000" y="4141440"/>
            <a:ext cx="10668000" cy="1040010"/>
          </a:xfrm>
          <a:prstGeom prst="roundRect">
            <a:avLst>
              <a:gd name="adj" fmla="val 7326"/>
            </a:avLst>
          </a:prstGeom>
          <a:solidFill>
            <a:srgbClr val="262422"/>
          </a:solidFill>
          <a:ln w="9525">
            <a:solidFill>
              <a:srgbClr val="3834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2000" y="2790825"/>
            <a:ext cx="38100" cy="108391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1676400"/>
            <a:ext cx="11430000" cy="161925"/>
          </a:xfrm>
          <a:prstGeom prst="rect">
            <a:avLst/>
          </a:prstGeom>
          <a:noFill/>
        </p:spPr>
        <p:txBody>
          <a:bodyPr wrap="none" lIns="0" rIns="0" tIns="0" bIns="0" anchor="t">
            <a:spAutoFit/>
          </a:bodyPr>
          <a:lstStyle/>
          <a:p>
            <a:pPr algn="l"/>
            <a:r>
              <a:rPr b="1" sz="1050" i="0" u="none">
                <a:solidFill>
                  <a:srgbClr val="C5A059"/>
                </a:solidFill>
                <a:latin typeface="Inter"/>
              </a:rPr>
              <a:t>ELEŞTIREL BAKIŞ</a:t>
            </a:r>
          </a:p>
        </p:txBody>
      </p:sp>
      <p:sp>
        <p:nvSpPr>
          <p:cNvPr id="6" name="TextBox 5"/>
          <p:cNvSpPr txBox="1"/>
          <p:nvPr/>
        </p:nvSpPr>
        <p:spPr>
          <a:xfrm>
            <a:off x="762000" y="1952625"/>
            <a:ext cx="11430000" cy="457200"/>
          </a:xfrm>
          <a:prstGeom prst="rect">
            <a:avLst/>
          </a:prstGeom>
          <a:noFill/>
        </p:spPr>
        <p:txBody>
          <a:bodyPr wrap="none" lIns="0" rIns="0" tIns="0" bIns="0" anchor="t">
            <a:spAutoFit/>
          </a:bodyPr>
          <a:lstStyle/>
          <a:p>
            <a:pPr algn="l"/>
            <a:r>
              <a:rPr b="1" sz="2700" i="0" u="none">
                <a:solidFill>
                  <a:srgbClr val="F4F1EA"/>
                </a:solidFill>
                <a:latin typeface="Cinzel"/>
              </a:rPr>
              <a:t>İki Yaklaşım Biçimi: Comte Eleştirisi</a:t>
            </a:r>
          </a:p>
        </p:txBody>
      </p:sp>
      <p:sp>
        <p:nvSpPr>
          <p:cNvPr id="7" name="TextBox 6"/>
          <p:cNvSpPr txBox="1"/>
          <p:nvPr/>
        </p:nvSpPr>
        <p:spPr>
          <a:xfrm>
            <a:off x="1104900" y="3057525"/>
            <a:ext cx="11087100" cy="274290"/>
          </a:xfrm>
          <a:prstGeom prst="rect">
            <a:avLst/>
          </a:prstGeom>
          <a:noFill/>
        </p:spPr>
        <p:txBody>
          <a:bodyPr wrap="none" lIns="0" rIns="0" tIns="0" bIns="0" anchor="t">
            <a:spAutoFit/>
          </a:bodyPr>
          <a:lstStyle/>
          <a:p>
            <a:pPr algn="l">
              <a:lnSpc>
                <a:spcPts val="2160"/>
              </a:lnSpc>
            </a:pPr>
            <a:r>
              <a:rPr b="0" sz="1350" i="1" u="none">
                <a:solidFill>
                  <a:srgbClr val="F4F1EA"/>
                </a:solidFill>
                <a:latin typeface="Inter"/>
              </a:rPr>
              <a:t>“Auguste Comte için asıl söz konusu olan, bireyciliğin yanılsamalarından kurtulmak, Ben’den Biz’e geçmektir.”</a:t>
            </a:r>
          </a:p>
        </p:txBody>
      </p:sp>
      <p:sp>
        <p:nvSpPr>
          <p:cNvPr id="8" name="TextBox 7"/>
          <p:cNvSpPr txBox="1"/>
          <p:nvPr/>
        </p:nvSpPr>
        <p:spPr>
          <a:xfrm>
            <a:off x="-1400175" y="3446115"/>
            <a:ext cx="12525375" cy="161925"/>
          </a:xfrm>
          <a:prstGeom prst="rect">
            <a:avLst/>
          </a:prstGeom>
          <a:noFill/>
        </p:spPr>
        <p:txBody>
          <a:bodyPr wrap="none" lIns="0" rIns="0" tIns="0" bIns="0" anchor="t">
            <a:spAutoFit/>
          </a:bodyPr>
          <a:lstStyle/>
          <a:p>
            <a:pPr algn="r"/>
            <a:r>
              <a:rPr b="0" sz="1050" i="0" u="none">
                <a:solidFill>
                  <a:srgbClr val="A39E93"/>
                </a:solidFill>
                <a:latin typeface="Inter"/>
              </a:rPr>
              <a:t>— Alain Touraine, </a:t>
            </a:r>
            <a:r>
              <a:rPr b="0" sz="1050" i="1" u="none">
                <a:solidFill>
                  <a:srgbClr val="A39E93"/>
                </a:solidFill>
                <a:latin typeface="Inter"/>
              </a:rPr>
              <a:t>Modernliğin Eleştirisi</a:t>
            </a:r>
            <a:r>
              <a:rPr b="0" sz="1050" i="0" u="none">
                <a:solidFill>
                  <a:srgbClr val="A39E93"/>
                </a:solidFill>
                <a:latin typeface="Inter"/>
              </a:rPr>
              <a:t>, s.90-91</a:t>
            </a:r>
          </a:p>
        </p:txBody>
      </p:sp>
      <p:sp>
        <p:nvSpPr>
          <p:cNvPr id="9" name="TextBox 8"/>
          <p:cNvSpPr txBox="1"/>
          <p:nvPr/>
        </p:nvSpPr>
        <p:spPr>
          <a:xfrm>
            <a:off x="1076325" y="4417665"/>
            <a:ext cx="10134600" cy="487560"/>
          </a:xfrm>
          <a:prstGeom prst="rect">
            <a:avLst/>
          </a:prstGeom>
          <a:noFill/>
        </p:spPr>
        <p:txBody>
          <a:bodyPr wrap="square" lIns="0" rIns="0" tIns="0" bIns="0" anchor="t">
            <a:spAutoFit/>
          </a:bodyPr>
          <a:lstStyle/>
          <a:p>
            <a:pPr algn="l">
              <a:lnSpc>
                <a:spcPts val="1920"/>
              </a:lnSpc>
            </a:pPr>
            <a:r>
              <a:rPr b="0" sz="1200" i="0" u="none">
                <a:solidFill>
                  <a:srgbClr val="D0CBBF"/>
                </a:solidFill>
                <a:latin typeface="Inter"/>
              </a:rPr>
              <a:t>Mesela, Herbert Marcuse, </a:t>
            </a:r>
            <a:r>
              <a:rPr b="1" sz="1200" i="0" u="none">
                <a:solidFill>
                  <a:srgbClr val="D0CBBF"/>
                </a:solidFill>
                <a:latin typeface="Inter"/>
              </a:rPr>
              <a:t>Akıl ve Devrim</a:t>
            </a:r>
            <a:r>
              <a:rPr b="0" sz="1200" i="0" u="none">
                <a:solidFill>
                  <a:srgbClr val="D0CBBF"/>
                </a:solidFill>
                <a:latin typeface="Inter"/>
              </a:rPr>
              <a:t> adlı yapıtında Comte’un pozitivist yaklaşımını toplumsal düzeni yasal olgu alanı olarak görmesi bağlamında muhafazakâr amaçlara hizmet eder olarak tanımlamaktadır.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71500" y="990600"/>
            <a:ext cx="857250" cy="476250"/>
          </a:xfrm>
          <a:prstGeom prst="rect">
            <a:avLst/>
          </a:prstGeom>
        </p:spPr>
      </p:pic>
      <p:sp>
        <p:nvSpPr>
          <p:cNvPr id="3" name="TextBox 2"/>
          <p:cNvSpPr txBox="1"/>
          <p:nvPr/>
        </p:nvSpPr>
        <p:spPr>
          <a:xfrm>
            <a:off x="571500" y="571500"/>
            <a:ext cx="2175271" cy="276225"/>
          </a:xfrm>
          <a:prstGeom prst="rect">
            <a:avLst/>
          </a:prstGeom>
          <a:noFill/>
        </p:spPr>
        <p:txBody>
          <a:bodyPr wrap="none" lIns="0" rIns="0" tIns="0" bIns="0" anchor="t">
            <a:spAutoFit/>
          </a:bodyPr>
          <a:lstStyle/>
          <a:p>
            <a:pPr algn="l"/>
            <a:r>
              <a:rPr b="1" sz="1800" i="0" u="none">
                <a:solidFill>
                  <a:srgbClr val="F8FAFC"/>
                </a:solidFill>
                <a:latin typeface="Inter"/>
              </a:rPr>
              <a:t>Image Sources</a:t>
            </a:r>
          </a:p>
        </p:txBody>
      </p:sp>
      <p:sp>
        <p:nvSpPr>
          <p:cNvPr id="4" name="TextBox 3"/>
          <p:cNvSpPr txBox="1"/>
          <p:nvPr/>
        </p:nvSpPr>
        <p:spPr>
          <a:xfrm>
            <a:off x="1666875" y="1033462"/>
            <a:ext cx="6465093" cy="152400"/>
          </a:xfrm>
          <a:prstGeom prst="rect">
            <a:avLst/>
          </a:prstGeom>
          <a:noFill/>
        </p:spPr>
        <p:txBody>
          <a:bodyPr wrap="none" lIns="0" rIns="0" tIns="0" bIns="0" anchor="t">
            <a:spAutoFit/>
          </a:bodyPr>
          <a:lstStyle/>
          <a:p>
            <a:pPr algn="l"/>
            <a:r>
              <a:rPr b="0" sz="975" i="0" u="none">
                <a:solidFill>
                  <a:srgbClr val="F8FAFC"/>
                </a:solidFill>
                <a:latin typeface="Inter"/>
              </a:rPr>
              <a:t>https://brewminate.com/wp-content/uploads/2026/08/082426-01-France-Medieval.jpg</a:t>
            </a:r>
          </a:p>
        </p:txBody>
      </p:sp>
      <p:sp>
        <p:nvSpPr>
          <p:cNvPr id="5" name="TextBox 4"/>
          <p:cNvSpPr txBox="1"/>
          <p:nvPr/>
        </p:nvSpPr>
        <p:spPr>
          <a:xfrm>
            <a:off x="1666875" y="1233487"/>
            <a:ext cx="2250281" cy="190500"/>
          </a:xfrm>
          <a:prstGeom prst="rect">
            <a:avLst/>
          </a:prstGeom>
          <a:noFill/>
        </p:spPr>
        <p:txBody>
          <a:bodyPr wrap="none" lIns="0" rIns="0" tIns="0" bIns="0" anchor="t">
            <a:spAutoFit/>
          </a:bodyPr>
          <a:lstStyle/>
          <a:p>
            <a:pPr algn="l"/>
            <a:r>
              <a:rPr b="0" sz="1200" i="0" u="none">
                <a:solidFill>
                  <a:srgbClr val="F8FAFC"/>
                </a:solidFill>
                <a:latin typeface="Inter"/>
              </a:rPr>
              <a:t>Source: </a:t>
            </a:r>
            <a:r>
              <a:rPr b="0" sz="1200" i="0" u="none">
                <a:solidFill>
                  <a:srgbClr val="4F46E5"/>
                </a:solidFill>
                <a:latin typeface="Inter"/>
              </a:rPr>
              <a:t>brewminate.com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