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  <ns0:italic ns1:id="rIdFont21"/>
      <ns0:regular ns1:id="rIdFont22"/>
    </ns0:embeddedFont>
    <ns0:embeddedFont>
      <ns0:font typeface="Playfair Display"/>
      <ns0:bold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991216f8-2b33-42a0-b4ff-56847c5bbda8.fntdata" /><ns0:Relationship Id="rIdFont21" Type="http://schemas.openxmlformats.org/officeDocument/2006/relationships/font" Target="fonts/4dfe0124-2ee3-4d89-a63e-3f0568bef8da.fntdata" /><ns0:Relationship Id="rIdFont22" Type="http://schemas.openxmlformats.org/officeDocument/2006/relationships/font" Target="fonts/908b3db0-efde-4c00-8aa4-5d15bacaa9ec.fntdata" /><ns0:Relationship Id="rIdFont23" Type="http://schemas.openxmlformats.org/officeDocument/2006/relationships/font" Target="fonts/c2f06de5-2cb1-4dce-b417-e7644e7d4a3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586287"/>
            <a:ext cx="106680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586287"/>
            <a:ext cx="10668000" cy="9525"/>
          </a:xfrm>
          <a:prstGeom prst="rect">
            <a:avLst/>
          </a:prstGeom>
          <a:solidFill>
            <a:srgbClr val="332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052637"/>
            <a:ext cx="8601075" cy="1314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175"/>
              </a:lnSpc>
            </a:pPr>
            <a:r>
              <a:rPr b="1" sz="4500" i="0" u="none">
                <a:solidFill>
                  <a:srgbClr val="FAFAF9"/>
                </a:solidFill>
                <a:latin typeface="Playfair Display"/>
              </a:rPr>
              <a:t>Modern Bir Sosyal Bilim Olarak Sosyolojinin Doğuşu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595687"/>
            <a:ext cx="65722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A8A29E"/>
                </a:solidFill>
                <a:latin typeface="Plus Jakarta Sans"/>
              </a:rPr>
              <a:t>19. yüzyıl toplumsal dönüşümleri, Aydınlanma düşüncesi ve modern toplum yapısının sosyolojik analizi.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0" y="1643062"/>
            <a:ext cx="297060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95537"/>
                </a:solidFill>
                <a:latin typeface="Plus Jakarta Sans"/>
              </a:rPr>
              <a:t>SOSYOLOJİ VE MODERNİTE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824412"/>
            <a:ext cx="151693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78716C"/>
                </a:solidFill>
                <a:latin typeface="Plus Jakarta Sans"/>
              </a:rPr>
              <a:t>DISIPLINER KÖKEN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014912"/>
            <a:ext cx="151693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7E5E4"/>
                </a:solidFill>
                <a:latin typeface="Plus Jakarta Sans"/>
              </a:rPr>
              <a:t>19. Yüzyıl Avrupa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0344" y="4824412"/>
            <a:ext cx="2667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78716C"/>
                </a:solidFill>
                <a:latin typeface="Plus Jakarta Sans"/>
              </a:rPr>
              <a:t>TEMEL ODAK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0344" y="5014912"/>
            <a:ext cx="2667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7E5E4"/>
                </a:solidFill>
                <a:latin typeface="Plus Jakarta Sans"/>
              </a:rPr>
              <a:t>Modern Toplumsal Bunalımlar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95537"/>
            <a:ext cx="10972800" cy="762000"/>
          </a:xfrm>
          <a:prstGeom prst="roundRect">
            <a:avLst>
              <a:gd name="adj" fmla="val 5000"/>
            </a:avLst>
          </a:prstGeom>
          <a:solidFill>
            <a:srgbClr val="F2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395537"/>
            <a:ext cx="38100" cy="762000"/>
          </a:xfrm>
          <a:prstGeom prst="rect">
            <a:avLst/>
          </a:prstGeom>
          <a:solidFill>
            <a:srgbClr val="C95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733925"/>
            <a:ext cx="3530649" cy="1666875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30749" y="4733925"/>
            <a:ext cx="3530649" cy="1666875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899" y="4733925"/>
            <a:ext cx="3530649" cy="1666875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624137"/>
            <a:ext cx="276225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4972050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874" y="4972050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024" y="4972050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076825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3649" y="5076825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274" y="5076825"/>
            <a:ext cx="19050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95537"/>
                </a:solidFill>
                <a:latin typeface="Plus Jakarta Sans"/>
              </a:rPr>
              <a:t>KURAMSAL ÇERÇEVE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C1917"/>
                </a:solidFill>
                <a:latin typeface="Playfair Display"/>
              </a:rPr>
              <a:t>Modernite ve Sosyolojinin Zamandaşlığı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3525" y="2647950"/>
            <a:ext cx="106584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292524"/>
                </a:solidFill>
                <a:latin typeface="Plus Jakarta Sans"/>
              </a:rPr>
              <a:t>Sosyoloji ve modernite zamandaştır. Sosyolojiyi anlamak, modern toplumun ortaya çıkış dinamiklerini kavramaktan geçer.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410075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8716C"/>
                </a:solidFill>
                <a:latin typeface="Plus Jakarta Sans"/>
              </a:rPr>
              <a:t>ANTHONY GIDDENS’A GÖRE MODERNITENIN 3 TEMEL BILEŞENI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5467350"/>
            <a:ext cx="40088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C1917"/>
                </a:solidFill>
                <a:latin typeface="Plus Jakarta Sans"/>
              </a:rPr>
              <a:t>Seküler ve Akılcı Yaklaşım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5762625"/>
            <a:ext cx="31496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57534E"/>
                </a:solidFill>
                <a:latin typeface="Plus Jakarta Sans"/>
              </a:rPr>
              <a:t>Dünyaya karşı akla ve empirik bilgiye dayalı bakış açısı.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8874" y="5467350"/>
            <a:ext cx="40088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C1917"/>
                </a:solidFill>
                <a:latin typeface="Plus Jakarta Sans"/>
              </a:rPr>
              <a:t>Siyasal Kurumlar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8874" y="5762625"/>
            <a:ext cx="31496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57534E"/>
                </a:solidFill>
                <a:latin typeface="Plus Jakarta Sans"/>
              </a:rPr>
              <a:t>Ulus-devlet yapısı ve kitle demokrasisi mekanizmaları.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024" y="5467350"/>
            <a:ext cx="39019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C1917"/>
                </a:solidFill>
                <a:latin typeface="Plus Jakarta Sans"/>
              </a:rPr>
              <a:t>Ekonomik Kurumlar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0024" y="5762625"/>
            <a:ext cx="31496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57534E"/>
                </a:solidFill>
                <a:latin typeface="Plus Jakarta Sans"/>
              </a:rPr>
              <a:t>Endüstriyel üretim ve kapitalist pazar ekonomisi bileşimi.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00350"/>
            <a:ext cx="3282999" cy="19431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54574" y="2800350"/>
            <a:ext cx="3282999" cy="19431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99549" y="2800350"/>
            <a:ext cx="3282999" cy="19431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800350"/>
            <a:ext cx="3282999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8200" y="4162425"/>
            <a:ext cx="2825799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54574" y="2800350"/>
            <a:ext cx="3282999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83174" y="4162425"/>
            <a:ext cx="2825799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99549" y="2800350"/>
            <a:ext cx="3282999" cy="38100"/>
          </a:xfrm>
          <a:prstGeom prst="rect">
            <a:avLst/>
          </a:prstGeom>
          <a:solidFill>
            <a:srgbClr val="C95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28149" y="4162425"/>
            <a:ext cx="2825799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" y="3143250"/>
            <a:ext cx="1171575" cy="219075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" y="4162425"/>
            <a:ext cx="2825799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83174" y="3143250"/>
            <a:ext cx="895350" cy="219075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83174" y="4162425"/>
            <a:ext cx="2825799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28149" y="3143250"/>
            <a:ext cx="1057275" cy="219075"/>
          </a:xfrm>
          <a:prstGeom prst="roundRect">
            <a:avLst>
              <a:gd name="adj" fmla="val 50000"/>
            </a:avLst>
          </a:prstGeom>
          <a:solidFill>
            <a:srgbClr val="FB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28149" y="4162425"/>
            <a:ext cx="2825799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199" y="3686175"/>
            <a:ext cx="104775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174" y="3686175"/>
            <a:ext cx="104775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1124" y="3157537"/>
            <a:ext cx="142875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0849" y="3157537"/>
            <a:ext cx="238125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15823" y="3157537"/>
            <a:ext cx="238125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95537"/>
                </a:solidFill>
                <a:latin typeface="Plus Jakarta Sans"/>
              </a:rPr>
              <a:t>TARIHSEL TEMELLER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858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C1917"/>
                </a:solidFill>
                <a:latin typeface="Playfair Display"/>
              </a:rPr>
              <a:t>Moderniteyi Doğuran Üç Büyük Devrim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514725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Plus Jakarta Sans"/>
              </a:rPr>
              <a:t>Aydınlanma Düşüncesi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3848100"/>
            <a:ext cx="35322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4403C"/>
                </a:solidFill>
                <a:latin typeface="Plus Jakarta Sans"/>
              </a:rPr>
              <a:t>Seküler ve akla dayalı yeni dünya görüşü.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3174" y="3514725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Plus Jakarta Sans"/>
              </a:rPr>
              <a:t>Fransız Devrimi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3174" y="3848100"/>
            <a:ext cx="35322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4403C"/>
                </a:solidFill>
                <a:latin typeface="Plus Jakarta Sans"/>
              </a:rPr>
              <a:t>Ulus-devlet, yurttaşlık ve halk egemenliği.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8149" y="3514725"/>
            <a:ext cx="36638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Plus Jakarta Sans"/>
              </a:rPr>
              <a:t>Sanayi Devrimi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8149" y="3848100"/>
            <a:ext cx="35322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4403C"/>
                </a:solidFill>
                <a:latin typeface="Plus Jakarta Sans"/>
              </a:rPr>
              <a:t>Fabrika üretimi, kapitalizm ve kentleşme.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450" y="3181350"/>
            <a:ext cx="10763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47857"/>
                </a:solidFill>
                <a:latin typeface="Plus Jakarta Sans"/>
              </a:rPr>
              <a:t>01. ENTELEKTÜEL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4286250"/>
            <a:ext cx="353224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8716C"/>
                </a:solidFill>
                <a:latin typeface="Plus Jakarta Sans"/>
              </a:rPr>
              <a:t>Sonuç: Bilimsel Yöntem &amp; Pozitivizm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8424" y="3181350"/>
            <a:ext cx="8001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D4ED8"/>
                </a:solidFill>
                <a:latin typeface="Plus Jakarta Sans"/>
              </a:rPr>
              <a:t>02. SİYASAL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3174" y="4286250"/>
            <a:ext cx="353224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8716C"/>
                </a:solidFill>
                <a:latin typeface="Plus Jakarta Sans"/>
              </a:rPr>
              <a:t>Sonuç: Yeni Siyasal Düzen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23399" y="3181350"/>
            <a:ext cx="9620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C95537"/>
                </a:solidFill>
                <a:latin typeface="Plus Jakarta Sans"/>
              </a:rPr>
              <a:t>03. EKONOMİK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8149" y="4286250"/>
            <a:ext cx="353224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8716C"/>
                </a:solidFill>
                <a:latin typeface="Plus Jakarta Sans"/>
              </a:rPr>
              <a:t>Sonuç: Sınıflı Sanayi Toplumu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666750"/>
            <a:ext cx="5257800" cy="5524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429892"/>
            <a:ext cx="17145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144267"/>
            <a:ext cx="17145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677667"/>
            <a:ext cx="171450" cy="17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818382"/>
            <a:ext cx="6572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95537"/>
                </a:solidFill>
                <a:latin typeface="Plus Jakarta Sans"/>
              </a:rPr>
              <a:t>FELSEFI TEMELLER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046982"/>
            <a:ext cx="690086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C1917"/>
                </a:solidFill>
                <a:latin typeface="Playfair Display"/>
              </a:rPr>
              <a:t>Aydınlanma Düşüncesi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94682"/>
            <a:ext cx="53530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4403C"/>
                </a:solidFill>
                <a:latin typeface="Plus Jakarta Sans"/>
              </a:rPr>
              <a:t>18. yüzyıl Fransa'sında beliren Aydınlanma; dinsel dogmatizme ve tutucu geleneklere karşı seküler aklın zaferini savunmuştur.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3410842"/>
            <a:ext cx="64758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C1917"/>
                </a:solidFill>
                <a:latin typeface="Plus Jakarta Sans"/>
              </a:rPr>
              <a:t>Aklın ve Bilimin Meşruiyeti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610867"/>
            <a:ext cx="5029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66666"/>
                </a:solidFill>
                <a:latin typeface="Plus Jakarta Sans"/>
              </a:rPr>
              <a:t>Voltaire, Diderot ve Rousseau'ya göre bilgi edinmede biricik kaynak akıldır.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4125217"/>
            <a:ext cx="561320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C1917"/>
                </a:solidFill>
                <a:latin typeface="Plus Jakarta Sans"/>
              </a:rPr>
              <a:t>Empirik ve Pozitif Yöntem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4325242"/>
            <a:ext cx="53459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66666"/>
                </a:solidFill>
                <a:latin typeface="Plus Jakarta Sans"/>
              </a:rPr>
              <a:t>Deneysel ve gözlemlenebilir pozitif olguların açıklanması esastır.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4658617"/>
            <a:ext cx="633829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C1917"/>
                </a:solidFill>
                <a:latin typeface="Plus Jakarta Sans"/>
              </a:rPr>
              <a:t>Otoriteye Başkaldırı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4858642"/>
            <a:ext cx="60364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66666"/>
                </a:solidFill>
                <a:latin typeface="Plus Jakarta Sans"/>
              </a:rPr>
              <a:t>Meşruiyetini dinden alan Katolik Kilisesi ve mutlak monarşiye karşı duruş.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43000"/>
            <a:ext cx="109728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738562"/>
            <a:ext cx="2072580" cy="1019175"/>
          </a:xfrm>
          <a:prstGeom prst="roundRect">
            <a:avLst>
              <a:gd name="adj" fmla="val 7476"/>
            </a:avLst>
          </a:prstGeom>
          <a:solidFill>
            <a:srgbClr val="F2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34580" y="3738562"/>
            <a:ext cx="2072580" cy="1019175"/>
          </a:xfrm>
          <a:prstGeom prst="roundRect">
            <a:avLst>
              <a:gd name="adj" fmla="val 7476"/>
            </a:avLst>
          </a:prstGeom>
          <a:solidFill>
            <a:srgbClr val="F2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59560" y="3738562"/>
            <a:ext cx="2072580" cy="1019175"/>
          </a:xfrm>
          <a:prstGeom prst="roundRect">
            <a:avLst>
              <a:gd name="adj" fmla="val 7476"/>
            </a:avLst>
          </a:prstGeom>
          <a:solidFill>
            <a:srgbClr val="C95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84541" y="3738562"/>
            <a:ext cx="2072580" cy="1019175"/>
          </a:xfrm>
          <a:prstGeom prst="roundRect">
            <a:avLst>
              <a:gd name="adj" fmla="val 7476"/>
            </a:avLst>
          </a:prstGeom>
          <a:solidFill>
            <a:srgbClr val="F2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09521" y="3738562"/>
            <a:ext cx="2072580" cy="1019175"/>
          </a:xfrm>
          <a:prstGeom prst="roundRect">
            <a:avLst>
              <a:gd name="adj" fmla="val 7476"/>
            </a:avLst>
          </a:prstGeom>
          <a:solidFill>
            <a:srgbClr val="F2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95537"/>
                </a:solidFill>
                <a:latin typeface="Plus Jakarta Sans"/>
              </a:rPr>
              <a:t>BILIMSEL EPISTEMOLOJI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C1917"/>
                </a:solidFill>
                <a:latin typeface="Playfair Display"/>
              </a:rPr>
              <a:t>Doğa Bilimleri ve Sosyal Bilimlerin Doğuşu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1381125"/>
            <a:ext cx="112680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292524"/>
                </a:solidFill>
                <a:latin typeface="Plus Jakarta Sans"/>
              </a:rPr>
              <a:t>"Sosyal bilimlerin değişik disiplinleri, 19. yüzyılda 'gerçeklik' hakkında empirik bulgulara dayalı 'nesnel' bilgi elde edilmesini sağlamak için yaratıldı."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1685925"/>
            <a:ext cx="112680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5537"/>
                </a:solidFill>
                <a:latin typeface="Plus Jakarta Sans"/>
              </a:rPr>
              <a:t>— Immanuel Wallerstein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652" y="3929062"/>
            <a:ext cx="21144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78716C"/>
                </a:solidFill>
                <a:latin typeface="Plus Jakarta Sans"/>
              </a:rPr>
              <a:t>DISIPLIN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790" y="4138612"/>
            <a:ext cx="22201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C1917"/>
                </a:solidFill>
                <a:latin typeface="Plus Jakarta Sans"/>
              </a:rPr>
              <a:t>Siyaset Bilimi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8652" y="4395787"/>
            <a:ext cx="21144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57534E"/>
                </a:solidFill>
                <a:latin typeface="Plus Jakarta Sans"/>
              </a:rPr>
              <a:t>Devlet ve Hükümet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3632" y="3929062"/>
            <a:ext cx="21144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78716C"/>
                </a:solidFill>
                <a:latin typeface="Plus Jakarta Sans"/>
              </a:rPr>
              <a:t>DISIPLIN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0771" y="4138612"/>
            <a:ext cx="22201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C1917"/>
                </a:solidFill>
                <a:latin typeface="Plus Jakarta Sans"/>
              </a:rPr>
              <a:t>Ekonomi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3632" y="4395787"/>
            <a:ext cx="21144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57534E"/>
                </a:solidFill>
                <a:latin typeface="Plus Jakarta Sans"/>
              </a:rPr>
              <a:t>Piyasa Mekanizmaları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8613" y="3929062"/>
            <a:ext cx="21144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BEBE8"/>
                </a:solidFill>
                <a:latin typeface="Plus Jakarta Sans"/>
              </a:rPr>
              <a:t>DISIPLIN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5751" y="4138612"/>
            <a:ext cx="22201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Sosyoloji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8613" y="4395787"/>
            <a:ext cx="21144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BEBE8"/>
                </a:solidFill>
                <a:latin typeface="Plus Jakarta Sans"/>
              </a:rPr>
              <a:t>Toplumsal İlişkiler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3593" y="3929062"/>
            <a:ext cx="21144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78716C"/>
                </a:solidFill>
                <a:latin typeface="Plus Jakarta Sans"/>
              </a:rPr>
              <a:t>DISIPLIN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10731" y="4138612"/>
            <a:ext cx="22201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C1917"/>
                </a:solidFill>
                <a:latin typeface="Plus Jakarta Sans"/>
              </a:rPr>
              <a:t>Tarih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3593" y="4395787"/>
            <a:ext cx="21144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57534E"/>
                </a:solidFill>
                <a:latin typeface="Plus Jakarta Sans"/>
              </a:rPr>
              <a:t>Geçmiş Olgular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8574" y="3929062"/>
            <a:ext cx="21144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78716C"/>
                </a:solidFill>
                <a:latin typeface="Plus Jakarta Sans"/>
              </a:rPr>
              <a:t>DISIPLIN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5712" y="4138612"/>
            <a:ext cx="22201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C1917"/>
                </a:solidFill>
                <a:latin typeface="Plus Jakarta Sans"/>
              </a:rPr>
              <a:t>Antropoloji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8574" y="4395787"/>
            <a:ext cx="21144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57534E"/>
                </a:solidFill>
                <a:latin typeface="Plus Jakarta Sans"/>
              </a:rPr>
              <a:t>Kültür ve Topluluklar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45593"/>
            <a:ext cx="3498800" cy="1852612"/>
          </a:xfrm>
          <a:prstGeom prst="roundRect">
            <a:avLst>
              <a:gd name="adj" fmla="val 5141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7000" y="2845593"/>
            <a:ext cx="3498800" cy="1852612"/>
          </a:xfrm>
          <a:prstGeom prst="roundRect">
            <a:avLst>
              <a:gd name="adj" fmla="val 5141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64400" y="2845593"/>
            <a:ext cx="3517850" cy="1852612"/>
          </a:xfrm>
          <a:prstGeom prst="roundRect">
            <a:avLst>
              <a:gd name="adj" fmla="val 5141"/>
            </a:avLst>
          </a:prstGeom>
          <a:solidFill>
            <a:srgbClr val="FFFCFB"/>
          </a:solidFill>
          <a:ln w="19050">
            <a:solidFill>
              <a:srgbClr val="C95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26581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225" y="3126581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150" y="3136106"/>
            <a:ext cx="2857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95537"/>
                </a:solidFill>
                <a:latin typeface="Plus Jakarta Sans"/>
              </a:rPr>
              <a:t>ALAN PAYLAŞIMI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C1917"/>
                </a:solidFill>
                <a:latin typeface="Playfair Display"/>
              </a:rPr>
              <a:t>Modern Toplumun Üç Ana İnceleme Düzlemi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512343"/>
            <a:ext cx="3682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5537"/>
                </a:solidFill>
                <a:latin typeface="Plus Jakarta Sans"/>
              </a:rPr>
              <a:t>İnceleme Alanı: Devlet Yapısı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759993"/>
            <a:ext cx="3041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57534E"/>
                </a:solidFill>
                <a:latin typeface="Plus Jakarta Sans"/>
              </a:rPr>
              <a:t>Hükümet mekanizmaları, iktidar ilişkileri ve siyasal kurumların işleyişi.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3225" y="3512343"/>
            <a:ext cx="3682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5537"/>
                </a:solidFill>
                <a:latin typeface="Plus Jakarta Sans"/>
              </a:rPr>
              <a:t>İnceleme Alanı: Piyasa Düzeni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3225" y="3759993"/>
            <a:ext cx="3041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57534E"/>
                </a:solidFill>
                <a:latin typeface="Plus Jakarta Sans"/>
              </a:rPr>
              <a:t>Üretim, bölüşüm, tüketim ve serbest piyasa mekanizmaları.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0150" y="3521868"/>
            <a:ext cx="3682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5537"/>
                </a:solidFill>
                <a:latin typeface="Plus Jakarta Sans"/>
              </a:rPr>
              <a:t>İnceleme Alanı: Toplumsal Alan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0150" y="3769518"/>
            <a:ext cx="30416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57534E"/>
                </a:solidFill>
                <a:latin typeface="Plus Jakarta Sans"/>
              </a:rPr>
              <a:t>Devlet ve piyasa dışında kalan alan: Kentleşme, suç, aile, işçi mahalleleri ve demografi.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8725" y="3121818"/>
            <a:ext cx="1600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Plus Jakarta Sans"/>
              </a:rPr>
              <a:t>Siyaset Bilimi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125" y="3121818"/>
            <a:ext cx="115014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Plus Jakarta Sans"/>
              </a:rPr>
              <a:t>Ekonomi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0200" y="3131343"/>
            <a:ext cx="119014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Plus Jakarta Sans"/>
              </a:rPr>
              <a:t>Sosyoloji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34716"/>
            <a:ext cx="5343525" cy="2074366"/>
          </a:xfrm>
          <a:prstGeom prst="roundRect">
            <a:avLst>
              <a:gd name="adj" fmla="val 5510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57925" y="2914650"/>
            <a:ext cx="5324475" cy="1714500"/>
          </a:xfrm>
          <a:prstGeom prst="roundRect">
            <a:avLst>
              <a:gd name="adj" fmla="val 6666"/>
            </a:avLst>
          </a:prstGeom>
          <a:solidFill>
            <a:srgbClr val="F2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3571875"/>
            <a:ext cx="85725" cy="142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3867150"/>
            <a:ext cx="85725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4162425"/>
            <a:ext cx="85725" cy="142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95537"/>
                </a:solidFill>
                <a:latin typeface="Plus Jakarta Sans"/>
              </a:rPr>
              <a:t>KURUCU DÖNEM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C1917"/>
                </a:solidFill>
                <a:latin typeface="Playfair Display"/>
              </a:rPr>
              <a:t>Auguste Comte ve Pozitivist Sosyoloji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39516"/>
            <a:ext cx="4829175" cy="1464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C95537"/>
                </a:solidFill>
                <a:latin typeface="Plus Jakarta Sans"/>
              </a:rPr>
              <a:t>Kavramsal Doğuş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325266"/>
            <a:ext cx="61882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C1917"/>
                </a:solidFill>
                <a:latin typeface="Plus Jakarta Sans"/>
              </a:rPr>
              <a:t>"Toplumsal Fizik"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763416"/>
            <a:ext cx="481012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4403C"/>
                </a:solidFill>
                <a:latin typeface="Plus Jakarta Sans"/>
              </a:rPr>
              <a:t>Comte, sosyoloji terimini icat etmeden önce bu disiplini </a:t>
            </a:r>
            <a:r>
              <a:rPr b="1" sz="1200" i="0" u="none">
                <a:solidFill>
                  <a:srgbClr val="44403C"/>
                </a:solidFill>
                <a:latin typeface="Plus Jakarta Sans"/>
              </a:rPr>
              <a:t>"Toplumsal Fizik"</a:t>
            </a:r>
            <a:r>
              <a:rPr b="0" sz="1200" i="0" u="none">
                <a:solidFill>
                  <a:srgbClr val="44403C"/>
                </a:solidFill>
                <a:latin typeface="Plus Jakarta Sans"/>
              </a:rPr>
              <a:t> olarak adlandırdı. Doğa bilimlerinin kesinliğini toplum araştırmalarına taşımayı hedefledi.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219450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C1917"/>
                </a:solidFill>
                <a:latin typeface="Plus Jakarta Sans"/>
              </a:rPr>
              <a:t>Pozitivist Yöntem İlkeleri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3700" y="3552825"/>
            <a:ext cx="544830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44403C"/>
                </a:solidFill>
                <a:latin typeface="Plus Jakarta Sans"/>
              </a:rPr>
              <a:t>Sadece gözlem ve deneye dayalı bilgi meşrudur.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3700" y="3848100"/>
            <a:ext cx="544830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44403C"/>
                </a:solidFill>
                <a:latin typeface="Plus Jakarta Sans"/>
              </a:rPr>
              <a:t>Spekülatif felsefe yerine pozitif olgular incelenir.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3700" y="4143375"/>
            <a:ext cx="544830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44403C"/>
                </a:solidFill>
                <a:latin typeface="Plus Jakarta Sans"/>
              </a:rPr>
              <a:t>Toplum evrensel kanunlara göre işleyen bir organizmadır.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33700"/>
            <a:ext cx="6336059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50459" y="3017043"/>
            <a:ext cx="4331940" cy="1509712"/>
          </a:xfrm>
          <a:prstGeom prst="roundRect">
            <a:avLst>
              <a:gd name="adj" fmla="val 7570"/>
            </a:avLst>
          </a:prstGeom>
          <a:solidFill>
            <a:srgbClr val="FFF8F6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933700"/>
            <a:ext cx="57150" cy="1676400"/>
          </a:xfrm>
          <a:prstGeom prst="rect">
            <a:avLst/>
          </a:prstGeom>
          <a:solidFill>
            <a:srgbClr val="12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684" y="3298031"/>
            <a:ext cx="238125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95537"/>
                </a:solidFill>
                <a:latin typeface="Plus Jakarta Sans"/>
              </a:rPr>
              <a:t>YÖNTEMSEL TEMELLEŞME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C1917"/>
                </a:solidFill>
                <a:latin typeface="Playfair Display"/>
              </a:rPr>
              <a:t>Émile Durkheim ve Toplumsal Olgular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3238500"/>
            <a:ext cx="70866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24E78"/>
                </a:solidFill>
                <a:latin typeface="Plus Jakarta Sans"/>
              </a:rPr>
              <a:t>SOSYOLOJIK YÖNTEMIN KURALLARI (1895)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3467100"/>
            <a:ext cx="744096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Plus Jakarta Sans"/>
              </a:rPr>
              <a:t>"Toplumsal olgular birer 'şey' olarak ele alınmalıdır."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3848100"/>
            <a:ext cx="57645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4403C"/>
                </a:solidFill>
                <a:latin typeface="Plus Jakarta Sans"/>
              </a:rPr>
              <a:t>Durkheim'a göre toplumsal olgular bireysel bilincin dışındadır, bireylere zorlayıcı bir güç uygular ve nesnel yöntemlerle incelenebilir.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6684" y="3607593"/>
            <a:ext cx="387474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7F1D1D"/>
                </a:solidFill>
                <a:latin typeface="Plus Jakarta Sans"/>
              </a:rPr>
              <a:t>Doğa bilimlerinin tarafsız ve nesnel gözlem yöntemi, insan ilişkileri ve toplumsal olaylar için tam anlamıyla uygulanabilir 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0059" y="3293268"/>
            <a:ext cx="151268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Plus Jakarta Sans"/>
              </a:rPr>
              <a:t>Tartışma Sorusu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3548955"/>
            <a:ext cx="5257800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4530030"/>
            <a:ext cx="5257800" cy="790575"/>
          </a:xfrm>
          <a:prstGeom prst="roundRect">
            <a:avLst>
              <a:gd name="adj" fmla="val 9638"/>
            </a:avLst>
          </a:prstGeom>
          <a:solidFill>
            <a:srgbClr val="F2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66750"/>
            <a:ext cx="5257800" cy="5524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24600" y="1537394"/>
            <a:ext cx="5867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95537"/>
                </a:solidFill>
                <a:latin typeface="Plus Jakarta Sans"/>
              </a:rPr>
              <a:t>SIYASAL DEVRIM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1765994"/>
            <a:ext cx="562070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C1917"/>
                </a:solidFill>
                <a:latin typeface="Playfair Display"/>
              </a:rPr>
              <a:t>Fransız Devrimi ve Modern Siyaset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2870894"/>
            <a:ext cx="53530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4403C"/>
                </a:solidFill>
                <a:latin typeface="Plus Jakarta Sans"/>
              </a:rPr>
              <a:t>Eski Rejim'in (Ancien Régime) çöküşü; monarşiyi, dinin siyasetteki tekelini ve geleneksel zümre düzenini sona erdirmiştir.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3748980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C1917"/>
                </a:solidFill>
                <a:latin typeface="Plus Jakarta Sans"/>
              </a:rPr>
              <a:t>Eski Rejim Zümre Yapısı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4006155"/>
            <a:ext cx="5667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Din Adamları + Soylular </a:t>
            </a:r>
            <a:r>
              <a:rPr b="1" sz="1050" i="0" u="none">
                <a:solidFill>
                  <a:srgbClr val="C95537"/>
                </a:solidFill>
                <a:latin typeface="Plus Jakarta Sans"/>
              </a:rPr>
              <a:t>VS</a:t>
            </a:r>
            <a:r>
              <a:rPr b="0" sz="1050" i="0" u="none">
                <a:solidFill>
                  <a:srgbClr val="666666"/>
                </a:solidFill>
                <a:latin typeface="Plus Jakarta Sans"/>
              </a:rPr>
              <a:t> Halk (3. Zümre / Ulusal Meclis)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4720530"/>
            <a:ext cx="56769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C1917"/>
                </a:solidFill>
                <a:latin typeface="Plus Jakarta Sans"/>
              </a:rPr>
              <a:t>İnsan ve Yurttaş Hakları Bildirgesi (1789)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4958655"/>
            <a:ext cx="56769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4403C"/>
                </a:solidFill>
                <a:latin typeface="Plus Jakarta Sans"/>
              </a:rPr>
              <a:t>"İnsanlar özgür ve eşit doğar, eşit yaşarlar." Slogan: </a:t>
            </a:r>
            <a:r>
              <a:rPr b="0" sz="1050" i="1" u="none">
                <a:solidFill>
                  <a:srgbClr val="44403C"/>
                </a:solidFill>
                <a:latin typeface="Plus Jakarta Sans"/>
              </a:rPr>
              <a:t>Eşitlik, Özgürlük, Kardeşlik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472755"/>
            <a:ext cx="5257800" cy="676275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263330"/>
            <a:ext cx="5257800" cy="676275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472755"/>
            <a:ext cx="38100" cy="676275"/>
          </a:xfrm>
          <a:prstGeom prst="rect">
            <a:avLst/>
          </a:prstGeom>
          <a:solidFill>
            <a:srgbClr val="C95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263330"/>
            <a:ext cx="38100" cy="676275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666750"/>
            <a:ext cx="5257800" cy="5524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1918394"/>
            <a:ext cx="6572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95537"/>
                </a:solidFill>
                <a:latin typeface="Plus Jakarta Sans"/>
              </a:rPr>
              <a:t>EKONOMIK VE SOSYAL DEVRIM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146994"/>
            <a:ext cx="690086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C1917"/>
                </a:solidFill>
                <a:latin typeface="Playfair Display"/>
              </a:rPr>
              <a:t>Sanayi Devrimi ve Kapitalizm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794694"/>
            <a:ext cx="53530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4403C"/>
                </a:solidFill>
                <a:latin typeface="Plus Jakarta Sans"/>
              </a:rPr>
              <a:t>Britanya'da başlayan üretim devrimi; el emeğinden makineleşmeye geçişi sağlarken toplumsal yapıyı kökten dönüştürmüştür.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625155"/>
            <a:ext cx="63507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C1917"/>
                </a:solidFill>
                <a:latin typeface="Plus Jakarta Sans"/>
              </a:rPr>
              <a:t>Üretim Dönüşümü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825180"/>
            <a:ext cx="6048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Buhar gücü, fabrikalaşma ve kırdan kente kitlesel göç.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415730"/>
            <a:ext cx="63507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C1917"/>
                </a:solidFill>
                <a:latin typeface="Plus Jakarta Sans"/>
              </a:rPr>
              <a:t>Sınıfsal Kutuplaşma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615755"/>
            <a:ext cx="6048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Plus Jakarta Sans"/>
              </a:rPr>
              <a:t>Emek gücünü satan </a:t>
            </a:r>
            <a:r>
              <a:rPr b="1" sz="1050" i="0" u="none">
                <a:solidFill>
                  <a:srgbClr val="666666"/>
                </a:solidFill>
                <a:latin typeface="Plus Jakarta Sans"/>
              </a:rPr>
              <a:t>İşçi Sınıfı</a:t>
            </a:r>
            <a:r>
              <a:rPr b="0" sz="1050" i="0" u="none">
                <a:solidFill>
                  <a:srgbClr val="666666"/>
                </a:solidFill>
                <a:latin typeface="Plus Jakarta Sans"/>
              </a:rPr>
              <a:t> vs Sermaye sahibi </a:t>
            </a:r>
            <a:r>
              <a:rPr b="1" sz="1050" i="0" u="none">
                <a:solidFill>
                  <a:srgbClr val="666666"/>
                </a:solidFill>
                <a:latin typeface="Plus Jakarta Sans"/>
              </a:rPr>
              <a:t>Kapitalistler</a:t>
            </a:r>
            <a:r>
              <a:rPr b="0" sz="1050" i="0" u="none">
                <a:solidFill>
                  <a:srgbClr val="666666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895725"/>
            <a:ext cx="10972800" cy="1314450"/>
          </a:xfrm>
          <a:prstGeom prst="roundRect">
            <a:avLst>
              <a:gd name="adj" fmla="val 8695"/>
            </a:avLst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33625"/>
            <a:ext cx="5224462" cy="942975"/>
          </a:xfrm>
          <a:prstGeom prst="roundRect">
            <a:avLst>
              <a:gd name="adj" fmla="val 8080"/>
            </a:avLst>
          </a:prstGeom>
          <a:solidFill>
            <a:srgbClr val="F2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57937" y="2333625"/>
            <a:ext cx="5224462" cy="942975"/>
          </a:xfrm>
          <a:prstGeom prst="roundRect">
            <a:avLst>
              <a:gd name="adj" fmla="val 8080"/>
            </a:avLst>
          </a:prstGeom>
          <a:solidFill>
            <a:srgbClr val="F2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275" y="3467100"/>
            <a:ext cx="17145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95537"/>
                </a:solidFill>
                <a:latin typeface="Plus Jakarta Sans"/>
              </a:rPr>
              <a:t>SENTEZ VE ÖZET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C1917"/>
                </a:solidFill>
                <a:latin typeface="Playfair Display"/>
              </a:rPr>
              <a:t>Sosyolojinin Tarihsel Oluşum Dinamiği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24562" y="2662237"/>
            <a:ext cx="4286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Plus Jakarta Sans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66687" y="4162425"/>
            <a:ext cx="12525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C95537"/>
                </a:solidFill>
                <a:latin typeface="Plus Jakarta Sans"/>
              </a:rPr>
              <a:t>TARIHSEL MISYON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66687" y="4371975"/>
            <a:ext cx="125253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FFFFF"/>
                </a:solidFill>
                <a:latin typeface="Plus Jakarta Sans"/>
              </a:rPr>
              <a:t>Modern Bir Sosyal Bilim Olarak Sosyoloji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500" y="4714875"/>
            <a:ext cx="952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D6D3D1"/>
                </a:solidFill>
                <a:latin typeface="Plus Jakarta Sans"/>
              </a:rPr>
              <a:t>Modern toplumun krizlerine, dönüşümlerine ve yeni kurumlarına bilimsel açıklama ile çözüm getirme çabası.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524125"/>
            <a:ext cx="595907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C95537"/>
                </a:solidFill>
                <a:latin typeface="Plus Jakarta Sans"/>
              </a:rPr>
              <a:t>ENTELEKTÜEL GIRDI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705100"/>
            <a:ext cx="625703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C1917"/>
                </a:solidFill>
                <a:latin typeface="Plus Jakarta Sans"/>
              </a:rPr>
              <a:t>Aydınlanma Aklı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914650"/>
            <a:ext cx="595907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57534E"/>
                </a:solidFill>
                <a:latin typeface="Plus Jakarta Sans"/>
              </a:rPr>
              <a:t>Bilimsel ve seküler analiz araçları sağlar.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6537" y="2524125"/>
            <a:ext cx="56054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C95537"/>
                </a:solidFill>
                <a:latin typeface="Plus Jakarta Sans"/>
              </a:rPr>
              <a:t>MADDI ALTÜST OLUŞ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6537" y="2705100"/>
            <a:ext cx="56054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C1917"/>
                </a:solidFill>
                <a:latin typeface="Plus Jakarta Sans"/>
              </a:rPr>
              <a:t>Çifte Devrim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6537" y="2914650"/>
            <a:ext cx="56054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57534E"/>
                </a:solidFill>
                <a:latin typeface="Plus Jakarta Sans"/>
              </a:rPr>
              <a:t>Fransız + Sanayi Devrimi yeni problemleri doğurur.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10250" y="4528988"/>
            <a:ext cx="571500" cy="19050"/>
          </a:xfrm>
          <a:prstGeom prst="rect">
            <a:avLst/>
          </a:prstGeom>
          <a:solidFill>
            <a:srgbClr val="C95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768822"/>
            <a:ext cx="45720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1892647"/>
            <a:ext cx="266700" cy="209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69023" y="2454622"/>
            <a:ext cx="305395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C95537"/>
                </a:solidFill>
                <a:latin typeface="Plus Jakarta Sans"/>
              </a:rPr>
              <a:t>DEĞERLENDİRME VE TARTIŞMA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375" y="2740372"/>
            <a:ext cx="10001250" cy="156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095"/>
              </a:lnSpc>
            </a:pPr>
            <a:r>
              <a:rPr b="1" sz="3150" i="0" u="none">
                <a:solidFill>
                  <a:srgbClr val="FFFFFF"/>
                </a:solidFill>
                <a:latin typeface="Playfair Display"/>
              </a:rPr>
              <a:t>"Doğa bilimlerinin evrensel yasaları, insan ve toplum hayatını açıklamada ne kadar yeterlidir?"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6718" y="4814738"/>
            <a:ext cx="3738562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A8A29E"/>
                </a:solidFill>
                <a:latin typeface="Plus Jakarta Sans"/>
              </a:rPr>
              <a:t>Sosyoloji ve Modernite | Ders Sunumu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43175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C1917"/>
                </a:solidFill>
                <a:latin typeface="Plus Jakarta Sans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38225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C1917"/>
                </a:solidFill>
                <a:latin typeface="Plus Jakarta Sans"/>
              </a:rPr>
              <a:t>https://res.cloudinary.com/aenetworks/image/upload/c_fill,w_1200,h_630,g_auto/dpr_auto/f_auto/q_auto:eco/v1/enlightenment-gettyimages-73216747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238250"/>
            <a:ext cx="2309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C1917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www.history.com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809750"/>
            <a:ext cx="9048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C1917"/>
                </a:solidFill>
                <a:latin typeface="Plus Jakarta Sans"/>
              </a:rPr>
              <a:t>https://artincontext.org/wp-content/uploads/2022/04/Liberty-Leading-the-People-by-Euge%CC%80ne-Delacroix.jpg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009775"/>
            <a:ext cx="2190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C1917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artincontext.org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581275"/>
            <a:ext cx="7834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C1917"/>
                </a:solidFill>
                <a:latin typeface="Plus Jakarta Sans"/>
              </a:rPr>
              <a:t>https://www.arthistoryproject.com/site/assets/files/17051/industrial-revolution-obelisk-art-history.webp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781300"/>
            <a:ext cx="3226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C1917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www.arthistoryproject.com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