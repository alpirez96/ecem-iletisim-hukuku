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Merriweather"/>
      <ns0:bold ns1:id="rIdFont18"/>
    </ns0:embeddedFon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0de6f6a2-7d07-4799-a88f-63b906a6081e.fntdata" /><ns0:Relationship Id="rIdFont19" Type="http://schemas.openxmlformats.org/officeDocument/2006/relationships/font" Target="fonts/24dfbc52-b7c4-49cf-9bb1-8c5d4721d59b.fntdata" /><ns0:Relationship Id="rIdFont20" Type="http://schemas.openxmlformats.org/officeDocument/2006/relationships/font" Target="fonts/9e51e565-9df0-408f-90df-35379005cfc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27636"/>
            <a:ext cx="609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392263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TARIHSEL DÖNÜŞÜM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78013"/>
            <a:ext cx="11251406" cy="591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Merriweather"/>
              </a:rPr>
              <a:t>Britanya Sanayi Devrimi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498056"/>
            <a:ext cx="6953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Mekanikleşme, buhar gücü, fabrika sistemi ve modern işçi sınıfının doğuşu.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58542"/>
            <a:ext cx="5248275" cy="819150"/>
          </a:xfrm>
          <a:prstGeom prst="roundRect">
            <a:avLst>
              <a:gd name="adj" fmla="val 4651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058542"/>
            <a:ext cx="38100" cy="819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082105"/>
            <a:ext cx="52673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91630"/>
            <a:ext cx="524827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I. GENEL BAKIŞ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Üretim Yapısında Kökten Değişim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06017"/>
            <a:ext cx="688836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Merriweather"/>
              </a:rPr>
              <a:t>Tarım Toplumundan Sanayi Çağına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353692"/>
            <a:ext cx="53435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18. yüzyıl ortalarında Britanya, insan ve hayvan gücüne dayalı üretim modelini terk ederek makineleşmiş kent ekonomisine geçiş yaptı.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49042"/>
            <a:ext cx="49244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3412"/>
                </a:solidFill>
                <a:latin typeface="Plus Jakarta Sans"/>
              </a:rPr>
              <a:t>Sermaye birikimi ve maden zenginliği Britanya'yı küresel sanayinin merkezi kıldı.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6607"/>
            <a:ext cx="3505200" cy="2070496"/>
          </a:xfrm>
          <a:prstGeom prst="roundRect">
            <a:avLst>
              <a:gd name="adj" fmla="val 55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56607"/>
            <a:ext cx="3505200" cy="2070496"/>
          </a:xfrm>
          <a:prstGeom prst="roundRect">
            <a:avLst>
              <a:gd name="adj" fmla="val 55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56607"/>
            <a:ext cx="3505200" cy="2070496"/>
          </a:xfrm>
          <a:prstGeom prst="roundRect">
            <a:avLst>
              <a:gd name="adj" fmla="val 55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7093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7093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7093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30428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262" y="330428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587" y="3304282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II. ÜRETIM TEKNOLOJISI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Tekstil Sanayiinde Mekanikleşme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8053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Çıkrık Devrimi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32957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Spinning Jenny ile iplik üretim kapasitesi 16 kat arttı.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8053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Otomatik Dokuma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32957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Mekanik dokuma tezgahları kumaş maliyetlerini düşürdü.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8053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Kütlesel Ham Madde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32957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Pamuk işlemede günlük rekor hacimlere ulaşıldı.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2105"/>
            <a:ext cx="5419725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44030"/>
            <a:ext cx="5095875" cy="3295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4234755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456813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III. ENERJI KAYNAKLARI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Buhar Gücünün Artan Kullanımı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010792"/>
            <a:ext cx="57054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Merriweather"/>
              </a:rPr>
              <a:t>Watt Buhar Makinesi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477517"/>
            <a:ext cx="5191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James Watt'ın geliştirdiği verimli buhar motoru, üretimi akarsu kenarlarına bağımlı olmaktan kurtardı.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4220467"/>
            <a:ext cx="4060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Maden ocaklarında su tahliyesi sağlandı.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4553842"/>
            <a:ext cx="4191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Kömür kullanımı katlanarak artış gösterdi.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7582"/>
            <a:ext cx="3270200" cy="1708546"/>
          </a:xfrm>
          <a:prstGeom prst="roundRect">
            <a:avLst>
              <a:gd name="adj" fmla="val 6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60825" y="3037582"/>
            <a:ext cx="3270200" cy="1708546"/>
          </a:xfrm>
          <a:prstGeom prst="roundRect">
            <a:avLst>
              <a:gd name="adj" fmla="val 6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12050" y="3037582"/>
            <a:ext cx="3270200" cy="1708546"/>
          </a:xfrm>
          <a:prstGeom prst="roundRect">
            <a:avLst>
              <a:gd name="adj" fmla="val 6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378708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787080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IV. ÇALIŞMA DÜZENI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Fabrika Sisteminin Yükselişi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51907"/>
            <a:ext cx="3301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AŞAMA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99557"/>
            <a:ext cx="346703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Merkezi Üretim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51982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Ev içi atölyeler yerini dev fabrika binalarına bıraktı.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150" y="3351907"/>
            <a:ext cx="3301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AŞAMA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150" y="3599557"/>
            <a:ext cx="346703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Saat Disiplini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150" y="3951982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Vardiyalı çalışma sistemi ve katı iş kuralları uygulandı.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6375" y="3351907"/>
            <a:ext cx="3301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AŞAMA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6375" y="3599557"/>
            <a:ext cx="346703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Uzmanlaşma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6375" y="3951982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İş bölümü ile her işçi tek bir hareketi tekrarladı.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932" y="2082105"/>
            <a:ext cx="5744467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57" y="2091630"/>
            <a:ext cx="5725417" cy="3600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V. DEMOGRAFIK SIÇRAMA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Hızlı ve Düzensiz Şehirleşme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942332"/>
            <a:ext cx="596391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Plus Jakarta Sans"/>
              </a:rPr>
              <a:t>%62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971032"/>
            <a:ext cx="596391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A580C"/>
                </a:solidFill>
                <a:latin typeface="Plus Jakarta Sans"/>
              </a:rPr>
              <a:t>1900 Yılında Kentte Yaşayan Britanya Nüfusu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361557"/>
            <a:ext cx="4866382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Manchester ve Liverpool gibi sanayi merkezleri birkaç on yılda kalabalık metropollere dönüştü.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0305"/>
            <a:ext cx="53340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20305"/>
            <a:ext cx="5334000" cy="1943100"/>
          </a:xfrm>
          <a:prstGeom prst="roundRect">
            <a:avLst>
              <a:gd name="adj" fmla="val 5882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39392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39392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VI. SOSYAL YAPI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İşçi Sınıfının Doğuşu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825" y="3234630"/>
            <a:ext cx="303787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Geleneksel Kırsal Yaşam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63255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• Mevsimlik ve esnek çalışma temposu.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996630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• Kendi ürettiği gıda ile geçim.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30005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• Geniş aile ve topluluk dayanışması.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3234630"/>
            <a:ext cx="256282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3412"/>
                </a:solidFill>
                <a:latin typeface="Merriweather"/>
              </a:rPr>
              <a:t>Kentsel Sanayi İşçisi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66325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C2D12"/>
                </a:solidFill>
                <a:latin typeface="Plus Jakarta Sans"/>
              </a:rPr>
              <a:t>• Haftalık ücret bağımlılığı.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99663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C2D12"/>
                </a:solidFill>
                <a:latin typeface="Plus Jakarta Sans"/>
              </a:rPr>
              <a:t>• Günde 12-16 saatlik ağır mesai.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33000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C2D12"/>
                </a:solidFill>
                <a:latin typeface="Plus Jakarta Sans"/>
              </a:rPr>
              <a:t>• Kadın ve çocuk işçi istihdamı.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2782"/>
            <a:ext cx="3505200" cy="2318146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32782"/>
            <a:ext cx="3505200" cy="2318146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32782"/>
            <a:ext cx="3505200" cy="2318146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7" y="3123307"/>
            <a:ext cx="3905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23307"/>
            <a:ext cx="3048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123307"/>
            <a:ext cx="3048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VII. LOJISTIK AĞLAR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Kömür, Kanal ve Demiryolu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51" y="3618607"/>
            <a:ext cx="3975496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Kanal Ağı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106" y="4180582"/>
            <a:ext cx="378618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Ağır maden taşımacılığında ucuz lojistik sağlandı.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8251" y="3618607"/>
            <a:ext cx="3975496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Demiryolu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2906" y="4180582"/>
            <a:ext cx="378618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Buharlı lokomotifler pazarları birbirine bağladı.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2051" y="3618607"/>
            <a:ext cx="3975496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Kömür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706" y="4180582"/>
            <a:ext cx="378618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Bütün ağır sanayinin temel yakıtı haline geldi.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5619"/>
            <a:ext cx="5391150" cy="1220985"/>
          </a:xfrm>
          <a:prstGeom prst="roundRect">
            <a:avLst>
              <a:gd name="adj" fmla="val 93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575619"/>
            <a:ext cx="5391150" cy="1220985"/>
          </a:xfrm>
          <a:prstGeom prst="roundRect">
            <a:avLst>
              <a:gd name="adj" fmla="val 93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87105"/>
            <a:ext cx="5391150" cy="1220985"/>
          </a:xfrm>
          <a:prstGeom prst="roundRect">
            <a:avLst>
              <a:gd name="adj" fmla="val 93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87105"/>
            <a:ext cx="5391150" cy="1220985"/>
          </a:xfrm>
          <a:prstGeom prst="roundRect">
            <a:avLst>
              <a:gd name="adj" fmla="val 93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VIII. SOSYAL ETKILER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Şehir Hayatı ve Zorluklar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889944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Sağlık KOşulları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242369"/>
            <a:ext cx="5953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Altyapısız kentlerde kolera salgınları yayıldı.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2889944"/>
            <a:ext cx="56864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Dar Konutlar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242369"/>
            <a:ext cx="56864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İşçi aileleri sıkışık odalarda barındı.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301430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Sendikalaşma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653855"/>
            <a:ext cx="5953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İlk işçi örgütleri hak arayışına başladı.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4301430"/>
            <a:ext cx="56864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Merriweather"/>
              </a:rPr>
              <a:t>Yasal Reformlar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4653855"/>
            <a:ext cx="56864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Çalışma saatlerine kademeli sınırlar getirildi.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399508"/>
            <a:ext cx="4572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3500" y="2429767"/>
            <a:ext cx="952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Plus Jakarta Sans"/>
              </a:rPr>
              <a:t>ÖZET VE MIRAS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791717"/>
            <a:ext cx="1000125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Merriweather"/>
              </a:rPr>
              <a:t>Modern Dünyanın Temeli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523208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Britanya Sanayi Devrimi; üretim teknolojilerini, yerleşim biçimlerini ve sosyal sınıfları yeniden tanımlayarak çağdaş toplumun mimarı oldu.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1100" y="1744860"/>
            <a:ext cx="98298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1100" y="2592585"/>
            <a:ext cx="98298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1100" y="258306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1100" y="258306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1100" y="343078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1100" y="343078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92583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77356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358318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1100" y="1104900"/>
            <a:ext cx="3237904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Merriweath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475" y="1887735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https://images.imagerenderer.com/images/artworkimages/mediumlarge/2/industrial-revolution-chimney-rejecting-smoke-from-the-sugar-factory-in-sheffield-england-19th-century-colour-engraving-of-the-19th-century-american-school.jpg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6475" y="2240160"/>
            <a:ext cx="3214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bridgemanondemand.com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475" y="2735460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https://www.meisterdrucke.ie/kunstwerke/1260px/Unknown_Artist_-_Watt_steam_machine_Schema_19th_century_engraving_-_%28MeisterDrucke-971509%29.jpg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475" y="3087885"/>
            <a:ext cx="278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www.meisterdrucke.ie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475" y="3621285"/>
            <a:ext cx="7727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https://engelsbergideas.com/wp-content/uploads/2022/11/Manchester-street-nineteenth-century.jpg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475" y="3821310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engelsbergideas.com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