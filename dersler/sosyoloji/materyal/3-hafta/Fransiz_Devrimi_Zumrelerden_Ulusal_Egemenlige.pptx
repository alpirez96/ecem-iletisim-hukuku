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  <ns0:embeddedFont>
      <ns0:font typeface="Cinzel"/>
      <ns0:italic ns1:id="rIdFont23"/>
      <ns0:bold ns1:id="rIdFont24"/>
      <ns0:regular ns1:id="rIdFont2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e9ee82f1-96b7-4791-8aa0-64e4fe676544.fntdata" /><ns0:Relationship Id="rIdFont22" Type="http://schemas.openxmlformats.org/officeDocument/2006/relationships/font" Target="fonts/668e9a52-8c99-4c21-a7d6-c3ca441f8001.fntdata" /><ns0:Relationship Id="rIdFont23" Type="http://schemas.openxmlformats.org/officeDocument/2006/relationships/font" Target="fonts/eb95fe27-6a24-403b-8928-3c356babbcd0.fntdata" /><ns0:Relationship Id="rIdFont24" Type="http://schemas.openxmlformats.org/officeDocument/2006/relationships/font" Target="fonts/34ccf42a-0ce1-4b46-8889-4e67c91f873e.fntdata" /><ns0:Relationship Id="rIdFont25" Type="http://schemas.openxmlformats.org/officeDocument/2006/relationships/font" Target="fonts/81cde2a4-fa8e-46e7-9a25-97929d8a547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85233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815554"/>
            <a:ext cx="342900" cy="19050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85233"/>
            <a:ext cx="10668000" cy="9525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29025" y="4723358"/>
            <a:ext cx="234315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29025" y="4723358"/>
            <a:ext cx="9525" cy="409575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153691"/>
            <a:ext cx="9701212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AF8F5"/>
                </a:solidFill>
                <a:latin typeface="Cinzel"/>
              </a:rPr>
              <a:t>ZÜMRELERDEN ULUSAL EGEMENLİĞE: FRANSIZ DEVRİMİ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32733"/>
            <a:ext cx="7905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2BD85"/>
                </a:solidFill>
                <a:latin typeface="Plus Jakarta Sans"/>
              </a:rPr>
              <a:t>Toplumsal tabakalaşma, siyasal temsil ve meşruiyet kaynaklarının Ancien Régime düzeninden modern cumhuriyete evrimi.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1725066"/>
            <a:ext cx="3964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59B27"/>
                </a:solidFill>
                <a:latin typeface="Plus Jakarta Sans"/>
              </a:rPr>
              <a:t>TARIHSEL VE SIYASAL DÖNÜŞÜM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23358"/>
            <a:ext cx="3202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8A29E"/>
                </a:solidFill>
                <a:latin typeface="Plus Jakarta Sans"/>
              </a:rPr>
              <a:t>ODAK NOKTASI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32908"/>
            <a:ext cx="3202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AF8F5"/>
                </a:solidFill>
                <a:latin typeface="Plus Jakarta Sans"/>
              </a:rPr>
              <a:t>Temsil Krizinden Halk Egemenliğine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3350" y="4723358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A8A29E"/>
                </a:solidFill>
                <a:latin typeface="Plus Jakarta Sans"/>
              </a:rPr>
              <a:t>DÖNEM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3350" y="4932908"/>
            <a:ext cx="25360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AF8F5"/>
                </a:solidFill>
                <a:latin typeface="Plus Jakarta Sans"/>
              </a:rPr>
              <a:t>1789 – 1792 Dönüşüm Süreci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3687"/>
            <a:ext cx="5062537" cy="2162175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9862" y="2833687"/>
            <a:ext cx="5062537" cy="2162175"/>
          </a:xfrm>
          <a:prstGeom prst="roundRect">
            <a:avLst>
              <a:gd name="adj" fmla="val 3524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48012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37" y="3781425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187" y="314801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987" y="3281362"/>
            <a:ext cx="2190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3725" y="3281362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GIRIŞ VE TEORIK ÇERÇEVE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Devrimin Temel Dinamiği: Temsil Krizi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95712"/>
            <a:ext cx="581947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Cinzel"/>
              </a:rPr>
              <a:t>Eski Düzen (Ancien Régime)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67187"/>
            <a:ext cx="45291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5504A"/>
                </a:solidFill>
                <a:latin typeface="Plus Jakarta Sans"/>
              </a:rPr>
              <a:t>Geleneksel zümreler ve ayrıcalıklara dayalı meşruiyet. Siyasal otorite kral ve statü sahibi sınıfların elindedir.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4187" y="3795712"/>
            <a:ext cx="5357812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Cinzel"/>
              </a:rPr>
              <a:t>Yeni Siyasal Meşruiyet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4187" y="4167187"/>
            <a:ext cx="452913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5504A"/>
                </a:solidFill>
                <a:latin typeface="Plus Jakarta Sans"/>
              </a:rPr>
              <a:t>Ulus, eşit yurttaşlık ve halk egemenliğine dayalı modern siyasal meşruiyet kaynaklarının doğuşu.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24175"/>
            <a:ext cx="35052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24175"/>
            <a:ext cx="35052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24175"/>
            <a:ext cx="3505200" cy="1905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24175"/>
            <a:ext cx="3505200" cy="38100"/>
          </a:xfrm>
          <a:prstGeom prst="rect">
            <a:avLst/>
          </a:prstGeom>
          <a:solidFill>
            <a:srgbClr val="8B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24175"/>
            <a:ext cx="3505200" cy="38100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24175"/>
            <a:ext cx="3505200" cy="38100"/>
          </a:xfrm>
          <a:prstGeom prst="rect">
            <a:avLst/>
          </a:prstGeom>
          <a:solidFill>
            <a:srgbClr val="2D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1. BÖLÜM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Ancien Régime: Toplumun Zümrelere Ayrılması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2289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261D"/>
                </a:solidFill>
                <a:latin typeface="Plus Jakarta Sans"/>
              </a:rPr>
              <a:t>BIRINCI ZÜMRE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76625"/>
            <a:ext cx="39004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816"/>
                </a:solidFill>
                <a:latin typeface="Cinzel"/>
              </a:rPr>
              <a:t>Ruhban Sınıfı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86715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04A"/>
                </a:solidFill>
                <a:latin typeface="Plus Jakarta Sans"/>
              </a:rPr>
              <a:t>Katolik Kilisesi ve din adamları.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77067"/>
                </a:solidFill>
                <a:latin typeface="Plus Jakarta Sans"/>
              </a:rPr>
              <a:t>Geniş ekonomik, mali ve hukuki ayrıcalıklar.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2289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İKINCI ZÜMRE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476625"/>
            <a:ext cx="39004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816"/>
                </a:solidFill>
                <a:latin typeface="Cinzel"/>
              </a:rPr>
              <a:t>Soylular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0100" y="386715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04A"/>
                </a:solidFill>
                <a:latin typeface="Plus Jakarta Sans"/>
              </a:rPr>
              <a:t>Saray ve taşra aristokrasisi.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77067"/>
                </a:solidFill>
                <a:latin typeface="Plus Jakarta Sans"/>
              </a:rPr>
              <a:t>Feodal haklar ve kamu makamlarına ayrıcalıklı erişim.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228975"/>
            <a:ext cx="3714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D2A26"/>
                </a:solidFill>
                <a:latin typeface="Plus Jakarta Sans"/>
              </a:rPr>
              <a:t>ÜÇÜNCÜ ZÜMRE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476625"/>
            <a:ext cx="38481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816"/>
                </a:solidFill>
                <a:latin typeface="Cinzel"/>
              </a:rPr>
              <a:t>Halk ve Burjuvazi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867150"/>
            <a:ext cx="3714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55504A"/>
                </a:solidFill>
                <a:latin typeface="Plus Jakarta Sans"/>
              </a:rPr>
              <a:t>Nüfusun %98'ini oluşturan çoğunluk.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900" y="4162425"/>
            <a:ext cx="3067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777067"/>
                </a:solidFill>
                <a:latin typeface="Plus Jakarta Sans"/>
              </a:rPr>
              <a:t>Köylüler, zanaatkârlar, tüccarlar ve profesyoneller.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00287"/>
            <a:ext cx="5324475" cy="1057275"/>
          </a:xfrm>
          <a:prstGeom prst="roundRect">
            <a:avLst>
              <a:gd name="adj" fmla="val 36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548062"/>
            <a:ext cx="5324475" cy="8572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95812"/>
            <a:ext cx="5324475" cy="8572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00287"/>
            <a:ext cx="38100" cy="1057275"/>
          </a:xfrm>
          <a:prstGeom prst="rect">
            <a:avLst/>
          </a:prstGeom>
          <a:solidFill>
            <a:srgbClr val="8B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48062"/>
            <a:ext cx="38100" cy="857250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595812"/>
            <a:ext cx="38100" cy="857250"/>
          </a:xfrm>
          <a:prstGeom prst="rect">
            <a:avLst/>
          </a:prstGeom>
          <a:solidFill>
            <a:srgbClr val="2D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66925"/>
            <a:ext cx="5343525" cy="3619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76450"/>
            <a:ext cx="5324475" cy="3600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2. BÖLÜM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États-Généraux: Geleneksel Temsil Yapısı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490787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1614'ten Sonra İlk Toplantı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2767012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Ağır mali kriz nedeniyle XVI. Louis meclisi 5 Mayıs 1789'da Versailles'da topladı.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738562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Ancien Régime Temsil Mantığı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014787"/>
            <a:ext cx="603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Zümreler → Zümre Temsilcileri → Kral ile Müzakere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786312"/>
            <a:ext cx="633829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Temel Sorunun Doğuşu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5062537"/>
            <a:ext cx="60364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Fransa'yı siyasal olarak tam olarak kim temsil ediyor?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53340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52750"/>
            <a:ext cx="5334000" cy="188595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C59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248025"/>
            <a:ext cx="1571625" cy="247650"/>
          </a:xfrm>
          <a:prstGeom prst="roundRect">
            <a:avLst>
              <a:gd name="adj" fmla="val 46153"/>
            </a:avLst>
          </a:prstGeom>
          <a:solidFill>
            <a:srgbClr val="F3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3248025"/>
            <a:ext cx="1762125" cy="247650"/>
          </a:xfrm>
          <a:prstGeom prst="roundRect">
            <a:avLst>
              <a:gd name="adj" fmla="val 46153"/>
            </a:avLst>
          </a:prstGeom>
          <a:solidFill>
            <a:srgbClr val="F6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3. BÖLÜM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"Bir Zümre, Bir Oy" Çatışması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225" y="3286125"/>
            <a:ext cx="14382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261D"/>
                </a:solidFill>
                <a:latin typeface="Plus Jakarta Sans"/>
              </a:rPr>
              <a:t>GELENEKSEL SİSTEM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19500"/>
            <a:ext cx="61757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816"/>
                </a:solidFill>
                <a:latin typeface="Cinzel"/>
              </a:rPr>
              <a:t>Zümre Başına Bir 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10025"/>
            <a:ext cx="4800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5504A"/>
                </a:solidFill>
                <a:latin typeface="Plus Jakarta Sans"/>
              </a:rPr>
              <a:t>Ayrıcalıklı iki zümre (Ruhban + Soylular) ittifak yaparak halkı 2'ye 1 mağlup ediyordu.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286125"/>
            <a:ext cx="16287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6B10"/>
                </a:solidFill>
                <a:latin typeface="Plus Jakarta Sans"/>
              </a:rPr>
              <a:t>ÜÇÜNCÜ ZÜMRE TALEBİ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61950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A1816"/>
                </a:solidFill>
                <a:latin typeface="Cinzel"/>
              </a:rPr>
              <a:t>Kişi Başına Bir 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4010025"/>
            <a:ext cx="48006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5504A"/>
                </a:solidFill>
                <a:latin typeface="Plus Jakarta Sans"/>
              </a:rPr>
              <a:t>Bireysel temsil esası. Kararların kurumsal statülerle değil temsilci sayılarıyla alınması.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54634"/>
            <a:ext cx="10972800" cy="1510605"/>
          </a:xfrm>
          <a:prstGeom prst="roundRect">
            <a:avLst>
              <a:gd name="adj" fmla="val 50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54634"/>
            <a:ext cx="57150" cy="1510605"/>
          </a:xfrm>
          <a:prstGeom prst="rect">
            <a:avLst/>
          </a:prstGeom>
          <a:solidFill>
            <a:srgbClr val="8B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331940"/>
            <a:ext cx="5372100" cy="866775"/>
          </a:xfrm>
          <a:prstGeom prst="roundRect">
            <a:avLst>
              <a:gd name="adj" fmla="val 6593"/>
            </a:avLst>
          </a:prstGeom>
          <a:solidFill>
            <a:srgbClr val="E5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331940"/>
            <a:ext cx="5372100" cy="866775"/>
          </a:xfrm>
          <a:prstGeom prst="roundRect">
            <a:avLst>
              <a:gd name="adj" fmla="val 6593"/>
            </a:avLst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4. BÖLÜM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Abbé Sieyès ve Zümreden Ulusa Geçiş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2859434"/>
            <a:ext cx="104013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1" u="none">
                <a:solidFill>
                  <a:srgbClr val="1A1816"/>
                </a:solidFill>
                <a:latin typeface="Cinzel"/>
              </a:rPr>
              <a:t>"Üçüncü Zümre Nedir? Her şey. Şimdiye kadar siyasal düzende ne oldu? Hiçbir şey. Ne olmak istiyor? Bir şey."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560415"/>
            <a:ext cx="112204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261D"/>
                </a:solidFill>
                <a:latin typeface="Plus Jakarta Sans"/>
              </a:rPr>
              <a:t>— Abbé Emmanuel-Joseph Sieyès (1789)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522440"/>
            <a:ext cx="64508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B261D"/>
                </a:solidFill>
                <a:latin typeface="Plus Jakarta Sans"/>
              </a:rPr>
              <a:t>ESKI SIYASAL MANTIK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779615"/>
            <a:ext cx="6143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Zümre → Temsil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4522440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YENI SIYASAL MANTIK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900" y="4779615"/>
            <a:ext cx="57531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Plus Jakarta Sans"/>
              </a:rPr>
              <a:t>Ulus → Temsil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5000625" cy="1866900"/>
          </a:xfrm>
          <a:prstGeom prst="roundRect">
            <a:avLst>
              <a:gd name="adj" fmla="val 4081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62725" y="2947987"/>
            <a:ext cx="5019675" cy="1895475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9050">
            <a:solidFill>
              <a:srgbClr val="C59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025" y="3724275"/>
            <a:ext cx="3429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5. BÖLÜM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17 Haziran 1789: Ulusal Meclis'in İlanı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276600"/>
            <a:ext cx="573821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8B261D"/>
                </a:solidFill>
                <a:latin typeface="Cinzel"/>
              </a:rPr>
              <a:t>Eski Egemenlik Yapısı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05225"/>
            <a:ext cx="54649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Plus Jakarta Sans"/>
              </a:rPr>
              <a:t>Kral + Zümreler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57650"/>
            <a:ext cx="4467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5504A"/>
                </a:solidFill>
                <a:latin typeface="Plus Jakarta Sans"/>
              </a:rPr>
              <a:t>Geleneksel meşruiyete dayalı, parçalı ve kralın mutlak iradesine bağlı siyasal otorite.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6575" y="3271837"/>
            <a:ext cx="53054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Cinzel"/>
              </a:rPr>
              <a:t>Yeni Egemenlik İlkesi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3700462"/>
            <a:ext cx="53054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Plus Jakarta Sans"/>
              </a:rPr>
              <a:t>Ulus → Temsilciler → Siyasal Otorite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4062412"/>
            <a:ext cx="44672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55504A"/>
                </a:solidFill>
                <a:latin typeface="Plus Jakarta Sans"/>
              </a:rPr>
              <a:t>Üçüncü Zümre artık tüm Fransız Ulusunu temsil ettiğini ilan ederek egemenliği üstlenir.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57925" y="2647950"/>
            <a:ext cx="5324475" cy="113347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971925"/>
            <a:ext cx="5324475" cy="1133475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57925" y="2647950"/>
            <a:ext cx="38100" cy="1133475"/>
          </a:xfrm>
          <a:prstGeom prst="rect">
            <a:avLst/>
          </a:prstGeom>
          <a:solidFill>
            <a:srgbClr val="8B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57925" y="3971925"/>
            <a:ext cx="38100" cy="1133475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6925"/>
            <a:ext cx="534352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76450"/>
            <a:ext cx="5324475" cy="3600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6. BÖLÜM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Tennis Court Oath (Jeu de Paume Yemini)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876550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20 Haziran 1789 Yemini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152775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Kralın engellemesine karşı tenis kortunda toplanan temsilciler anayasa yapılana kadar dağılmama kararı aldı.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4200525"/>
            <a:ext cx="5667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Kurucu İrade (9 Temmuz 1789)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476750"/>
            <a:ext cx="49244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Meclis kendisini "Ulusal Kurucu Meclis" (National Constituent Assembly) olarak ilan etti.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6525"/>
            <a:ext cx="532447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81475"/>
            <a:ext cx="5324475" cy="895350"/>
          </a:xfrm>
          <a:prstGeom prst="roundRect">
            <a:avLst>
              <a:gd name="adj" fmla="val 63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676525"/>
            <a:ext cx="38100" cy="895350"/>
          </a:xfrm>
          <a:prstGeom prst="rect">
            <a:avLst/>
          </a:prstGeom>
          <a:solidFill>
            <a:srgbClr val="8B2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181475"/>
            <a:ext cx="38100" cy="895350"/>
          </a:xfrm>
          <a:prstGeom prst="rect">
            <a:avLst/>
          </a:prstGeom>
          <a:solidFill>
            <a:srgbClr val="C59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5" y="2066925"/>
            <a:ext cx="5343525" cy="3619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76450"/>
            <a:ext cx="5324475" cy="3600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62" y="3762375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7. BÖLÜM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Bastille ve Devrimin Toplumsallaşması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905125"/>
            <a:ext cx="6036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261D"/>
                </a:solidFill>
                <a:latin typeface="Plus Jakarta Sans"/>
              </a:rPr>
              <a:t>VERSAILLES ODAĞI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11467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Temsil → Ulusal Egemenlik → Anayasa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410075"/>
            <a:ext cx="603646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PARIS VE TAŞRA ODAĞI (14 TEMMUZ 1789)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619625"/>
            <a:ext cx="6036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Halk Mobilizasyonu → Siyasal Baskı → Devrim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57925" y="2809875"/>
            <a:ext cx="5324475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3971925"/>
            <a:ext cx="5324475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59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66925"/>
            <a:ext cx="53435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076450"/>
            <a:ext cx="532447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8. BÖLÜM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Yurttaşlığın Doğuşu ve Haklar Bildirgesi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0" y="3048000"/>
            <a:ext cx="5695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B261D"/>
                </a:solidFill>
                <a:latin typeface="Plus Jakarta Sans"/>
              </a:rPr>
              <a:t>Eski Düzen Statüsü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3343275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Zümre üyeliğine dayalı eşitsiz hukuki statüler.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6050" y="4210050"/>
            <a:ext cx="56959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Yeni Siyasal Statü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4505325"/>
            <a:ext cx="56959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Genel ve evrensel ilkelere dayalı eşit yurttaşlık.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63329"/>
            <a:ext cx="5186362" cy="1664791"/>
          </a:xfrm>
          <a:prstGeom prst="roundRect">
            <a:avLst>
              <a:gd name="adj" fmla="val 4577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96037" y="3169890"/>
            <a:ext cx="5186362" cy="1451520"/>
          </a:xfrm>
          <a:prstGeom prst="roundRect">
            <a:avLst>
              <a:gd name="adj" fmla="val 5249"/>
            </a:avLst>
          </a:prstGeom>
          <a:solidFill>
            <a:srgbClr val="FFFFFF"/>
          </a:solidFill>
          <a:ln w="9525">
            <a:solidFill>
              <a:srgbClr val="8B2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320504"/>
            <a:ext cx="457200" cy="247650"/>
          </a:xfrm>
          <a:prstGeom prst="roundRect">
            <a:avLst>
              <a:gd name="adj" fmla="val 15384"/>
            </a:avLst>
          </a:prstGeom>
          <a:solidFill>
            <a:srgbClr val="E5E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2262" y="3427065"/>
            <a:ext cx="1323975" cy="247650"/>
          </a:xfrm>
          <a:prstGeom prst="roundRect">
            <a:avLst>
              <a:gd name="adj" fmla="val 15384"/>
            </a:avLst>
          </a:prstGeom>
          <a:solidFill>
            <a:srgbClr val="F3E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562" y="3781425"/>
            <a:ext cx="142875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9. VE 10. BÖLÜM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Anayasal Monarşiden Monarşinin Çöküşüne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358604"/>
            <a:ext cx="3619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1816"/>
                </a:solidFill>
                <a:latin typeface="Plus Jakarta Sans"/>
              </a:rPr>
              <a:t>1791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691979"/>
            <a:ext cx="608201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Cinzel"/>
              </a:rPr>
              <a:t>Anayasal Monarşi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25354"/>
            <a:ext cx="4729162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5504A"/>
                </a:solidFill>
                <a:latin typeface="Plus Jakarta Sans"/>
              </a:rPr>
              <a:t>Sınırlı kral yetkileri ve seçilmiş Yasama Meclisi (Legislative Assembly).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7512" y="3465165"/>
            <a:ext cx="12287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261D"/>
                </a:solidFill>
                <a:latin typeface="Plus Jakarta Sans"/>
              </a:rPr>
              <a:t>10 AĞUSTOS 1792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2262" y="3798540"/>
            <a:ext cx="5519737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A1816"/>
                </a:solidFill>
                <a:latin typeface="Cinzel"/>
              </a:rPr>
              <a:t>Tuileries Baskını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2262" y="4131915"/>
            <a:ext cx="5519737" cy="2132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55504A"/>
                </a:solidFill>
                <a:latin typeface="Plus Jakarta Sans"/>
              </a:rPr>
              <a:t>Savaş ve güvensizlik sonucu monarşinin fiilen askıya alınması.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8025"/>
            <a:ext cx="34988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7000" y="3248025"/>
            <a:ext cx="3498800" cy="1295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3138487"/>
            <a:ext cx="3517850" cy="1514475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8B26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8B261D"/>
                </a:solidFill>
                <a:latin typeface="Plus Jakarta Sans"/>
              </a:rPr>
              <a:t>11. BÖLÜM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14375"/>
            <a:ext cx="115824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A1816"/>
                </a:solidFill>
                <a:latin typeface="Cinzel"/>
              </a:rPr>
              <a:t>Ulusal Konvansiyon ve Cumhuriyet (1792)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24250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77067"/>
                </a:solidFill>
                <a:latin typeface="Plus Jakarta Sans"/>
              </a:rPr>
              <a:t>AŞAMA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71900"/>
            <a:ext cx="38670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Estates-General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67175"/>
            <a:ext cx="3682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Üç zümre esaslı parçalı temsil.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524250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77067"/>
                </a:solidFill>
                <a:latin typeface="Plus Jakarta Sans"/>
              </a:rPr>
              <a:t>AŞAMA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771900"/>
            <a:ext cx="38670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A1816"/>
                </a:solidFill>
                <a:latin typeface="Plus Jakarta Sans"/>
              </a:rPr>
              <a:t>National 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3225" y="4067175"/>
            <a:ext cx="3682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55504A"/>
                </a:solidFill>
                <a:latin typeface="Plus Jakarta Sans"/>
              </a:rPr>
              <a:t>"Ulusu biz temsil ediyoruz" iddiası.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0150" y="3424237"/>
            <a:ext cx="368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261D"/>
                </a:solidFill>
                <a:latin typeface="Plus Jakarta Sans"/>
              </a:rPr>
              <a:t>21 EYLÜL 1792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0150" y="3671887"/>
            <a:ext cx="384184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B261D"/>
                </a:solidFill>
                <a:latin typeface="Plus Jakarta Sans"/>
              </a:rPr>
              <a:t>National Convention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150" y="3967162"/>
            <a:ext cx="3041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A1816"/>
                </a:solidFill>
                <a:latin typeface="Plus Jakarta Sans"/>
              </a:rPr>
              <a:t>Monarşinin kaldırılması ve Cumhuriyet ilanı.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911822"/>
            <a:ext cx="10668000" cy="1238250"/>
          </a:xfrm>
          <a:prstGeom prst="roundRect">
            <a:avLst>
              <a:gd name="adj" fmla="val 6153"/>
            </a:avLst>
          </a:prstGeom>
          <a:solidFill>
            <a:srgbClr val="252422"/>
          </a:solidFill>
          <a:ln w="9525">
            <a:solidFill>
              <a:srgbClr val="4D3F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854547"/>
            <a:ext cx="11430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59B27"/>
                </a:solidFill>
                <a:latin typeface="Plus Jakarta Sans"/>
              </a:rPr>
              <a:t>12. BÖLÜM VE 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49822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AF8F5"/>
                </a:solidFill>
                <a:latin typeface="Cinzel"/>
              </a:rPr>
              <a:t>Tarihsel ve Sosyolojik Dönüşümün Özeti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54872"/>
            <a:ext cx="92392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A8A29E"/>
                </a:solidFill>
                <a:latin typeface="Plus Jakarta Sans"/>
              </a:rPr>
              <a:t>Fransız Devrimi, doğuştan gelen ayrıcalıklara dayalı hukuki eşitsizliğin nasıl bir temsil krizine yol açtığını ve siyasal meşruiyetin kaynağını ulusal egemenliğe nasıl dönüştürdüğünü gösteren temel tarihsel örnektir.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" y="3226147"/>
            <a:ext cx="101346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FAF8F5"/>
                </a:solidFill>
                <a:latin typeface="Cinzel"/>
              </a:rPr>
              <a:t>Zümresel Toplum → Temsil Krizi → Ulusal Meclis → Yurttaşlık → Ulusal Egemenlik → Cumhuriyet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52800"/>
            <a:ext cx="857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https://www.meisterdrucke.uk/kunstwerke/1000px/Auguste_Couder_-_Opening_of_the_Estates-General_in_Versailles_5_May_1789_-_(MeisterDrucke-762813).jpg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1238250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www.meisterdrucke.uk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6875" y="1809750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https://render.fineartamerica.com/images/rendered/default/print/8/5.5/break/images/artworkimages/medium/1/the-tennis-court-oath-jacques-louis-david.jpg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6875" y="2009775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fineartamerica.com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2581275"/>
            <a:ext cx="4583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https://www.worldhistory.org/img/c/p/1600x900/15733.jpg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6875" y="2781300"/>
            <a:ext cx="2714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www.worldhistory.org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6875" y="33147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https://render.fineartamerica.com/images/rendered/default/print/6.5/8/break/images/artworkimages/medium/3/declaration-of-the-rights-of-man-and-of-the-citizen-jean-jacques-francois-le-barbier.jpg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3667125"/>
            <a:ext cx="2512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fineartamerica.com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