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  <ns0:embeddedFont>
      <ns0:font typeface="Cinzel"/>
      <ns0:italic ns1:id="rIdFont20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7c9ba3d2-f269-4509-a075-9c2cfbdb09da.fntdata" /><ns0:Relationship Id="rIdFont19" Type="http://schemas.openxmlformats.org/officeDocument/2006/relationships/font" Target="fonts/eb823cbb-0ee6-47a4-98b7-0b087989415d.fntdata" /><ns0:Relationship Id="rIdFont20" Type="http://schemas.openxmlformats.org/officeDocument/2006/relationships/font" Target="fonts/7b681f8f-41dc-4005-8286-7fdebb133e07.fntdata" /><ns0:Relationship Id="rIdFont21" Type="http://schemas.openxmlformats.org/officeDocument/2006/relationships/font" Target="fonts/7a77ef36-0e41-44b6-a8d0-ebeac9843d1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85953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960364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Plus Jakarta Sans"/>
              </a:rPr>
              <a:t>18. YÜZYIL DÜŞÜNCE DEVRİMİ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50889"/>
            <a:ext cx="8601075" cy="1270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b="1" sz="4350" i="0" u="none">
                <a:solidFill>
                  <a:srgbClr val="F8FAFC"/>
                </a:solidFill>
                <a:latin typeface="Cinzel"/>
              </a:rPr>
              <a:t>Aydınlanma Felsefesi ve Çağı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49885"/>
            <a:ext cx="6953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Aklın egemenliği, bireysel özgürlükler ve modern dünyanın entelektüel temelleri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647950"/>
            <a:ext cx="5257800" cy="1352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229100"/>
            <a:ext cx="52578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647950"/>
            <a:ext cx="38100" cy="13525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24075"/>
            <a:ext cx="525780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24075"/>
            <a:ext cx="52578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Plus Jakarta Sans"/>
              </a:rPr>
              <a:t>TANIM VE KAVRAM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inzel"/>
              </a:rPr>
              <a:t>Aydınlanma Nedir?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876550"/>
            <a:ext cx="595312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Cinzel"/>
              </a:rPr>
              <a:t>"Sapere Aude!"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257550"/>
            <a:ext cx="4857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Immanuel Kant’a göre Aydınlanma; insanın kendi suçu ile düşmüş olduğu ergin olmama durumundan kurtulmasıdır.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457700"/>
            <a:ext cx="63007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Aklın Özerkliği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772025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Geleneksel dogmaların yerine bağımsız akıl yürütme ilkesi.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6587"/>
            <a:ext cx="26003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76587"/>
            <a:ext cx="26003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76587"/>
            <a:ext cx="26003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76587"/>
            <a:ext cx="2600325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176587"/>
            <a:ext cx="2600325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0425" y="3176587"/>
            <a:ext cx="2600325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3176587"/>
            <a:ext cx="2600325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2075" y="3176587"/>
            <a:ext cx="2600325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Plus Jakarta Sans"/>
              </a:rPr>
              <a:t>TARİHSEL ARKA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inzel"/>
              </a:rPr>
              <a:t>Aydınlanmayı Hazırlayan Düşünsel Dönemeçler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481387"/>
            <a:ext cx="2774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Plus Jakarta Sans"/>
              </a:rPr>
              <a:t>15. - 16. YÜZYIL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729037"/>
            <a:ext cx="291286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Rönesans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062412"/>
            <a:ext cx="23145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İnsan odaklı hümanist dünya görüşünün doğuşu.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0925" y="3481387"/>
            <a:ext cx="2774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Plus Jakarta Sans"/>
              </a:rPr>
              <a:t>16. YÜZYIL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0925" y="3729037"/>
            <a:ext cx="291286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0925" y="4062412"/>
            <a:ext cx="23145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Dinsel otoritenin ve dogmaların sorgulanması.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0" y="3481387"/>
            <a:ext cx="2774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Plus Jakarta Sans"/>
              </a:rPr>
              <a:t>17. YÜZYIL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0" y="3729037"/>
            <a:ext cx="291286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Akılcılık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750" y="4062412"/>
            <a:ext cx="23145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Descartes ile metodolojik şüphe ve metod.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2575" y="3481387"/>
            <a:ext cx="2774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Plus Jakarta Sans"/>
              </a:rPr>
              <a:t>17.-18. YÜZYIL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2575" y="3729037"/>
            <a:ext cx="291286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Bilimsel Devrim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2575" y="4062412"/>
            <a:ext cx="23145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Newton fiziği ve evrensel doğa yasaları.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8450"/>
            <a:ext cx="2571750" cy="22288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838450"/>
            <a:ext cx="2571750" cy="22288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838450"/>
            <a:ext cx="2571750" cy="22288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838450"/>
            <a:ext cx="2571750" cy="22288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43250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0" y="3143250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143250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0" y="3143250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257550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375" y="3257550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9387" y="3257550"/>
            <a:ext cx="2381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9262" y="3257550"/>
            <a:ext cx="2190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Plus Jakarta Sans"/>
              </a:rPr>
              <a:t>FELSEFİ SÜTUNLAR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inzel"/>
              </a:rPr>
              <a:t>Aydınlanmanın Temel İlkeleri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752850"/>
            <a:ext cx="27753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Rasyonalizm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105275"/>
            <a:ext cx="2209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Gerçeğe ulaşmada birincil rehber olarak akıl.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3752850"/>
            <a:ext cx="27753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Deneycilik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8550" y="4105275"/>
            <a:ext cx="2209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Gözlem ve deneyle doğrulanan somut bilgi.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900" y="3752850"/>
            <a:ext cx="27753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Sekülerleşme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4105275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Toplumsal ve hukuki yapıda dinden bağımsızlaşma.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0" y="3752850"/>
            <a:ext cx="27753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İlerleme İnancı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0" y="4105275"/>
            <a:ext cx="2209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Bilim ve eğitimle insanlığın sürekli gelişimi.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628900"/>
            <a:ext cx="52578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4029075"/>
            <a:ext cx="52578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24075"/>
            <a:ext cx="52578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24075"/>
            <a:ext cx="52578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Plus Jakarta Sans"/>
              </a:rPr>
              <a:t>BİLGİNİN ANIT ESERİ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inzel"/>
              </a:rPr>
              <a:t>Fransız Aydınlanması ve Ansiklopedi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2857500"/>
            <a:ext cx="56388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Denis Diderot &amp; d'Alembert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171825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İnsanlık bilgisini tek bir çatı altında toplama ve halka yayma projesi.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4257675"/>
            <a:ext cx="56388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Voltaire &amp; Hoşgörü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457200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Dinsel taassuba karşı düşünce ve ifade özgürlüğünün savunulması.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3225"/>
            <a:ext cx="347975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943225"/>
            <a:ext cx="347975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43225"/>
            <a:ext cx="347975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43225"/>
            <a:ext cx="347975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6050" y="2943225"/>
            <a:ext cx="347975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02500" y="2943225"/>
            <a:ext cx="347975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Plus Jakarta Sans"/>
              </a:rPr>
              <a:t>AMPRİZM VE İKTİSAT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inzel"/>
              </a:rPr>
              <a:t>İngiliz ve İskoç Düşünürleri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286125"/>
            <a:ext cx="38670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John Locke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667125"/>
            <a:ext cx="3682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45309"/>
                </a:solidFill>
                <a:latin typeface="Plus Jakarta Sans"/>
              </a:rPr>
              <a:t>Doğal Haklar Kuramı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000500"/>
            <a:ext cx="30416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Zihni "tabula rasa" (boş levha) kabul eder. Yaşam, özgürlük ve mülkiyet haklarını savunur.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750" y="3286125"/>
            <a:ext cx="38670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David Hume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2750" y="3667125"/>
            <a:ext cx="3682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45309"/>
                </a:solidFill>
                <a:latin typeface="Plus Jakarta Sans"/>
              </a:rPr>
              <a:t>Eleştirel Kuşkuculuk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750" y="4000500"/>
            <a:ext cx="30416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Bilginin kaynağını duyusal deneyime dayandırır. Neden-sonuç ilişkisini sorgular.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9200" y="3286125"/>
            <a:ext cx="382279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Adam 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9200" y="3667125"/>
            <a:ext cx="3682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45309"/>
                </a:solidFill>
                <a:latin typeface="Plus Jakarta Sans"/>
              </a:rPr>
              <a:t>Politik İktisat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9200" y="4000500"/>
            <a:ext cx="3041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"Görünmez el" kavramı ile serbest piyasa ve bireysel girişimcilik ilkesi.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0350"/>
            <a:ext cx="5205858" cy="2305050"/>
          </a:xfrm>
          <a:prstGeom prst="roundRect">
            <a:avLst>
              <a:gd name="adj" fmla="val 49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58358" y="2962275"/>
            <a:ext cx="5424041" cy="895350"/>
          </a:xfrm>
          <a:prstGeom prst="roundRect">
            <a:avLst>
              <a:gd name="adj" fmla="val 106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58358" y="4048125"/>
            <a:ext cx="5424041" cy="895350"/>
          </a:xfrm>
          <a:prstGeom prst="roundRect">
            <a:avLst>
              <a:gd name="adj" fmla="val 106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58358" y="2962275"/>
            <a:ext cx="38100" cy="8953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58358" y="4048125"/>
            <a:ext cx="38100" cy="8953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Plus Jakarta Sans"/>
              </a:rPr>
              <a:t>DEVLET VE TOPLUM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inzel"/>
              </a:rPr>
              <a:t>Siyaset Felsefesi ve Anayasacılık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43250"/>
            <a:ext cx="5650073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Plus Jakarta San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981450"/>
            <a:ext cx="565007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B45309"/>
                </a:solidFill>
                <a:latin typeface="Plus Jakarta Sans"/>
              </a:rPr>
              <a:t>Temel Erk Ayrılığı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324350"/>
            <a:ext cx="4615308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Montesquieu’nun "Kanunların Ruhu" eserinde kavramsallaştırdığı gücün dengelenmesi modeli.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5058" y="3152775"/>
            <a:ext cx="576694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Montesquieu — Güçler Ayrılığı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058" y="3448050"/>
            <a:ext cx="576694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Yasama, yürütme ve yargının birbirinden bağımsızlaştırılması.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58" y="4238625"/>
            <a:ext cx="576694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Jean-Jacques Rousseau — Toplum Sözleşmesi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5058" y="4533900"/>
            <a:ext cx="576694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Halk egemenliği ve genel iradeye dayalı meşru yönetim.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28900"/>
            <a:ext cx="5257800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029075"/>
            <a:ext cx="5257800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24075"/>
            <a:ext cx="52578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24075"/>
            <a:ext cx="52578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Plus Jakarta Sans"/>
              </a:rPr>
              <a:t>KÜLTÜREL YAYILMA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inzel"/>
              </a:rPr>
              <a:t>Salonlar, Kamuoyu ve Okuma Kültürü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857500"/>
            <a:ext cx="63007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Kamusal Alanın Doğuşu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171825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Kahvehaneler, edebiyat salonları ve akademiler tartışma merkezleri haline geldi.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57675"/>
            <a:ext cx="63007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Basın ve Yayın Patlaması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57200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Gazete, broşür ve kitap basımıyla fikirlerin geniş kitlelere ulaşması sağlandı.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219325"/>
            <a:ext cx="5257800" cy="1114425"/>
          </a:xfrm>
          <a:prstGeom prst="roundRect">
            <a:avLst>
              <a:gd name="adj" fmla="val 8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3486150"/>
            <a:ext cx="5257800" cy="1114425"/>
          </a:xfrm>
          <a:prstGeom prst="roundRect">
            <a:avLst>
              <a:gd name="adj" fmla="val 8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4752975"/>
            <a:ext cx="5257800" cy="895350"/>
          </a:xfrm>
          <a:prstGeom prst="roundRect">
            <a:avLst>
              <a:gd name="adj" fmla="val 106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2219325"/>
            <a:ext cx="38100" cy="111442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4600" y="3486150"/>
            <a:ext cx="38100" cy="11144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4600" y="4752975"/>
            <a:ext cx="38100" cy="8953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24075"/>
            <a:ext cx="52578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24075"/>
            <a:ext cx="52578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Plus Jakarta Sans"/>
              </a:rPr>
              <a:t>DÖNÜŞTÜRÜCÜ GÜÇ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inzel"/>
              </a:rPr>
              <a:t>Modern Dünyaya Bırakılan Miras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2409825"/>
            <a:ext cx="5600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Siyasi Devrimler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270510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Amerikan (1776) ve Fransız (1789) Devrimleri’ne zemin hazırladı.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3676650"/>
            <a:ext cx="5600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İnsan Hakları Beyannamesi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3971925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Evrensel insan hakları ve yurttaşlık kavramının kurumsallaşması.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4943475"/>
            <a:ext cx="5600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Demokratik Anayasacılık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5238750"/>
            <a:ext cx="5600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Hukukun üstünlüğü ve laik devlet düzeni anlayışı.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270027"/>
            <a:ext cx="4572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6343" y="2130772"/>
            <a:ext cx="2119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D97706"/>
                </a:solidFill>
                <a:latin typeface="Plus Jakarta Sans"/>
              </a:rPr>
              <a:t>SONUÇ VE TARTIŞMA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6910" y="2454622"/>
            <a:ext cx="5438179" cy="619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Cinzel"/>
              </a:rPr>
              <a:t>Teşekkür Ederim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3302347"/>
            <a:ext cx="8334375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1" u="none">
                <a:solidFill>
                  <a:srgbClr val="94A3B8"/>
                </a:solidFill>
                <a:latin typeface="Cinzel"/>
              </a:rPr>
              <a:t> "Aydınlanma, insanın kendi suçu ile düşmüş olduğu ergin olmama durumundan kurtulmasıdır."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0265" y="4527202"/>
            <a:ext cx="4131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Sorularınız ve katkılarınız için süremiz mevcuttur.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1000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6289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390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390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85950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71775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4330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1038225"/>
            <a:ext cx="7143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https://novelteesgifts.com/cdn/shop/files/immanuel-kant-portrait-poster-7.jpg?v=1752747642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238250"/>
            <a:ext cx="2512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novelteesgifts.com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1771650"/>
            <a:ext cx="100488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c8.alamy.com/comp/3E96BED/encyclopdie-ou-dictionnaire-raisonn-des-sciences-des-arts-et-des-mtiers-1751-was-a-french-enlightenment-encyclopedia-edited-by-denis-diderot-and-jean-le-rond-dalembert-the-historical-photographic-print-reproduces-the-1751-frontispiece-and-title-page-showing-typographical-design-and-emblematic-illustrations-3E96BED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2276475"/>
            <a:ext cx="3393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www.alanyasutesisatcisi.com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809875"/>
            <a:ext cx="7012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https://www.proantic.com/galerie/lebucherdesvanites/img/1691819-main-696f9d851815a.jpg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3009900"/>
            <a:ext cx="2476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www.proantic.com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3581400"/>
            <a:ext cx="852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https://cdn.britannica.com/34/114834-050-F5310205/Liberty-Leading-the-People-oil-canvas-Eugene-1830.jpg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781425"/>
            <a:ext cx="2607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www.britannica.com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