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Default Extension="fntdata" ContentType="application/x-fontdata"/>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 id="267" ns1:id="rId18"/>
    <ns0:sldId id="268" ns1:id="rId19"/>
  </ns0:sldIdLst>
  <ns0:sldSz cx="12192000" cy="6858000" type="screen4x3"/>
  <ns0:notesSz cx="6858000" cy="9144000"/>
  <ns0:embeddedFontLst>
    <ns0:embeddedFont>
      <ns0:font typeface="Lora"/>
      <ns0:italic ns1:id="rIdFont20"/>
      <ns0:regular ns1:id="rIdFont21"/>
    </ns0:embeddedFont>
    <ns0:embeddedFont>
      <ns0:font typeface="Plus Jakarta Sans"/>
      <ns0:bold ns1:id="rIdFont22"/>
      <ns0:regular ns1:id="rIdFont23"/>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15" Type="http://schemas.openxmlformats.org/officeDocument/2006/relationships/slide" Target="slides/slide9.xml" /><ns0:Relationship Id="rId16" Type="http://schemas.openxmlformats.org/officeDocument/2006/relationships/slide" Target="slides/slide10.xml" /><ns0:Relationship Id="rId17" Type="http://schemas.openxmlformats.org/officeDocument/2006/relationships/slide" Target="slides/slide11.xml" /><ns0:Relationship Id="rId18" Type="http://schemas.openxmlformats.org/officeDocument/2006/relationships/slide" Target="slides/slide12.xml" /><ns0:Relationship Id="rId19" Type="http://schemas.openxmlformats.org/officeDocument/2006/relationships/slide" Target="slides/slide13.xml" /><ns0:Relationship Id="rIdFont20" Type="http://schemas.openxmlformats.org/officeDocument/2006/relationships/font" Target="fonts/02a6beed-9b08-4b9d-a11c-0078c45f95c9.fntdata" /><ns0:Relationship Id="rIdFont21" Type="http://schemas.openxmlformats.org/officeDocument/2006/relationships/font" Target="fonts/4820376a-8b75-495d-9bfc-6279bc0ecbd9.fntdata" /><ns0:Relationship Id="rIdFont22" Type="http://schemas.openxmlformats.org/officeDocument/2006/relationships/font" Target="fonts/418877b9-cfef-4bda-a066-dafadbcaee9e.fntdata" /><ns0:Relationship Id="rIdFont23" Type="http://schemas.openxmlformats.org/officeDocument/2006/relationships/font" Target="fonts/a9bf6a91-8dc9-4dc8-a684-6174bfd76608.fntdata"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609600" y="4554735"/>
            <a:ext cx="609600" cy="3810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2265015"/>
            <a:ext cx="11582400" cy="171450"/>
          </a:xfrm>
          <a:prstGeom prst="rect">
            <a:avLst/>
          </a:prstGeom>
          <a:noFill/>
        </p:spPr>
        <p:txBody>
          <a:bodyPr wrap="none" lIns="0" rIns="0" tIns="0" bIns="0" anchor="t">
            <a:spAutoFit/>
          </a:bodyPr>
          <a:lstStyle/>
          <a:p>
            <a:pPr algn="l"/>
            <a:r>
              <a:rPr b="1" sz="1050" i="0" u="none">
                <a:solidFill>
                  <a:srgbClr val="60A5FA"/>
                </a:solidFill>
                <a:latin typeface="Plus Jakarta Sans"/>
              </a:rPr>
              <a:t>GIRIŞ VE TEMEL KAVRAMLAR</a:t>
            </a:r>
          </a:p>
        </p:txBody>
      </p:sp>
      <p:sp>
        <p:nvSpPr>
          <p:cNvPr id="4" name="TextBox 3"/>
          <p:cNvSpPr txBox="1"/>
          <p:nvPr/>
        </p:nvSpPr>
        <p:spPr>
          <a:xfrm>
            <a:off x="609600" y="2512665"/>
            <a:ext cx="11251406" cy="613320"/>
          </a:xfrm>
          <a:prstGeom prst="rect">
            <a:avLst/>
          </a:prstGeom>
          <a:noFill/>
        </p:spPr>
        <p:txBody>
          <a:bodyPr wrap="none" lIns="0" rIns="0" tIns="0" bIns="0" anchor="t">
            <a:spAutoFit/>
          </a:bodyPr>
          <a:lstStyle/>
          <a:p>
            <a:pPr algn="l">
              <a:lnSpc>
                <a:spcPts val="4830"/>
              </a:lnSpc>
            </a:pPr>
            <a:r>
              <a:rPr b="1" sz="4200" i="0" u="none">
                <a:solidFill>
                  <a:srgbClr val="F8FAFC"/>
                </a:solidFill>
                <a:latin typeface="Plus Jakarta Sans"/>
              </a:rPr>
              <a:t>Sosyolojik Düşünmek</a:t>
            </a:r>
          </a:p>
        </p:txBody>
      </p:sp>
      <p:sp>
        <p:nvSpPr>
          <p:cNvPr id="5" name="TextBox 4"/>
          <p:cNvSpPr txBox="1"/>
          <p:nvPr/>
        </p:nvSpPr>
        <p:spPr>
          <a:xfrm>
            <a:off x="609600" y="3354585"/>
            <a:ext cx="6953250" cy="857250"/>
          </a:xfrm>
          <a:prstGeom prst="rect">
            <a:avLst/>
          </a:prstGeom>
          <a:noFill/>
        </p:spPr>
        <p:txBody>
          <a:bodyPr wrap="square" lIns="0" rIns="0" tIns="0" bIns="0" anchor="t">
            <a:spAutoFit/>
          </a:bodyPr>
          <a:lstStyle/>
          <a:p>
            <a:pPr algn="l">
              <a:lnSpc>
                <a:spcPts val="2250"/>
              </a:lnSpc>
            </a:pPr>
            <a:r>
              <a:rPr b="0" sz="1500" i="0" u="none">
                <a:solidFill>
                  <a:srgbClr val="94A3B8"/>
                </a:solidFill>
                <a:latin typeface="Plus Jakarta Sans"/>
              </a:rPr>
              <a:t>Sosyolojik düşünmek nedir ve onu diğer düşünme biçimlerinden ayırt eden özellikler nelerdir? Bauman ve May’e göre sosyoloji kendine özgü soruları ve yaklaşım biçimleri olan bilimsel bir disiplindir.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924175"/>
            <a:ext cx="10972800" cy="1104900"/>
          </a:xfrm>
          <a:prstGeom prst="roundRect">
            <a:avLst>
              <a:gd name="adj" fmla="val 1379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4295775"/>
            <a:ext cx="457200" cy="457200"/>
          </a:xfrm>
          <a:prstGeom prst="rect">
            <a:avLst/>
          </a:prstGeom>
        </p:spPr>
      </p:pic>
      <p:pic>
        <p:nvPicPr>
          <p:cNvPr id="4" name="Picture 3" descr="image.png"/>
          <p:cNvPicPr>
            <a:picLocks noChangeAspect="1"/>
          </p:cNvPicPr>
          <p:nvPr/>
        </p:nvPicPr>
        <p:blipFill>
          <a:blip r:embed="rId3"/>
          <a:stretch>
            <a:fillRect/>
          </a:stretch>
        </p:blipFill>
        <p:spPr>
          <a:xfrm>
            <a:off x="723900" y="4410075"/>
            <a:ext cx="228600" cy="228600"/>
          </a:xfrm>
          <a:prstGeom prst="rect">
            <a:avLst/>
          </a:prstGeom>
        </p:spPr>
      </p:pic>
      <p:sp>
        <p:nvSpPr>
          <p:cNvPr id="5" name="TextBox 4"/>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2563EB"/>
                </a:solidFill>
                <a:latin typeface="Plus Jakarta Sans"/>
              </a:rPr>
              <a:t>DISIPLINLERARASI KARŞILAŞTIRMA</a:t>
            </a:r>
          </a:p>
        </p:txBody>
      </p:sp>
      <p:sp>
        <p:nvSpPr>
          <p:cNvPr id="6" name="TextBox 5"/>
          <p:cNvSpPr txBox="1"/>
          <p:nvPr/>
        </p:nvSpPr>
        <p:spPr>
          <a:xfrm>
            <a:off x="609600" y="704850"/>
            <a:ext cx="11582400" cy="381000"/>
          </a:xfrm>
          <a:prstGeom prst="rect">
            <a:avLst/>
          </a:prstGeom>
          <a:noFill/>
        </p:spPr>
        <p:txBody>
          <a:bodyPr wrap="none" lIns="0" rIns="0" tIns="0" bIns="0" anchor="t">
            <a:spAutoFit/>
          </a:bodyPr>
          <a:lstStyle/>
          <a:p>
            <a:pPr algn="l">
              <a:lnSpc>
                <a:spcPts val="3000"/>
              </a:lnSpc>
            </a:pPr>
            <a:r>
              <a:rPr b="1" sz="2400" i="0" u="none">
                <a:solidFill>
                  <a:srgbClr val="0F172A"/>
                </a:solidFill>
                <a:latin typeface="Plus Jakarta Sans"/>
              </a:rPr>
              <a:t>Sosyal Bilimleri Birbirinden Ne Ayırır?</a:t>
            </a:r>
          </a:p>
        </p:txBody>
      </p:sp>
      <p:sp>
        <p:nvSpPr>
          <p:cNvPr id="7" name="TextBox 6"/>
          <p:cNvSpPr txBox="1"/>
          <p:nvPr/>
        </p:nvSpPr>
        <p:spPr>
          <a:xfrm>
            <a:off x="876300" y="3190875"/>
            <a:ext cx="10534650" cy="571500"/>
          </a:xfrm>
          <a:prstGeom prst="rect">
            <a:avLst/>
          </a:prstGeom>
          <a:noFill/>
        </p:spPr>
        <p:txBody>
          <a:bodyPr wrap="square" lIns="0" rIns="0" tIns="0" bIns="0" anchor="t">
            <a:spAutoFit/>
          </a:bodyPr>
          <a:lstStyle/>
          <a:p>
            <a:pPr algn="l">
              <a:lnSpc>
                <a:spcPts val="2250"/>
              </a:lnSpc>
            </a:pPr>
            <a:r>
              <a:rPr b="1" sz="1500" i="0" u="none">
                <a:solidFill>
                  <a:srgbClr val="0F172A"/>
                </a:solidFill>
                <a:latin typeface="Plus Jakarta Sans"/>
              </a:rPr>
              <a:t>Tarih, Antropoloji, Sosyoloji, Siyaset Bilimi hepsi beşeri (insanla ilgili) ve toplumsal dünyayla ilgilidir, yani insanların kendi aralarında ve sosyal çevreleriyle girdikleri etkileşimleri inceler.</a:t>
            </a:r>
          </a:p>
        </p:txBody>
      </p:sp>
      <p:sp>
        <p:nvSpPr>
          <p:cNvPr id="8" name="TextBox 7"/>
          <p:cNvSpPr txBox="1"/>
          <p:nvPr/>
        </p:nvSpPr>
        <p:spPr>
          <a:xfrm>
            <a:off x="1257300" y="4257675"/>
            <a:ext cx="10420350" cy="533400"/>
          </a:xfrm>
          <a:prstGeom prst="rect">
            <a:avLst/>
          </a:prstGeom>
          <a:noFill/>
        </p:spPr>
        <p:txBody>
          <a:bodyPr wrap="square" lIns="0" rIns="0" tIns="0" bIns="0" anchor="t">
            <a:spAutoFit/>
          </a:bodyPr>
          <a:lstStyle/>
          <a:p>
            <a:pPr algn="l"/>
            <a:r>
              <a:rPr b="1" sz="1650" i="0" u="none">
                <a:solidFill>
                  <a:srgbClr val="1E40AF"/>
                </a:solidFill>
                <a:latin typeface="Plus Jakarta Sans"/>
              </a:rPr>
              <a:t>O halde bu disiplinleri birbirinden ne ayırır? Diyelim sosyolojiyi siyaset biliminden, siyaset bilimini ekonomiden ne ayırır?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5867400"/>
            <a:ext cx="10972800" cy="533400"/>
          </a:xfrm>
          <a:prstGeom prst="roundRect">
            <a:avLst>
              <a:gd name="adj" fmla="val 21428"/>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714625"/>
            <a:ext cx="5372100" cy="1752600"/>
          </a:xfrm>
          <a:prstGeom prst="roundRect">
            <a:avLst>
              <a:gd name="adj" fmla="val 869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10300" y="2714625"/>
            <a:ext cx="5372100" cy="1752600"/>
          </a:xfrm>
          <a:prstGeom prst="roundRect">
            <a:avLst>
              <a:gd name="adj" fmla="val 869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847725" y="6038850"/>
            <a:ext cx="190500" cy="190500"/>
          </a:xfrm>
          <a:prstGeom prst="rect">
            <a:avLst/>
          </a:prstGeom>
        </p:spPr>
      </p:pic>
      <p:sp>
        <p:nvSpPr>
          <p:cNvPr id="6" name="TextBox 5"/>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2563EB"/>
                </a:solidFill>
                <a:latin typeface="Plus Jakarta Sans"/>
              </a:rPr>
              <a:t>ELEŞTIREL BAKIŞ</a:t>
            </a:r>
          </a:p>
        </p:txBody>
      </p:sp>
      <p:sp>
        <p:nvSpPr>
          <p:cNvPr id="7" name="TextBox 6"/>
          <p:cNvSpPr txBox="1"/>
          <p:nvPr/>
        </p:nvSpPr>
        <p:spPr>
          <a:xfrm>
            <a:off x="609600" y="704850"/>
            <a:ext cx="11582400" cy="381000"/>
          </a:xfrm>
          <a:prstGeom prst="rect">
            <a:avLst/>
          </a:prstGeom>
          <a:noFill/>
        </p:spPr>
        <p:txBody>
          <a:bodyPr wrap="none" lIns="0" rIns="0" tIns="0" bIns="0" anchor="t">
            <a:spAutoFit/>
          </a:bodyPr>
          <a:lstStyle/>
          <a:p>
            <a:pPr algn="l">
              <a:lnSpc>
                <a:spcPts val="3000"/>
              </a:lnSpc>
            </a:pPr>
            <a:r>
              <a:rPr b="1" sz="2400" i="0" u="none">
                <a:solidFill>
                  <a:srgbClr val="0F172A"/>
                </a:solidFill>
                <a:latin typeface="Plus Jakarta Sans"/>
              </a:rPr>
              <a:t>Öne Sürülen İki Yaygın Yaklaşım</a:t>
            </a:r>
          </a:p>
        </p:txBody>
      </p:sp>
      <p:sp>
        <p:nvSpPr>
          <p:cNvPr id="8" name="TextBox 7"/>
          <p:cNvSpPr txBox="1"/>
          <p:nvPr/>
        </p:nvSpPr>
        <p:spPr>
          <a:xfrm>
            <a:off x="1190625" y="6029325"/>
            <a:ext cx="8251031" cy="209550"/>
          </a:xfrm>
          <a:prstGeom prst="rect">
            <a:avLst/>
          </a:prstGeom>
          <a:noFill/>
        </p:spPr>
        <p:txBody>
          <a:bodyPr wrap="none" lIns="0" rIns="0" tIns="0" bIns="0" anchor="t">
            <a:spAutoFit/>
          </a:bodyPr>
          <a:lstStyle/>
          <a:p>
            <a:pPr algn="l"/>
            <a:r>
              <a:rPr b="1" sz="1275" i="0" u="none">
                <a:solidFill>
                  <a:srgbClr val="991B1B"/>
                </a:solidFill>
                <a:latin typeface="Plus Jakarta Sans"/>
              </a:rPr>
              <a:t>Bauman ve May’e göre iki yaklaşım biçimi de sorunludur ve gerçeği yansıtmamaktadır.</a:t>
            </a:r>
          </a:p>
        </p:txBody>
      </p:sp>
      <p:sp>
        <p:nvSpPr>
          <p:cNvPr id="9" name="TextBox 8"/>
          <p:cNvSpPr txBox="1"/>
          <p:nvPr/>
        </p:nvSpPr>
        <p:spPr>
          <a:xfrm>
            <a:off x="885825" y="2990850"/>
            <a:ext cx="6024562" cy="333375"/>
          </a:xfrm>
          <a:prstGeom prst="rect">
            <a:avLst/>
          </a:prstGeom>
          <a:noFill/>
        </p:spPr>
        <p:txBody>
          <a:bodyPr wrap="none" lIns="0" rIns="0" tIns="0" bIns="0" anchor="t">
            <a:spAutoFit/>
          </a:bodyPr>
          <a:lstStyle/>
          <a:p>
            <a:pPr algn="l"/>
            <a:r>
              <a:rPr b="1" sz="2100" i="0" u="none">
                <a:solidFill>
                  <a:srgbClr val="2563EB"/>
                </a:solidFill>
                <a:latin typeface="Plus Jakarta Sans"/>
              </a:rPr>
              <a:t>01</a:t>
            </a:r>
          </a:p>
        </p:txBody>
      </p:sp>
      <p:sp>
        <p:nvSpPr>
          <p:cNvPr id="10" name="TextBox 9"/>
          <p:cNvSpPr txBox="1"/>
          <p:nvPr/>
        </p:nvSpPr>
        <p:spPr>
          <a:xfrm>
            <a:off x="885825" y="3438525"/>
            <a:ext cx="6325790" cy="219075"/>
          </a:xfrm>
          <a:prstGeom prst="rect">
            <a:avLst/>
          </a:prstGeom>
          <a:noFill/>
        </p:spPr>
        <p:txBody>
          <a:bodyPr wrap="none" lIns="0" rIns="0" tIns="0" bIns="0" anchor="t">
            <a:spAutoFit/>
          </a:bodyPr>
          <a:lstStyle/>
          <a:p>
            <a:pPr algn="l"/>
            <a:r>
              <a:rPr b="1" sz="1350" i="0" u="none">
                <a:solidFill>
                  <a:srgbClr val="0F172A"/>
                </a:solidFill>
                <a:latin typeface="Plus Jakarta Sans"/>
              </a:rPr>
              <a:t>Incelenen Alan Ayrımı</a:t>
            </a:r>
          </a:p>
        </p:txBody>
      </p:sp>
      <p:sp>
        <p:nvSpPr>
          <p:cNvPr id="11" name="TextBox 10"/>
          <p:cNvSpPr txBox="1"/>
          <p:nvPr/>
        </p:nvSpPr>
        <p:spPr>
          <a:xfrm>
            <a:off x="885825" y="3733800"/>
            <a:ext cx="4914900" cy="457200"/>
          </a:xfrm>
          <a:prstGeom prst="rect">
            <a:avLst/>
          </a:prstGeom>
          <a:noFill/>
        </p:spPr>
        <p:txBody>
          <a:bodyPr wrap="square" lIns="0" rIns="0" tIns="0" bIns="0" anchor="t">
            <a:spAutoFit/>
          </a:bodyPr>
          <a:lstStyle/>
          <a:p>
            <a:pPr algn="l">
              <a:lnSpc>
                <a:spcPts val="1800"/>
              </a:lnSpc>
            </a:pPr>
            <a:r>
              <a:rPr b="0" sz="1200" i="0" u="none">
                <a:solidFill>
                  <a:srgbClr val="475569"/>
                </a:solidFill>
                <a:latin typeface="Plus Jakarta Sans"/>
              </a:rPr>
              <a:t>Disiplinler arasındaki farklılıklar yalnızca sorguladıkları dünyadaki ayrımları yansıtmaktadır.</a:t>
            </a:r>
          </a:p>
        </p:txBody>
      </p:sp>
      <p:sp>
        <p:nvSpPr>
          <p:cNvPr id="12" name="TextBox 11"/>
          <p:cNvSpPr txBox="1"/>
          <p:nvPr/>
        </p:nvSpPr>
        <p:spPr>
          <a:xfrm>
            <a:off x="6486525" y="2990850"/>
            <a:ext cx="5705475" cy="333375"/>
          </a:xfrm>
          <a:prstGeom prst="rect">
            <a:avLst/>
          </a:prstGeom>
          <a:noFill/>
        </p:spPr>
        <p:txBody>
          <a:bodyPr wrap="none" lIns="0" rIns="0" tIns="0" bIns="0" anchor="t">
            <a:spAutoFit/>
          </a:bodyPr>
          <a:lstStyle/>
          <a:p>
            <a:pPr algn="l"/>
            <a:r>
              <a:rPr b="1" sz="2100" i="0" u="none">
                <a:solidFill>
                  <a:srgbClr val="2563EB"/>
                </a:solidFill>
                <a:latin typeface="Plus Jakarta Sans"/>
              </a:rPr>
              <a:t>02</a:t>
            </a:r>
          </a:p>
        </p:txBody>
      </p:sp>
      <p:sp>
        <p:nvSpPr>
          <p:cNvPr id="13" name="TextBox 12"/>
          <p:cNvSpPr txBox="1"/>
          <p:nvPr/>
        </p:nvSpPr>
        <p:spPr>
          <a:xfrm>
            <a:off x="6486525" y="3438525"/>
            <a:ext cx="5705475" cy="219075"/>
          </a:xfrm>
          <a:prstGeom prst="rect">
            <a:avLst/>
          </a:prstGeom>
          <a:noFill/>
        </p:spPr>
        <p:txBody>
          <a:bodyPr wrap="none" lIns="0" rIns="0" tIns="0" bIns="0" anchor="t">
            <a:spAutoFit/>
          </a:bodyPr>
          <a:lstStyle/>
          <a:p>
            <a:pPr algn="l"/>
            <a:r>
              <a:rPr b="1" sz="1350" i="0" u="none">
                <a:solidFill>
                  <a:srgbClr val="0F172A"/>
                </a:solidFill>
                <a:latin typeface="Plus Jakarta Sans"/>
              </a:rPr>
              <a:t>Araştırma Yöntemi Ayrımı</a:t>
            </a:r>
          </a:p>
        </p:txBody>
      </p:sp>
      <p:sp>
        <p:nvSpPr>
          <p:cNvPr id="14" name="TextBox 13"/>
          <p:cNvSpPr txBox="1"/>
          <p:nvPr/>
        </p:nvSpPr>
        <p:spPr>
          <a:xfrm>
            <a:off x="6486525" y="3733800"/>
            <a:ext cx="4914900" cy="457200"/>
          </a:xfrm>
          <a:prstGeom prst="rect">
            <a:avLst/>
          </a:prstGeom>
          <a:noFill/>
        </p:spPr>
        <p:txBody>
          <a:bodyPr wrap="square" lIns="0" rIns="0" tIns="0" bIns="0" anchor="t">
            <a:spAutoFit/>
          </a:bodyPr>
          <a:lstStyle/>
          <a:p>
            <a:pPr algn="l">
              <a:lnSpc>
                <a:spcPts val="1800"/>
              </a:lnSpc>
            </a:pPr>
            <a:r>
              <a:rPr b="0" sz="1200" i="0" u="none">
                <a:solidFill>
                  <a:srgbClr val="475569"/>
                </a:solidFill>
                <a:latin typeface="Plus Jakarta Sans"/>
              </a:rPr>
              <a:t>Kullandıkları araştırma yöntemleri ve araştırma sürecinde izledikleri yollar birbirinden farklıdır.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971800"/>
            <a:ext cx="10972800" cy="1066800"/>
          </a:xfrm>
          <a:prstGeom prst="roundRect">
            <a:avLst>
              <a:gd name="adj" fmla="val 1071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2971800"/>
            <a:ext cx="38100" cy="10668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2563EB"/>
                </a:solidFill>
                <a:latin typeface="Plus Jakarta Sans"/>
              </a:rPr>
              <a:t>ALAN AYRIMI ELEŞTIRISI</a:t>
            </a:r>
          </a:p>
        </p:txBody>
      </p:sp>
      <p:sp>
        <p:nvSpPr>
          <p:cNvPr id="5" name="TextBox 4"/>
          <p:cNvSpPr txBox="1"/>
          <p:nvPr/>
        </p:nvSpPr>
        <p:spPr>
          <a:xfrm>
            <a:off x="609600" y="704850"/>
            <a:ext cx="11582400" cy="381000"/>
          </a:xfrm>
          <a:prstGeom prst="rect">
            <a:avLst/>
          </a:prstGeom>
          <a:noFill/>
        </p:spPr>
        <p:txBody>
          <a:bodyPr wrap="none" lIns="0" rIns="0" tIns="0" bIns="0" anchor="t">
            <a:spAutoFit/>
          </a:bodyPr>
          <a:lstStyle/>
          <a:p>
            <a:pPr algn="l">
              <a:lnSpc>
                <a:spcPts val="3000"/>
              </a:lnSpc>
            </a:pPr>
            <a:r>
              <a:rPr b="1" sz="2400" i="0" u="none">
                <a:solidFill>
                  <a:srgbClr val="0F172A"/>
                </a:solidFill>
                <a:latin typeface="Plus Jakarta Sans"/>
              </a:rPr>
              <a:t>Toplumsal Yaşam Bölünemez Bir Bütündür</a:t>
            </a:r>
          </a:p>
        </p:txBody>
      </p:sp>
      <p:sp>
        <p:nvSpPr>
          <p:cNvPr id="6" name="TextBox 5"/>
          <p:cNvSpPr txBox="1"/>
          <p:nvPr/>
        </p:nvSpPr>
        <p:spPr>
          <a:xfrm>
            <a:off x="838200" y="3200400"/>
            <a:ext cx="10610850" cy="609600"/>
          </a:xfrm>
          <a:prstGeom prst="rect">
            <a:avLst/>
          </a:prstGeom>
          <a:noFill/>
        </p:spPr>
        <p:txBody>
          <a:bodyPr wrap="square" lIns="0" rIns="0" tIns="0" bIns="0" anchor="t">
            <a:spAutoFit/>
          </a:bodyPr>
          <a:lstStyle/>
          <a:p>
            <a:pPr algn="l">
              <a:lnSpc>
                <a:spcPts val="2400"/>
              </a:lnSpc>
            </a:pPr>
            <a:r>
              <a:rPr b="0" sz="1500" i="1" u="none">
                <a:solidFill>
                  <a:srgbClr val="1E293B"/>
                </a:solidFill>
                <a:latin typeface="Lora"/>
              </a:rPr>
              <a:t> “Deneyimlerimizden yola çıkarak baktığımızda, toplumu ekonomiye, coğrafyaya, politikaya, tarihe yahut sosyal politikalara ayırabilir miyiz? Siyaset biliminin veya ekonominin ayırdığı alanlarda ayrı yaşamlar sürdürmüyoruz.” </a:t>
            </a:r>
          </a:p>
        </p:txBody>
      </p:sp>
      <p:sp>
        <p:nvSpPr>
          <p:cNvPr id="7" name="TextBox 6"/>
          <p:cNvSpPr txBox="1"/>
          <p:nvPr/>
        </p:nvSpPr>
        <p:spPr>
          <a:xfrm>
            <a:off x="609600" y="4229100"/>
            <a:ext cx="11068050" cy="514350"/>
          </a:xfrm>
          <a:prstGeom prst="rect">
            <a:avLst/>
          </a:prstGeom>
          <a:noFill/>
        </p:spPr>
        <p:txBody>
          <a:bodyPr wrap="square" lIns="0" rIns="0" tIns="0" bIns="0" anchor="t">
            <a:spAutoFit/>
          </a:bodyPr>
          <a:lstStyle/>
          <a:p>
            <a:pPr algn="l">
              <a:lnSpc>
                <a:spcPts val="2025"/>
              </a:lnSpc>
            </a:pPr>
            <a:r>
              <a:rPr b="1" sz="1350" i="0" u="none">
                <a:solidFill>
                  <a:srgbClr val="0F172A"/>
                </a:solidFill>
                <a:latin typeface="Plus Jakarta Sans"/>
              </a:rPr>
              <a:t>Bauman ve May’e göre, insani etkileşimlerin belli kategorilere ayrılabileceği, bunların da net bir şekilde ayrılmış disiplinlerle temsil edildikleri fikrini taşıyoruz. Ancak bu yaklaşım gerçeği yansıtmıyor.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7497"/>
            <a:ext cx="10972800" cy="1101030"/>
          </a:xfrm>
          <a:prstGeom prst="roundRect">
            <a:avLst>
              <a:gd name="adj" fmla="val 1384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041427"/>
            <a:ext cx="10972800" cy="1076325"/>
          </a:xfrm>
          <a:prstGeom prst="roundRect">
            <a:avLst>
              <a:gd name="adj" fmla="val 10619"/>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4041427"/>
            <a:ext cx="38100" cy="107632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838200" y="4250977"/>
            <a:ext cx="180975" cy="142875"/>
          </a:xfrm>
          <a:prstGeom prst="rect">
            <a:avLst/>
          </a:prstGeom>
        </p:spPr>
      </p:pic>
      <p:sp>
        <p:nvSpPr>
          <p:cNvPr id="6" name="TextBox 5"/>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2563EB"/>
                </a:solidFill>
                <a:latin typeface="Plus Jakarta Sans"/>
              </a:rPr>
              <a:t>AÇIKLAYICI ÖRNEK</a:t>
            </a:r>
          </a:p>
        </p:txBody>
      </p:sp>
      <p:sp>
        <p:nvSpPr>
          <p:cNvPr id="7" name="TextBox 6"/>
          <p:cNvSpPr txBox="1"/>
          <p:nvPr/>
        </p:nvSpPr>
        <p:spPr>
          <a:xfrm>
            <a:off x="609600" y="704850"/>
            <a:ext cx="11582400" cy="381000"/>
          </a:xfrm>
          <a:prstGeom prst="rect">
            <a:avLst/>
          </a:prstGeom>
          <a:noFill/>
        </p:spPr>
        <p:txBody>
          <a:bodyPr wrap="none" lIns="0" rIns="0" tIns="0" bIns="0" anchor="t">
            <a:spAutoFit/>
          </a:bodyPr>
          <a:lstStyle/>
          <a:p>
            <a:pPr algn="l">
              <a:lnSpc>
                <a:spcPts val="3000"/>
              </a:lnSpc>
            </a:pPr>
            <a:r>
              <a:rPr b="1" sz="2400" i="0" u="none">
                <a:solidFill>
                  <a:srgbClr val="0F172A"/>
                </a:solidFill>
                <a:latin typeface="Plus Jakarta Sans"/>
              </a:rPr>
              <a:t>Örnek: Günlük Yaşamda Disiplinler</a:t>
            </a:r>
          </a:p>
        </p:txBody>
      </p:sp>
      <p:sp>
        <p:nvSpPr>
          <p:cNvPr id="8" name="TextBox 7"/>
          <p:cNvSpPr txBox="1"/>
          <p:nvPr/>
        </p:nvSpPr>
        <p:spPr>
          <a:xfrm>
            <a:off x="885825" y="2873722"/>
            <a:ext cx="10515600" cy="548580"/>
          </a:xfrm>
          <a:prstGeom prst="rect">
            <a:avLst/>
          </a:prstGeom>
          <a:noFill/>
        </p:spPr>
        <p:txBody>
          <a:bodyPr wrap="square" lIns="0" rIns="0" tIns="0" bIns="0" anchor="t">
            <a:spAutoFit/>
          </a:bodyPr>
          <a:lstStyle/>
          <a:p>
            <a:pPr algn="l">
              <a:lnSpc>
                <a:spcPts val="2160"/>
              </a:lnSpc>
            </a:pPr>
            <a:r>
              <a:rPr b="1" sz="1350" i="0" u="none">
                <a:solidFill>
                  <a:srgbClr val="334155"/>
                </a:solidFill>
                <a:latin typeface="Plus Jakarta Sans"/>
              </a:rPr>
              <a:t>Metinden Pasaj:</a:t>
            </a:r>
            <a:r>
              <a:rPr b="0" sz="1350" i="0" u="none">
                <a:solidFill>
                  <a:srgbClr val="334155"/>
                </a:solidFill>
                <a:latin typeface="Plus Jakarta Sans"/>
              </a:rPr>
              <a:t> “Ne kuzey yarımküreden güneye geçerken sosyolojiden antropolojiye geçiyoruz ne de yaşlandıkça tarihten sosyolojiye!”</a:t>
            </a:r>
          </a:p>
        </p:txBody>
      </p:sp>
      <p:sp>
        <p:nvSpPr>
          <p:cNvPr id="9" name="TextBox 8"/>
          <p:cNvSpPr txBox="1"/>
          <p:nvPr/>
        </p:nvSpPr>
        <p:spPr>
          <a:xfrm>
            <a:off x="838200" y="4470052"/>
            <a:ext cx="10648950" cy="457200"/>
          </a:xfrm>
          <a:prstGeom prst="rect">
            <a:avLst/>
          </a:prstGeom>
          <a:noFill/>
        </p:spPr>
        <p:txBody>
          <a:bodyPr wrap="square" lIns="0" rIns="0" tIns="0" bIns="0" anchor="t">
            <a:spAutoFit/>
          </a:bodyPr>
          <a:lstStyle/>
          <a:p>
            <a:pPr algn="l">
              <a:lnSpc>
                <a:spcPts val="1800"/>
              </a:lnSpc>
            </a:pPr>
            <a:r>
              <a:rPr b="0" sz="1200" i="0" u="none">
                <a:solidFill>
                  <a:srgbClr val="1E3A8A"/>
                </a:solidFill>
                <a:latin typeface="Plus Jakarta Sans"/>
              </a:rPr>
              <a:t>Okul kantininden bir kahve aldığınızda: Kahvenin fiyatı (</a:t>
            </a:r>
            <a:r>
              <a:rPr b="1" sz="1200" i="0" u="none">
                <a:solidFill>
                  <a:srgbClr val="1E3A8A"/>
                </a:solidFill>
                <a:latin typeface="Plus Jakarta Sans"/>
              </a:rPr>
              <a:t>Ekonomi</a:t>
            </a:r>
            <a:r>
              <a:rPr b="0" sz="1200" i="0" u="none">
                <a:solidFill>
                  <a:srgbClr val="1E3A8A"/>
                </a:solidFill>
                <a:latin typeface="Plus Jakarta Sans"/>
              </a:rPr>
              <a:t>), kantin işletme kuralları (</a:t>
            </a:r>
            <a:r>
              <a:rPr b="1" sz="1200" i="0" u="none">
                <a:solidFill>
                  <a:srgbClr val="1E3A8A"/>
                </a:solidFill>
                <a:latin typeface="Plus Jakarta Sans"/>
              </a:rPr>
              <a:t>Siyaset</a:t>
            </a:r>
            <a:r>
              <a:rPr b="0" sz="1200" i="0" u="none">
                <a:solidFill>
                  <a:srgbClr val="1E3A8A"/>
                </a:solidFill>
                <a:latin typeface="Plus Jakarta Sans"/>
              </a:rPr>
              <a:t>), arkadaşlarınızla masada oturup sohbet etmeniz (</a:t>
            </a:r>
            <a:r>
              <a:rPr b="1" sz="1200" i="0" u="none">
                <a:solidFill>
                  <a:srgbClr val="1E3A8A"/>
                </a:solidFill>
                <a:latin typeface="Plus Jakarta Sans"/>
              </a:rPr>
              <a:t>Sosyoloji</a:t>
            </a:r>
            <a:r>
              <a:rPr b="0" sz="1200" i="0" u="none">
                <a:solidFill>
                  <a:srgbClr val="1E3A8A"/>
                </a:solidFill>
                <a:latin typeface="Plus Jakarta Sans"/>
              </a:rPr>
              <a:t>) ve kahve içme kültürünün geçmişi (</a:t>
            </a:r>
            <a:r>
              <a:rPr b="1" sz="1200" i="0" u="none">
                <a:solidFill>
                  <a:srgbClr val="1E3A8A"/>
                </a:solidFill>
                <a:latin typeface="Plus Jakarta Sans"/>
              </a:rPr>
              <a:t>Tarih/Antropoloji</a:t>
            </a:r>
            <a:r>
              <a:rPr b="0" sz="1200" i="0" u="none">
                <a:solidFill>
                  <a:srgbClr val="1E3A8A"/>
                </a:solidFill>
                <a:latin typeface="Plus Jakarta Sans"/>
              </a:rPr>
              <a:t>) aynı anda gerçekleşir. Yaşam parçalara bölünmez.</a:t>
            </a:r>
          </a:p>
        </p:txBody>
      </p:sp>
      <p:sp>
        <p:nvSpPr>
          <p:cNvPr id="10" name="TextBox 9"/>
          <p:cNvSpPr txBox="1"/>
          <p:nvPr/>
        </p:nvSpPr>
        <p:spPr>
          <a:xfrm>
            <a:off x="1095375" y="4231927"/>
            <a:ext cx="4357687" cy="180975"/>
          </a:xfrm>
          <a:prstGeom prst="rect">
            <a:avLst/>
          </a:prstGeom>
          <a:noFill/>
        </p:spPr>
        <p:txBody>
          <a:bodyPr wrap="none" lIns="0" rIns="0" tIns="0" bIns="0" anchor="t">
            <a:spAutoFit/>
          </a:bodyPr>
          <a:lstStyle/>
          <a:p>
            <a:pPr algn="l"/>
            <a:r>
              <a:rPr b="1" sz="1125" i="0" u="none">
                <a:solidFill>
                  <a:srgbClr val="1E40AF"/>
                </a:solidFill>
                <a:latin typeface="Plus Jakarta Sans"/>
              </a:rPr>
              <a:t>Öğrenciler İçin Basit Örnek: Kantinde Kahve Almak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702272"/>
            <a:ext cx="10972800" cy="1101030"/>
          </a:xfrm>
          <a:prstGeom prst="roundRect">
            <a:avLst>
              <a:gd name="adj" fmla="val 1384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3993802"/>
            <a:ext cx="5372100" cy="1019175"/>
          </a:xfrm>
          <a:prstGeom prst="roundRect">
            <a:avLst>
              <a:gd name="adj" fmla="val 11214"/>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10300" y="3993802"/>
            <a:ext cx="5372100" cy="1019175"/>
          </a:xfrm>
          <a:prstGeom prst="roundRect">
            <a:avLst>
              <a:gd name="adj" fmla="val 11214"/>
            </a:avLst>
          </a:prstGeom>
          <a:solidFill>
            <a:srgbClr val="FEFCE8"/>
          </a:solidFill>
          <a:ln w="9525">
            <a:solidFill>
              <a:srgbClr val="FEF0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2563EB"/>
                </a:solidFill>
                <a:latin typeface="Plus Jakarta Sans"/>
              </a:rPr>
              <a:t>YÖNTEM ELEŞTIRISI</a:t>
            </a:r>
          </a:p>
        </p:txBody>
      </p:sp>
      <p:sp>
        <p:nvSpPr>
          <p:cNvPr id="6" name="TextBox 5"/>
          <p:cNvSpPr txBox="1"/>
          <p:nvPr/>
        </p:nvSpPr>
        <p:spPr>
          <a:xfrm>
            <a:off x="609600" y="704850"/>
            <a:ext cx="11582400" cy="381000"/>
          </a:xfrm>
          <a:prstGeom prst="rect">
            <a:avLst/>
          </a:prstGeom>
          <a:noFill/>
        </p:spPr>
        <p:txBody>
          <a:bodyPr wrap="none" lIns="0" rIns="0" tIns="0" bIns="0" anchor="t">
            <a:spAutoFit/>
          </a:bodyPr>
          <a:lstStyle/>
          <a:p>
            <a:pPr algn="l">
              <a:lnSpc>
                <a:spcPts val="3000"/>
              </a:lnSpc>
            </a:pPr>
            <a:r>
              <a:rPr b="1" sz="2400" i="0" u="none">
                <a:solidFill>
                  <a:srgbClr val="0F172A"/>
                </a:solidFill>
                <a:latin typeface="Plus Jakarta Sans"/>
              </a:rPr>
              <a:t>Yöntem Açısından Farklılık Yetersizdir</a:t>
            </a:r>
          </a:p>
        </p:txBody>
      </p:sp>
      <p:sp>
        <p:nvSpPr>
          <p:cNvPr id="7" name="TextBox 6"/>
          <p:cNvSpPr txBox="1"/>
          <p:nvPr/>
        </p:nvSpPr>
        <p:spPr>
          <a:xfrm>
            <a:off x="885825" y="2978497"/>
            <a:ext cx="10515600" cy="548580"/>
          </a:xfrm>
          <a:prstGeom prst="rect">
            <a:avLst/>
          </a:prstGeom>
          <a:noFill/>
        </p:spPr>
        <p:txBody>
          <a:bodyPr wrap="square" lIns="0" rIns="0" tIns="0" bIns="0" anchor="t">
            <a:spAutoFit/>
          </a:bodyPr>
          <a:lstStyle/>
          <a:p>
            <a:pPr algn="l">
              <a:lnSpc>
                <a:spcPts val="2160"/>
              </a:lnSpc>
            </a:pPr>
            <a:r>
              <a:rPr b="0" sz="1350" i="0" u="none">
                <a:solidFill>
                  <a:srgbClr val="1E293B"/>
                </a:solidFill>
                <a:latin typeface="Plus Jakarta Sans"/>
              </a:rPr>
              <a:t>“Hepsi araştırma yöntemleriyle ilgili olguları derlemeye çalışırlar, bunların doğruluklarından emin olurlar ve ardından ilgili bilgiyi geçerli kılmak için bu olguları tekrar tekrar kontrol ederler.”</a:t>
            </a:r>
          </a:p>
        </p:txBody>
      </p:sp>
      <p:sp>
        <p:nvSpPr>
          <p:cNvPr id="8" name="TextBox 7"/>
          <p:cNvSpPr txBox="1"/>
          <p:nvPr/>
        </p:nvSpPr>
        <p:spPr>
          <a:xfrm>
            <a:off x="809625" y="4193827"/>
            <a:ext cx="6525815" cy="200025"/>
          </a:xfrm>
          <a:prstGeom prst="rect">
            <a:avLst/>
          </a:prstGeom>
          <a:noFill/>
        </p:spPr>
        <p:txBody>
          <a:bodyPr wrap="none" lIns="0" rIns="0" tIns="0" bIns="0" anchor="t">
            <a:spAutoFit/>
          </a:bodyPr>
          <a:lstStyle/>
          <a:p>
            <a:pPr algn="l"/>
            <a:r>
              <a:rPr b="1" sz="1200" i="0" u="none">
                <a:solidFill>
                  <a:srgbClr val="166534"/>
                </a:solidFill>
                <a:latin typeface="Plus Jakarta Sans"/>
              </a:rPr>
              <a:t>Ortak Prosedürler</a:t>
            </a:r>
          </a:p>
        </p:txBody>
      </p:sp>
      <p:sp>
        <p:nvSpPr>
          <p:cNvPr id="9" name="TextBox 8"/>
          <p:cNvSpPr txBox="1"/>
          <p:nvPr/>
        </p:nvSpPr>
        <p:spPr>
          <a:xfrm>
            <a:off x="809625" y="4451002"/>
            <a:ext cx="5067300" cy="361950"/>
          </a:xfrm>
          <a:prstGeom prst="rect">
            <a:avLst/>
          </a:prstGeom>
          <a:noFill/>
        </p:spPr>
        <p:txBody>
          <a:bodyPr wrap="square" lIns="0" rIns="0" tIns="0" bIns="0" anchor="t">
            <a:spAutoFit/>
          </a:bodyPr>
          <a:lstStyle/>
          <a:p>
            <a:pPr algn="l"/>
            <a:r>
              <a:rPr b="0" sz="1125" i="0" u="none">
                <a:solidFill>
                  <a:srgbClr val="14532D"/>
                </a:solidFill>
                <a:latin typeface="Plus Jakarta Sans"/>
              </a:rPr>
              <a:t>Bütün sosyal bilimler, belli bir sistem dahilinde benzer prosedürleri izleyerek araştırmalarını ortaya koyarlar.</a:t>
            </a:r>
          </a:p>
        </p:txBody>
      </p:sp>
      <p:sp>
        <p:nvSpPr>
          <p:cNvPr id="10" name="TextBox 9"/>
          <p:cNvSpPr txBox="1"/>
          <p:nvPr/>
        </p:nvSpPr>
        <p:spPr>
          <a:xfrm>
            <a:off x="6410325" y="4193827"/>
            <a:ext cx="5781675" cy="200025"/>
          </a:xfrm>
          <a:prstGeom prst="rect">
            <a:avLst/>
          </a:prstGeom>
          <a:noFill/>
        </p:spPr>
        <p:txBody>
          <a:bodyPr wrap="none" lIns="0" rIns="0" tIns="0" bIns="0" anchor="t">
            <a:spAutoFit/>
          </a:bodyPr>
          <a:lstStyle/>
          <a:p>
            <a:pPr algn="l"/>
            <a:r>
              <a:rPr b="1" sz="1200" i="0" u="none">
                <a:solidFill>
                  <a:srgbClr val="854D0E"/>
                </a:solidFill>
                <a:latin typeface="Plus Jakarta Sans"/>
              </a:rPr>
              <a:t>Çıkarım</a:t>
            </a:r>
          </a:p>
        </p:txBody>
      </p:sp>
      <p:sp>
        <p:nvSpPr>
          <p:cNvPr id="11" name="TextBox 10"/>
          <p:cNvSpPr txBox="1"/>
          <p:nvPr/>
        </p:nvSpPr>
        <p:spPr>
          <a:xfrm>
            <a:off x="6410325" y="4451002"/>
            <a:ext cx="5067300" cy="361950"/>
          </a:xfrm>
          <a:prstGeom prst="rect">
            <a:avLst/>
          </a:prstGeom>
          <a:noFill/>
        </p:spPr>
        <p:txBody>
          <a:bodyPr wrap="square" lIns="0" rIns="0" tIns="0" bIns="0" anchor="t">
            <a:spAutoFit/>
          </a:bodyPr>
          <a:lstStyle/>
          <a:p>
            <a:pPr algn="l"/>
            <a:r>
              <a:rPr b="0" sz="1125" i="0" u="none">
                <a:solidFill>
                  <a:srgbClr val="713F12"/>
                </a:solidFill>
                <a:latin typeface="Plus Jakarta Sans"/>
              </a:rPr>
              <a:t>Sosyal bilimleri kullandıkları yöntem ve izledikleri prosedür üzerinden farklılaştırmak imkansızdır.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3555206"/>
            <a:ext cx="10972800" cy="1404937"/>
          </a:xfrm>
          <a:prstGeom prst="roundRect">
            <a:avLst>
              <a:gd name="adj" fmla="val 10847"/>
            </a:avLst>
          </a:prstGeom>
          <a:solidFill>
            <a:srgbClr val="2563EB"/>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2563EB"/>
                </a:solidFill>
                <a:latin typeface="Plus Jakarta Sans"/>
              </a:rPr>
              <a:t>AYIRT EDICI UNSUR</a:t>
            </a:r>
          </a:p>
        </p:txBody>
      </p:sp>
      <p:sp>
        <p:nvSpPr>
          <p:cNvPr id="4" name="TextBox 3"/>
          <p:cNvSpPr txBox="1"/>
          <p:nvPr/>
        </p:nvSpPr>
        <p:spPr>
          <a:xfrm>
            <a:off x="609600" y="704850"/>
            <a:ext cx="11582400" cy="381000"/>
          </a:xfrm>
          <a:prstGeom prst="rect">
            <a:avLst/>
          </a:prstGeom>
          <a:noFill/>
        </p:spPr>
        <p:txBody>
          <a:bodyPr wrap="none" lIns="0" rIns="0" tIns="0" bIns="0" anchor="t">
            <a:spAutoFit/>
          </a:bodyPr>
          <a:lstStyle/>
          <a:p>
            <a:pPr algn="l">
              <a:lnSpc>
                <a:spcPts val="3000"/>
              </a:lnSpc>
            </a:pPr>
            <a:r>
              <a:rPr b="1" sz="2400" i="0" u="none">
                <a:solidFill>
                  <a:srgbClr val="0F172A"/>
                </a:solidFill>
                <a:latin typeface="Plus Jakarta Sans"/>
              </a:rPr>
              <a:t>Bilişsel Perspektif ve Sorular</a:t>
            </a:r>
          </a:p>
        </p:txBody>
      </p:sp>
      <p:sp>
        <p:nvSpPr>
          <p:cNvPr id="5" name="TextBox 4"/>
          <p:cNvSpPr txBox="1"/>
          <p:nvPr/>
        </p:nvSpPr>
        <p:spPr>
          <a:xfrm>
            <a:off x="609600" y="2755106"/>
            <a:ext cx="11068050" cy="571500"/>
          </a:xfrm>
          <a:prstGeom prst="rect">
            <a:avLst/>
          </a:prstGeom>
          <a:noFill/>
        </p:spPr>
        <p:txBody>
          <a:bodyPr wrap="square" lIns="0" rIns="0" tIns="0" bIns="0" anchor="t">
            <a:spAutoFit/>
          </a:bodyPr>
          <a:lstStyle/>
          <a:p>
            <a:pPr algn="l">
              <a:lnSpc>
                <a:spcPts val="2250"/>
              </a:lnSpc>
            </a:pPr>
            <a:r>
              <a:rPr b="1" sz="1500" i="0" u="none">
                <a:solidFill>
                  <a:srgbClr val="0F172A"/>
                </a:solidFill>
                <a:latin typeface="Plus Jakarta Sans"/>
              </a:rPr>
              <a:t>Sosyal bilimleri birbirinden ayırt eden asıl şey, tek tek disiplinleri harekete geçiren soru ve bakış açılarında yatıyormuş gibidir.</a:t>
            </a:r>
          </a:p>
        </p:txBody>
      </p:sp>
      <p:sp>
        <p:nvSpPr>
          <p:cNvPr id="6" name="TextBox 5"/>
          <p:cNvSpPr txBox="1"/>
          <p:nvPr/>
        </p:nvSpPr>
        <p:spPr>
          <a:xfrm>
            <a:off x="885825" y="3831431"/>
            <a:ext cx="11306175" cy="171450"/>
          </a:xfrm>
          <a:prstGeom prst="rect">
            <a:avLst/>
          </a:prstGeom>
          <a:noFill/>
        </p:spPr>
        <p:txBody>
          <a:bodyPr wrap="none" lIns="0" rIns="0" tIns="0" bIns="0" anchor="t">
            <a:spAutoFit/>
          </a:bodyPr>
          <a:lstStyle/>
          <a:p>
            <a:pPr algn="l"/>
            <a:r>
              <a:rPr b="1" sz="1050" i="0" u="none">
                <a:solidFill>
                  <a:srgbClr val="F8FAFC"/>
                </a:solidFill>
                <a:latin typeface="Plus Jakarta Sans"/>
              </a:rPr>
              <a:t>MAY VE BAUMAN'IN KAVRAMI</a:t>
            </a:r>
          </a:p>
        </p:txBody>
      </p:sp>
      <p:sp>
        <p:nvSpPr>
          <p:cNvPr id="7" name="TextBox 6"/>
          <p:cNvSpPr txBox="1"/>
          <p:nvPr/>
        </p:nvSpPr>
        <p:spPr>
          <a:xfrm>
            <a:off x="885825" y="4079081"/>
            <a:ext cx="11306175" cy="285750"/>
          </a:xfrm>
          <a:prstGeom prst="rect">
            <a:avLst/>
          </a:prstGeom>
          <a:noFill/>
        </p:spPr>
        <p:txBody>
          <a:bodyPr wrap="none" lIns="0" rIns="0" tIns="0" bIns="0" anchor="t">
            <a:spAutoFit/>
          </a:bodyPr>
          <a:lstStyle/>
          <a:p>
            <a:pPr algn="l"/>
            <a:r>
              <a:rPr b="1" sz="1800" i="0" u="none">
                <a:solidFill>
                  <a:srgbClr val="FFFFFF"/>
                </a:solidFill>
                <a:latin typeface="Plus Jakarta Sans"/>
              </a:rPr>
              <a:t>Bilişsel Perspective (Cognitive Perspective)</a:t>
            </a:r>
          </a:p>
        </p:txBody>
      </p:sp>
      <p:sp>
        <p:nvSpPr>
          <p:cNvPr id="8" name="TextBox 7"/>
          <p:cNvSpPr txBox="1"/>
          <p:nvPr/>
        </p:nvSpPr>
        <p:spPr>
          <a:xfrm>
            <a:off x="885825" y="4441031"/>
            <a:ext cx="11306175" cy="242887"/>
          </a:xfrm>
          <a:prstGeom prst="rect">
            <a:avLst/>
          </a:prstGeom>
          <a:noFill/>
        </p:spPr>
        <p:txBody>
          <a:bodyPr wrap="none" lIns="0" rIns="0" tIns="0" bIns="0" anchor="t">
            <a:spAutoFit/>
          </a:bodyPr>
          <a:lstStyle/>
          <a:p>
            <a:pPr algn="l">
              <a:lnSpc>
                <a:spcPts val="1912"/>
              </a:lnSpc>
            </a:pPr>
            <a:r>
              <a:rPr b="0" sz="1275" i="0" u="none">
                <a:solidFill>
                  <a:srgbClr val="E0E7FF"/>
                </a:solidFill>
                <a:latin typeface="Plus Jakarta Sans"/>
              </a:rPr>
              <a:t>Bir şeyi incelerken kullanılan genel zihinsel çerçeveye bilişsel perspektif diyebiliriz.</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3083718"/>
            <a:ext cx="5372100" cy="1547812"/>
          </a:xfrm>
          <a:prstGeom prst="roundRect">
            <a:avLst>
              <a:gd name="adj" fmla="val 9846"/>
            </a:avLst>
          </a:prstGeom>
          <a:solidFill>
            <a:srgbClr val="FAF5FF"/>
          </a:solidFill>
          <a:ln w="9525">
            <a:solidFill>
              <a:srgbClr val="E9D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10300" y="3083718"/>
            <a:ext cx="5372100" cy="1547812"/>
          </a:xfrm>
          <a:prstGeom prst="roundRect">
            <a:avLst>
              <a:gd name="adj" fmla="val 9846"/>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2563EB"/>
                </a:solidFill>
                <a:latin typeface="Plus Jakarta Sans"/>
              </a:rPr>
              <a:t>SORULARIN FARKI</a:t>
            </a:r>
          </a:p>
        </p:txBody>
      </p:sp>
      <p:sp>
        <p:nvSpPr>
          <p:cNvPr id="5" name="TextBox 4"/>
          <p:cNvSpPr txBox="1"/>
          <p:nvPr/>
        </p:nvSpPr>
        <p:spPr>
          <a:xfrm>
            <a:off x="609600" y="704850"/>
            <a:ext cx="11582400" cy="381000"/>
          </a:xfrm>
          <a:prstGeom prst="rect">
            <a:avLst/>
          </a:prstGeom>
          <a:noFill/>
        </p:spPr>
        <p:txBody>
          <a:bodyPr wrap="none" lIns="0" rIns="0" tIns="0" bIns="0" anchor="t">
            <a:spAutoFit/>
          </a:bodyPr>
          <a:lstStyle/>
          <a:p>
            <a:pPr algn="l">
              <a:lnSpc>
                <a:spcPts val="3000"/>
              </a:lnSpc>
            </a:pPr>
            <a:r>
              <a:rPr b="1" sz="2400" i="0" u="none">
                <a:solidFill>
                  <a:srgbClr val="0F172A"/>
                </a:solidFill>
                <a:latin typeface="Plus Jakarta Sans"/>
              </a:rPr>
              <a:t>Ekonomi ve Siyaset Bilimi Örneği</a:t>
            </a:r>
          </a:p>
        </p:txBody>
      </p:sp>
      <p:sp>
        <p:nvSpPr>
          <p:cNvPr id="6" name="TextBox 5"/>
          <p:cNvSpPr txBox="1"/>
          <p:nvPr/>
        </p:nvSpPr>
        <p:spPr>
          <a:xfrm>
            <a:off x="885825" y="3359943"/>
            <a:ext cx="6325790" cy="238125"/>
          </a:xfrm>
          <a:prstGeom prst="rect">
            <a:avLst/>
          </a:prstGeom>
          <a:noFill/>
        </p:spPr>
        <p:txBody>
          <a:bodyPr wrap="none" lIns="0" rIns="0" tIns="0" bIns="0" anchor="t">
            <a:spAutoFit/>
          </a:bodyPr>
          <a:lstStyle/>
          <a:p>
            <a:pPr algn="l"/>
            <a:r>
              <a:rPr b="1" sz="1500" i="0" u="none">
                <a:solidFill>
                  <a:srgbClr val="6B21A8"/>
                </a:solidFill>
                <a:latin typeface="Plus Jakarta Sans"/>
              </a:rPr>
              <a:t>Ekonomi</a:t>
            </a:r>
          </a:p>
        </p:txBody>
      </p:sp>
      <p:sp>
        <p:nvSpPr>
          <p:cNvPr id="7" name="TextBox 6"/>
          <p:cNvSpPr txBox="1"/>
          <p:nvPr/>
        </p:nvSpPr>
        <p:spPr>
          <a:xfrm>
            <a:off x="885825" y="3712368"/>
            <a:ext cx="4914900" cy="642937"/>
          </a:xfrm>
          <a:prstGeom prst="rect">
            <a:avLst/>
          </a:prstGeom>
          <a:noFill/>
        </p:spPr>
        <p:txBody>
          <a:bodyPr wrap="square" lIns="0" rIns="0" tIns="0" bIns="0" anchor="t">
            <a:spAutoFit/>
          </a:bodyPr>
          <a:lstStyle/>
          <a:p>
            <a:pPr algn="l">
              <a:lnSpc>
                <a:spcPts val="1687"/>
              </a:lnSpc>
            </a:pPr>
            <a:r>
              <a:rPr b="0" sz="1125" i="0" u="none">
                <a:solidFill>
                  <a:srgbClr val="581C87"/>
                </a:solidFill>
                <a:latin typeface="Plus Jakarta Sans"/>
              </a:rPr>
              <a:t>Dış dünyada piyasa diye kendi başına işleyen bir sosyal gerçeklik olduğu için değil, insan eylemlerini maliyet-kar ya da kıt kaynakların düzenlenmesi gibi sorular üzerinden incelediği için farklıdır.</a:t>
            </a:r>
          </a:p>
        </p:txBody>
      </p:sp>
      <p:sp>
        <p:nvSpPr>
          <p:cNvPr id="8" name="TextBox 7"/>
          <p:cNvSpPr txBox="1"/>
          <p:nvPr/>
        </p:nvSpPr>
        <p:spPr>
          <a:xfrm>
            <a:off x="6486525" y="3359943"/>
            <a:ext cx="5705475" cy="238125"/>
          </a:xfrm>
          <a:prstGeom prst="rect">
            <a:avLst/>
          </a:prstGeom>
          <a:noFill/>
        </p:spPr>
        <p:txBody>
          <a:bodyPr wrap="none" lIns="0" rIns="0" tIns="0" bIns="0" anchor="t">
            <a:spAutoFit/>
          </a:bodyPr>
          <a:lstStyle/>
          <a:p>
            <a:pPr algn="l"/>
            <a:r>
              <a:rPr b="1" sz="1500" i="0" u="none">
                <a:solidFill>
                  <a:srgbClr val="166534"/>
                </a:solidFill>
                <a:latin typeface="Plus Jakarta Sans"/>
              </a:rPr>
              <a:t>Siyaset Bilimi</a:t>
            </a:r>
          </a:p>
        </p:txBody>
      </p:sp>
      <p:sp>
        <p:nvSpPr>
          <p:cNvPr id="9" name="TextBox 8"/>
          <p:cNvSpPr txBox="1"/>
          <p:nvPr/>
        </p:nvSpPr>
        <p:spPr>
          <a:xfrm>
            <a:off x="6486525" y="3712368"/>
            <a:ext cx="4914900" cy="428625"/>
          </a:xfrm>
          <a:prstGeom prst="rect">
            <a:avLst/>
          </a:prstGeom>
          <a:noFill/>
        </p:spPr>
        <p:txBody>
          <a:bodyPr wrap="square" lIns="0" rIns="0" tIns="0" bIns="0" anchor="t">
            <a:spAutoFit/>
          </a:bodyPr>
          <a:lstStyle/>
          <a:p>
            <a:pPr algn="l">
              <a:lnSpc>
                <a:spcPts val="1687"/>
              </a:lnSpc>
            </a:pPr>
            <a:r>
              <a:rPr b="0" sz="1125" i="0" u="none">
                <a:solidFill>
                  <a:srgbClr val="14532D"/>
                </a:solidFill>
                <a:latin typeface="Plus Jakarta Sans"/>
              </a:rPr>
              <a:t>İnsan eylemlerini güç/otorite ve bunların ürettiği eşitsizlikler ya da etkileşimler üzerinden incelediği için diğer disiplinlerden farklıdır.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626965"/>
            <a:ext cx="10972800" cy="1066800"/>
          </a:xfrm>
          <a:prstGeom prst="roundRect">
            <a:avLst>
              <a:gd name="adj" fmla="val 1428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3884265"/>
            <a:ext cx="10972800" cy="1203870"/>
          </a:xfrm>
          <a:prstGeom prst="roundRect">
            <a:avLst>
              <a:gd name="adj" fmla="val 9494"/>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3884265"/>
            <a:ext cx="38100" cy="120387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2563EB"/>
                </a:solidFill>
                <a:latin typeface="Plus Jakarta Sans"/>
              </a:rPr>
              <a:t>SOSYOLOJIK YAKLAŞIM</a:t>
            </a:r>
          </a:p>
        </p:txBody>
      </p:sp>
      <p:sp>
        <p:nvSpPr>
          <p:cNvPr id="6" name="TextBox 5"/>
          <p:cNvSpPr txBox="1"/>
          <p:nvPr/>
        </p:nvSpPr>
        <p:spPr>
          <a:xfrm>
            <a:off x="609600" y="704850"/>
            <a:ext cx="11582400" cy="381000"/>
          </a:xfrm>
          <a:prstGeom prst="rect">
            <a:avLst/>
          </a:prstGeom>
          <a:noFill/>
        </p:spPr>
        <p:txBody>
          <a:bodyPr wrap="none" lIns="0" rIns="0" tIns="0" bIns="0" anchor="t">
            <a:spAutoFit/>
          </a:bodyPr>
          <a:lstStyle/>
          <a:p>
            <a:pPr algn="l">
              <a:lnSpc>
                <a:spcPts val="3000"/>
              </a:lnSpc>
            </a:pPr>
            <a:r>
              <a:rPr b="1" sz="2400" i="0" u="none">
                <a:solidFill>
                  <a:srgbClr val="0F172A"/>
                </a:solidFill>
                <a:latin typeface="Plus Jakarta Sans"/>
              </a:rPr>
              <a:t>Sosyolojiyi Ne Ayırt Eder?</a:t>
            </a:r>
          </a:p>
        </p:txBody>
      </p:sp>
      <p:sp>
        <p:nvSpPr>
          <p:cNvPr id="7" name="TextBox 6"/>
          <p:cNvSpPr txBox="1"/>
          <p:nvPr/>
        </p:nvSpPr>
        <p:spPr>
          <a:xfrm>
            <a:off x="838200" y="4074765"/>
            <a:ext cx="10610850" cy="822870"/>
          </a:xfrm>
          <a:prstGeom prst="rect">
            <a:avLst/>
          </a:prstGeom>
          <a:noFill/>
        </p:spPr>
        <p:txBody>
          <a:bodyPr wrap="square" lIns="0" rIns="0" tIns="0" bIns="0" anchor="t">
            <a:spAutoFit/>
          </a:bodyPr>
          <a:lstStyle/>
          <a:p>
            <a:pPr algn="l">
              <a:lnSpc>
                <a:spcPts val="2160"/>
              </a:lnSpc>
            </a:pPr>
            <a:r>
              <a:rPr b="0" sz="1350" i="0" u="none">
                <a:solidFill>
                  <a:srgbClr val="1E293B"/>
                </a:solidFill>
                <a:latin typeface="Lora"/>
              </a:rPr>
              <a:t>“Sosyoloji esas olarak ilişkisel bir bakış açısıyla ilgilenir: Bu da bizden önce var olan bir toplum içinde doğmamız ve onun üyeleri olmamızdır. Bu ilişkiler içinde biçimleniriz ve deneyimlerimiz toplumsal yapıların etkisiyle, etrafımızdaki şeyleri görme biçimimiz kültürel referansların çerçevesiyle şekillenir.” (s. 18)</a:t>
            </a:r>
          </a:p>
        </p:txBody>
      </p:sp>
      <p:sp>
        <p:nvSpPr>
          <p:cNvPr id="8" name="TextBox 7"/>
          <p:cNvSpPr txBox="1"/>
          <p:nvPr/>
        </p:nvSpPr>
        <p:spPr>
          <a:xfrm>
            <a:off x="885825" y="2903190"/>
            <a:ext cx="10515600" cy="514350"/>
          </a:xfrm>
          <a:prstGeom prst="rect">
            <a:avLst/>
          </a:prstGeom>
          <a:noFill/>
        </p:spPr>
        <p:txBody>
          <a:bodyPr wrap="square" lIns="0" rIns="0" tIns="0" bIns="0" anchor="t">
            <a:spAutoFit/>
          </a:bodyPr>
          <a:lstStyle/>
          <a:p>
            <a:pPr algn="l">
              <a:lnSpc>
                <a:spcPts val="2025"/>
              </a:lnSpc>
            </a:pPr>
            <a:r>
              <a:rPr b="1" sz="1350" i="0" u="none">
                <a:solidFill>
                  <a:srgbClr val="0F172A"/>
                </a:solidFill>
                <a:latin typeface="Plus Jakarta Sans"/>
              </a:rPr>
              <a:t>Sosyolojiyi diğer bilimlerden ayırt eden şey, insan eylemlerini değerlendirirken ortaya koyduğu farklı sorular, yaklaşım biçimleri ve yorumlama ilkeleridir.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3186112"/>
            <a:ext cx="5372100" cy="1343025"/>
          </a:xfrm>
          <a:prstGeom prst="roundRect">
            <a:avLst>
              <a:gd name="adj" fmla="val 1134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10300" y="3186112"/>
            <a:ext cx="5372100" cy="1343025"/>
          </a:xfrm>
          <a:prstGeom prst="roundRect">
            <a:avLst>
              <a:gd name="adj" fmla="val 1134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2563EB"/>
                </a:solidFill>
                <a:latin typeface="Plus Jakarta Sans"/>
              </a:rPr>
              <a:t>DOĞA BILIMI VS. SOSYAL BILIM</a:t>
            </a:r>
          </a:p>
        </p:txBody>
      </p:sp>
      <p:sp>
        <p:nvSpPr>
          <p:cNvPr id="5" name="TextBox 4"/>
          <p:cNvSpPr txBox="1"/>
          <p:nvPr/>
        </p:nvSpPr>
        <p:spPr>
          <a:xfrm>
            <a:off x="609600" y="704850"/>
            <a:ext cx="11582400" cy="381000"/>
          </a:xfrm>
          <a:prstGeom prst="rect">
            <a:avLst/>
          </a:prstGeom>
          <a:noFill/>
        </p:spPr>
        <p:txBody>
          <a:bodyPr wrap="none" lIns="0" rIns="0" tIns="0" bIns="0" anchor="t">
            <a:spAutoFit/>
          </a:bodyPr>
          <a:lstStyle/>
          <a:p>
            <a:pPr algn="l">
              <a:lnSpc>
                <a:spcPts val="3000"/>
              </a:lnSpc>
            </a:pPr>
            <a:r>
              <a:rPr b="1" sz="2400" i="0" u="none">
                <a:solidFill>
                  <a:srgbClr val="0F172A"/>
                </a:solidFill>
                <a:latin typeface="Plus Jakarta Sans"/>
              </a:rPr>
              <a:t>Sosyoloji ve Sağduyu (Common Sense)</a:t>
            </a:r>
          </a:p>
        </p:txBody>
      </p:sp>
      <p:sp>
        <p:nvSpPr>
          <p:cNvPr id="6" name="TextBox 5"/>
          <p:cNvSpPr txBox="1"/>
          <p:nvPr/>
        </p:nvSpPr>
        <p:spPr>
          <a:xfrm>
            <a:off x="885825" y="3462337"/>
            <a:ext cx="6325790" cy="219075"/>
          </a:xfrm>
          <a:prstGeom prst="rect">
            <a:avLst/>
          </a:prstGeom>
          <a:noFill/>
        </p:spPr>
        <p:txBody>
          <a:bodyPr wrap="none" lIns="0" rIns="0" tIns="0" bIns="0" anchor="t">
            <a:spAutoFit/>
          </a:bodyPr>
          <a:lstStyle/>
          <a:p>
            <a:pPr algn="l"/>
            <a:r>
              <a:rPr b="1" sz="1350" i="0" u="none">
                <a:solidFill>
                  <a:srgbClr val="2563EB"/>
                </a:solidFill>
                <a:latin typeface="Plus Jakarta Sans"/>
              </a:rPr>
              <a:t>Sağduyu Nedir?</a:t>
            </a:r>
          </a:p>
        </p:txBody>
      </p:sp>
      <p:sp>
        <p:nvSpPr>
          <p:cNvPr id="7" name="TextBox 6"/>
          <p:cNvSpPr txBox="1"/>
          <p:nvPr/>
        </p:nvSpPr>
        <p:spPr>
          <a:xfrm>
            <a:off x="885825" y="3795712"/>
            <a:ext cx="4914900" cy="4572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Günlük hayatımızı bir şekilde yönlendiren sistemsiz, alışkanlığa dayalı bilgiler bütünüdür.</a:t>
            </a:r>
          </a:p>
        </p:txBody>
      </p:sp>
      <p:sp>
        <p:nvSpPr>
          <p:cNvPr id="8" name="TextBox 7"/>
          <p:cNvSpPr txBox="1"/>
          <p:nvPr/>
        </p:nvSpPr>
        <p:spPr>
          <a:xfrm>
            <a:off x="6486525" y="3462337"/>
            <a:ext cx="5705475" cy="219075"/>
          </a:xfrm>
          <a:prstGeom prst="rect">
            <a:avLst/>
          </a:prstGeom>
          <a:noFill/>
        </p:spPr>
        <p:txBody>
          <a:bodyPr wrap="none" lIns="0" rIns="0" tIns="0" bIns="0" anchor="t">
            <a:spAutoFit/>
          </a:bodyPr>
          <a:lstStyle/>
          <a:p>
            <a:pPr algn="l"/>
            <a:r>
              <a:rPr b="1" sz="1350" i="0" u="none">
                <a:solidFill>
                  <a:srgbClr val="2563EB"/>
                </a:solidFill>
                <a:latin typeface="Plus Jakarta Sans"/>
              </a:rPr>
              <a:t>Sağduyunun İşlevi</a:t>
            </a:r>
          </a:p>
        </p:txBody>
      </p:sp>
      <p:sp>
        <p:nvSpPr>
          <p:cNvPr id="9" name="TextBox 8"/>
          <p:cNvSpPr txBox="1"/>
          <p:nvPr/>
        </p:nvSpPr>
        <p:spPr>
          <a:xfrm>
            <a:off x="6486525" y="3795712"/>
            <a:ext cx="4914900" cy="4572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Toplumsal çevreyle ilişkimizi gündelik deneyimler çerçevesinde düzenleyen anlamlar dünyasını içerir.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4048125"/>
            <a:ext cx="10972800" cy="1076325"/>
          </a:xfrm>
          <a:prstGeom prst="roundRect">
            <a:avLst>
              <a:gd name="adj" fmla="val 10619"/>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590800"/>
            <a:ext cx="5391150" cy="1152525"/>
          </a:xfrm>
          <a:prstGeom prst="roundRect">
            <a:avLst>
              <a:gd name="adj" fmla="val 1322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91250" y="2590800"/>
            <a:ext cx="5391150" cy="1152525"/>
          </a:xfrm>
          <a:prstGeom prst="roundRect">
            <a:avLst>
              <a:gd name="adj" fmla="val 1322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4048125"/>
            <a:ext cx="38100" cy="107632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838200" y="4257675"/>
            <a:ext cx="142875" cy="142875"/>
          </a:xfrm>
          <a:prstGeom prst="rect">
            <a:avLst/>
          </a:prstGeom>
        </p:spPr>
      </p:pic>
      <p:sp>
        <p:nvSpPr>
          <p:cNvPr id="7" name="TextBox 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2563EB"/>
                </a:solidFill>
                <a:latin typeface="Plus Jakarta Sans"/>
              </a:rPr>
              <a:t>AÇIKLAYICI ÖRNEK</a:t>
            </a:r>
          </a:p>
        </p:txBody>
      </p:sp>
      <p:sp>
        <p:nvSpPr>
          <p:cNvPr id="8" name="TextBox 7"/>
          <p:cNvSpPr txBox="1"/>
          <p:nvPr/>
        </p:nvSpPr>
        <p:spPr>
          <a:xfrm>
            <a:off x="609600" y="704850"/>
            <a:ext cx="11582400" cy="381000"/>
          </a:xfrm>
          <a:prstGeom prst="rect">
            <a:avLst/>
          </a:prstGeom>
          <a:noFill/>
        </p:spPr>
        <p:txBody>
          <a:bodyPr wrap="none" lIns="0" rIns="0" tIns="0" bIns="0" anchor="t">
            <a:spAutoFit/>
          </a:bodyPr>
          <a:lstStyle/>
          <a:p>
            <a:pPr algn="l">
              <a:lnSpc>
                <a:spcPts val="3000"/>
              </a:lnSpc>
            </a:pPr>
            <a:r>
              <a:rPr b="1" sz="2400" i="0" u="none">
                <a:solidFill>
                  <a:srgbClr val="0F172A"/>
                </a:solidFill>
                <a:latin typeface="Plus Jakarta Sans"/>
              </a:rPr>
              <a:t>Doğa Bilimleri ve Sosyoloji Farkı</a:t>
            </a:r>
          </a:p>
        </p:txBody>
      </p:sp>
      <p:sp>
        <p:nvSpPr>
          <p:cNvPr id="9" name="TextBox 8"/>
          <p:cNvSpPr txBox="1"/>
          <p:nvPr/>
        </p:nvSpPr>
        <p:spPr>
          <a:xfrm>
            <a:off x="838200" y="4476750"/>
            <a:ext cx="10648950" cy="457200"/>
          </a:xfrm>
          <a:prstGeom prst="rect">
            <a:avLst/>
          </a:prstGeom>
          <a:noFill/>
        </p:spPr>
        <p:txBody>
          <a:bodyPr wrap="square" lIns="0" rIns="0" tIns="0" bIns="0" anchor="t">
            <a:spAutoFit/>
          </a:bodyPr>
          <a:lstStyle/>
          <a:p>
            <a:pPr algn="l">
              <a:lnSpc>
                <a:spcPts val="1800"/>
              </a:lnSpc>
            </a:pPr>
            <a:r>
              <a:rPr b="0" sz="1200" i="0" u="none">
                <a:solidFill>
                  <a:srgbClr val="1E3A8A"/>
                </a:solidFill>
                <a:latin typeface="Plus Jakarta Sans"/>
              </a:rPr>
              <a:t>Bir fizikçi elmanın düşüşünü incelerken elmanın yerçekimi hakkındaki "fikri" önemli değildir. Ancak bir sosyolog evlilik kurumunu incelerken, insanların "evlilik" hakkında sahip olduğu tüm gündelik inançları ve sağduyusal fikirleri hesaba katmak zorundadır.</a:t>
            </a:r>
          </a:p>
        </p:txBody>
      </p:sp>
      <p:sp>
        <p:nvSpPr>
          <p:cNvPr id="10" name="TextBox 9"/>
          <p:cNvSpPr txBox="1"/>
          <p:nvPr/>
        </p:nvSpPr>
        <p:spPr>
          <a:xfrm>
            <a:off x="885825" y="2867025"/>
            <a:ext cx="6350793" cy="200025"/>
          </a:xfrm>
          <a:prstGeom prst="rect">
            <a:avLst/>
          </a:prstGeom>
          <a:noFill/>
        </p:spPr>
        <p:txBody>
          <a:bodyPr wrap="none" lIns="0" rIns="0" tIns="0" bIns="0" anchor="t">
            <a:spAutoFit/>
          </a:bodyPr>
          <a:lstStyle/>
          <a:p>
            <a:pPr algn="l"/>
            <a:r>
              <a:rPr b="1" sz="1200" i="0" u="none">
                <a:solidFill>
                  <a:srgbClr val="0F172A"/>
                </a:solidFill>
                <a:latin typeface="Plus Jakarta Sans"/>
              </a:rPr>
              <a:t>Doğa Bilimleri</a:t>
            </a:r>
          </a:p>
        </p:txBody>
      </p:sp>
      <p:sp>
        <p:nvSpPr>
          <p:cNvPr id="11" name="TextBox 10"/>
          <p:cNvSpPr txBox="1"/>
          <p:nvPr/>
        </p:nvSpPr>
        <p:spPr>
          <a:xfrm>
            <a:off x="885825" y="3124200"/>
            <a:ext cx="4933950" cy="342900"/>
          </a:xfrm>
          <a:prstGeom prst="rect">
            <a:avLst/>
          </a:prstGeom>
          <a:noFill/>
        </p:spPr>
        <p:txBody>
          <a:bodyPr wrap="square" lIns="0" rIns="0" tIns="0" bIns="0" anchor="t">
            <a:spAutoFit/>
          </a:bodyPr>
          <a:lstStyle/>
          <a:p>
            <a:pPr algn="l"/>
            <a:r>
              <a:rPr b="0" sz="1050" i="0" u="none">
                <a:solidFill>
                  <a:srgbClr val="475569"/>
                </a:solidFill>
                <a:latin typeface="Plus Jakarta Sans"/>
              </a:rPr>
              <a:t>Doğa bilimlerinin sağduyuyla herhangi bir bağı yoktur. İnsanların gündelik deneyimleri doğa bilimlerini ilgilendirmez.</a:t>
            </a:r>
          </a:p>
        </p:txBody>
      </p:sp>
      <p:sp>
        <p:nvSpPr>
          <p:cNvPr id="12" name="TextBox 11"/>
          <p:cNvSpPr txBox="1"/>
          <p:nvPr/>
        </p:nvSpPr>
        <p:spPr>
          <a:xfrm>
            <a:off x="6467475" y="2867025"/>
            <a:ext cx="5724525" cy="200025"/>
          </a:xfrm>
          <a:prstGeom prst="rect">
            <a:avLst/>
          </a:prstGeom>
          <a:noFill/>
        </p:spPr>
        <p:txBody>
          <a:bodyPr wrap="none" lIns="0" rIns="0" tIns="0" bIns="0" anchor="t">
            <a:spAutoFit/>
          </a:bodyPr>
          <a:lstStyle/>
          <a:p>
            <a:pPr algn="l"/>
            <a:r>
              <a:rPr b="1" sz="1200" i="0" u="none">
                <a:solidFill>
                  <a:srgbClr val="0F172A"/>
                </a:solidFill>
                <a:latin typeface="Plus Jakarta Sans"/>
              </a:rPr>
              <a:t>Sosyoloji</a:t>
            </a:r>
          </a:p>
        </p:txBody>
      </p:sp>
      <p:sp>
        <p:nvSpPr>
          <p:cNvPr id="13" name="TextBox 12"/>
          <p:cNvSpPr txBox="1"/>
          <p:nvPr/>
        </p:nvSpPr>
        <p:spPr>
          <a:xfrm>
            <a:off x="6467475" y="3124200"/>
            <a:ext cx="4933950" cy="342900"/>
          </a:xfrm>
          <a:prstGeom prst="rect">
            <a:avLst/>
          </a:prstGeom>
          <a:noFill/>
        </p:spPr>
        <p:txBody>
          <a:bodyPr wrap="square" lIns="0" rIns="0" tIns="0" bIns="0" anchor="t">
            <a:spAutoFit/>
          </a:bodyPr>
          <a:lstStyle/>
          <a:p>
            <a:pPr algn="l"/>
            <a:r>
              <a:rPr b="0" sz="1050" i="0" u="none">
                <a:solidFill>
                  <a:srgbClr val="475569"/>
                </a:solidFill>
                <a:latin typeface="Plus Jakarta Sans"/>
              </a:rPr>
              <a:t>Sosyologlar toplumsal yapının parçasıdır; sağduyudan tamamen kopamazlar. Gerçeklik zaten anlam verilmiş bir yapıdır.</a:t>
            </a:r>
          </a:p>
        </p:txBody>
      </p:sp>
      <p:sp>
        <p:nvSpPr>
          <p:cNvPr id="14" name="TextBox 13"/>
          <p:cNvSpPr txBox="1"/>
          <p:nvPr/>
        </p:nvSpPr>
        <p:spPr>
          <a:xfrm>
            <a:off x="1057275" y="4238625"/>
            <a:ext cx="4071937" cy="180975"/>
          </a:xfrm>
          <a:prstGeom prst="rect">
            <a:avLst/>
          </a:prstGeom>
          <a:noFill/>
        </p:spPr>
        <p:txBody>
          <a:bodyPr wrap="none" lIns="0" rIns="0" tIns="0" bIns="0" anchor="t">
            <a:spAutoFit/>
          </a:bodyPr>
          <a:lstStyle/>
          <a:p>
            <a:pPr algn="l"/>
            <a:r>
              <a:rPr b="1" sz="1125" i="0" u="none">
                <a:solidFill>
                  <a:srgbClr val="1E40AF"/>
                </a:solidFill>
                <a:latin typeface="Plus Jakarta Sans"/>
              </a:rPr>
              <a:t>Öğrenciler İçin Basit Örnek: Yerçekimi vs. Evlilik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3062287"/>
            <a:ext cx="5372100" cy="1590675"/>
          </a:xfrm>
          <a:prstGeom prst="roundRect">
            <a:avLst>
              <a:gd name="adj" fmla="val 9580"/>
            </a:avLst>
          </a:prstGeom>
          <a:solidFill>
            <a:srgbClr val="FFF1F2"/>
          </a:solidFill>
          <a:ln w="9525">
            <a:solidFill>
              <a:srgbClr val="FE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10300" y="3062287"/>
            <a:ext cx="5372100" cy="1590675"/>
          </a:xfrm>
          <a:prstGeom prst="roundRect">
            <a:avLst>
              <a:gd name="adj" fmla="val 958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2563EB"/>
                </a:solidFill>
                <a:latin typeface="Plus Jakarta Sans"/>
              </a:rPr>
              <a:t>KARŞILAŞTIRMALI ÖZET</a:t>
            </a:r>
          </a:p>
        </p:txBody>
      </p:sp>
      <p:sp>
        <p:nvSpPr>
          <p:cNvPr id="5" name="TextBox 4"/>
          <p:cNvSpPr txBox="1"/>
          <p:nvPr/>
        </p:nvSpPr>
        <p:spPr>
          <a:xfrm>
            <a:off x="609600" y="704850"/>
            <a:ext cx="11582400" cy="381000"/>
          </a:xfrm>
          <a:prstGeom prst="rect">
            <a:avLst/>
          </a:prstGeom>
          <a:noFill/>
        </p:spPr>
        <p:txBody>
          <a:bodyPr wrap="none" lIns="0" rIns="0" tIns="0" bIns="0" anchor="t">
            <a:spAutoFit/>
          </a:bodyPr>
          <a:lstStyle/>
          <a:p>
            <a:pPr algn="l">
              <a:lnSpc>
                <a:spcPts val="3000"/>
              </a:lnSpc>
            </a:pPr>
            <a:r>
              <a:rPr b="1" sz="2400" i="0" u="none">
                <a:solidFill>
                  <a:srgbClr val="0F172A"/>
                </a:solidFill>
                <a:latin typeface="Plus Jakarta Sans"/>
              </a:rPr>
              <a:t>Sağduyunun Ötesinde Sosyoloji</a:t>
            </a:r>
          </a:p>
        </p:txBody>
      </p:sp>
      <p:sp>
        <p:nvSpPr>
          <p:cNvPr id="6" name="TextBox 5"/>
          <p:cNvSpPr txBox="1"/>
          <p:nvPr/>
        </p:nvSpPr>
        <p:spPr>
          <a:xfrm>
            <a:off x="885825" y="3338512"/>
            <a:ext cx="6325790" cy="219075"/>
          </a:xfrm>
          <a:prstGeom prst="rect">
            <a:avLst/>
          </a:prstGeom>
          <a:noFill/>
        </p:spPr>
        <p:txBody>
          <a:bodyPr wrap="none" lIns="0" rIns="0" tIns="0" bIns="0" anchor="t">
            <a:spAutoFit/>
          </a:bodyPr>
          <a:lstStyle/>
          <a:p>
            <a:pPr algn="l"/>
            <a:r>
              <a:rPr b="1" sz="1350" i="0" u="none">
                <a:solidFill>
                  <a:srgbClr val="9F1239"/>
                </a:solidFill>
                <a:latin typeface="Plus Jakarta Sans"/>
              </a:rPr>
              <a:t>Sağduyu</a:t>
            </a:r>
          </a:p>
        </p:txBody>
      </p:sp>
      <p:sp>
        <p:nvSpPr>
          <p:cNvPr id="7" name="TextBox 6"/>
          <p:cNvSpPr txBox="1"/>
          <p:nvPr/>
        </p:nvSpPr>
        <p:spPr>
          <a:xfrm>
            <a:off x="6486525" y="3338512"/>
            <a:ext cx="5705475" cy="219075"/>
          </a:xfrm>
          <a:prstGeom prst="rect">
            <a:avLst/>
          </a:prstGeom>
          <a:noFill/>
        </p:spPr>
        <p:txBody>
          <a:bodyPr wrap="none" lIns="0" rIns="0" tIns="0" bIns="0" anchor="t">
            <a:spAutoFit/>
          </a:bodyPr>
          <a:lstStyle/>
          <a:p>
            <a:pPr algn="l"/>
            <a:r>
              <a:rPr b="1" sz="1350" i="0" u="none">
                <a:solidFill>
                  <a:srgbClr val="166534"/>
                </a:solidFill>
                <a:latin typeface="Plus Jakarta Sans"/>
              </a:rPr>
              <a:t>Sosyoloji</a:t>
            </a:r>
          </a:p>
        </p:txBody>
      </p:sp>
      <p:sp>
        <p:nvSpPr>
          <p:cNvPr id="8" name="TextBox 7"/>
          <p:cNvSpPr txBox="1"/>
          <p:nvPr/>
        </p:nvSpPr>
        <p:spPr>
          <a:xfrm>
            <a:off x="885825" y="3671887"/>
            <a:ext cx="6024562" cy="171450"/>
          </a:xfrm>
          <a:prstGeom prst="rect">
            <a:avLst/>
          </a:prstGeom>
          <a:noFill/>
        </p:spPr>
        <p:txBody>
          <a:bodyPr wrap="none" lIns="0" rIns="0" tIns="0" bIns="0" anchor="t">
            <a:spAutoFit/>
          </a:bodyPr>
          <a:lstStyle/>
          <a:p>
            <a:pPr algn="l"/>
            <a:r>
              <a:rPr b="0" sz="1050" i="0" u="none">
                <a:solidFill>
                  <a:srgbClr val="881337"/>
                </a:solidFill>
                <a:latin typeface="Plus Jakarta Sans"/>
              </a:rPr>
              <a:t>• Düzensiz ve sistemsizdir.</a:t>
            </a:r>
          </a:p>
        </p:txBody>
      </p:sp>
      <p:sp>
        <p:nvSpPr>
          <p:cNvPr id="9" name="TextBox 8"/>
          <p:cNvSpPr txBox="1"/>
          <p:nvPr/>
        </p:nvSpPr>
        <p:spPr>
          <a:xfrm>
            <a:off x="885825" y="3938587"/>
            <a:ext cx="6024562" cy="171450"/>
          </a:xfrm>
          <a:prstGeom prst="rect">
            <a:avLst/>
          </a:prstGeom>
          <a:noFill/>
        </p:spPr>
        <p:txBody>
          <a:bodyPr wrap="none" lIns="0" rIns="0" tIns="0" bIns="0" anchor="t">
            <a:spAutoFit/>
          </a:bodyPr>
          <a:lstStyle/>
          <a:p>
            <a:pPr algn="l"/>
            <a:r>
              <a:rPr b="0" sz="1050" i="0" u="none">
                <a:solidFill>
                  <a:srgbClr val="881337"/>
                </a:solidFill>
                <a:latin typeface="Plus Jakarta Sans"/>
              </a:rPr>
              <a:t>• Sınırlı ve dar yaşam deneyimleriyle koşullanmıştır.</a:t>
            </a:r>
          </a:p>
        </p:txBody>
      </p:sp>
      <p:sp>
        <p:nvSpPr>
          <p:cNvPr id="10" name="TextBox 9"/>
          <p:cNvSpPr txBox="1"/>
          <p:nvPr/>
        </p:nvSpPr>
        <p:spPr>
          <a:xfrm>
            <a:off x="885825" y="4205287"/>
            <a:ext cx="6024562" cy="171450"/>
          </a:xfrm>
          <a:prstGeom prst="rect">
            <a:avLst/>
          </a:prstGeom>
          <a:noFill/>
        </p:spPr>
        <p:txBody>
          <a:bodyPr wrap="none" lIns="0" rIns="0" tIns="0" bIns="0" anchor="t">
            <a:spAutoFit/>
          </a:bodyPr>
          <a:lstStyle/>
          <a:p>
            <a:pPr algn="l"/>
            <a:r>
              <a:rPr b="0" sz="1050" i="0" u="none">
                <a:solidFill>
                  <a:srgbClr val="881337"/>
                </a:solidFill>
                <a:latin typeface="Plus Jakarta Sans"/>
              </a:rPr>
              <a:t>• Gerçekliği sadece bireylerin niyetlerinin sonucu olarak görür.</a:t>
            </a:r>
          </a:p>
        </p:txBody>
      </p:sp>
      <p:sp>
        <p:nvSpPr>
          <p:cNvPr id="11" name="TextBox 10"/>
          <p:cNvSpPr txBox="1"/>
          <p:nvPr/>
        </p:nvSpPr>
        <p:spPr>
          <a:xfrm>
            <a:off x="6486525" y="3671887"/>
            <a:ext cx="5705475" cy="171450"/>
          </a:xfrm>
          <a:prstGeom prst="rect">
            <a:avLst/>
          </a:prstGeom>
          <a:noFill/>
        </p:spPr>
        <p:txBody>
          <a:bodyPr wrap="none" lIns="0" rIns="0" tIns="0" bIns="0" anchor="t">
            <a:spAutoFit/>
          </a:bodyPr>
          <a:lstStyle/>
          <a:p>
            <a:pPr algn="l"/>
            <a:r>
              <a:rPr b="0" sz="1050" i="0" u="none">
                <a:solidFill>
                  <a:srgbClr val="14532D"/>
                </a:solidFill>
                <a:latin typeface="Plus Jakarta Sans"/>
              </a:rPr>
              <a:t>• Bilimseldir, sistemli prosedürleri izler.</a:t>
            </a:r>
          </a:p>
        </p:txBody>
      </p:sp>
      <p:sp>
        <p:nvSpPr>
          <p:cNvPr id="12" name="TextBox 11"/>
          <p:cNvSpPr txBox="1"/>
          <p:nvPr/>
        </p:nvSpPr>
        <p:spPr>
          <a:xfrm>
            <a:off x="6486525" y="3938587"/>
            <a:ext cx="5705475" cy="171450"/>
          </a:xfrm>
          <a:prstGeom prst="rect">
            <a:avLst/>
          </a:prstGeom>
          <a:noFill/>
        </p:spPr>
        <p:txBody>
          <a:bodyPr wrap="none" lIns="0" rIns="0" tIns="0" bIns="0" anchor="t">
            <a:spAutoFit/>
          </a:bodyPr>
          <a:lstStyle/>
          <a:p>
            <a:pPr algn="l"/>
            <a:r>
              <a:rPr b="0" sz="1050" i="0" u="none">
                <a:solidFill>
                  <a:srgbClr val="14532D"/>
                </a:solidFill>
                <a:latin typeface="Plus Jakarta Sans"/>
              </a:rPr>
              <a:t>• Daha geniş toplumsal/tarihsel ilişkiler ağını temel alır.</a:t>
            </a:r>
          </a:p>
        </p:txBody>
      </p:sp>
      <p:sp>
        <p:nvSpPr>
          <p:cNvPr id="13" name="TextBox 12"/>
          <p:cNvSpPr txBox="1"/>
          <p:nvPr/>
        </p:nvSpPr>
        <p:spPr>
          <a:xfrm>
            <a:off x="6486525" y="4205287"/>
            <a:ext cx="5705475" cy="171450"/>
          </a:xfrm>
          <a:prstGeom prst="rect">
            <a:avLst/>
          </a:prstGeom>
          <a:noFill/>
        </p:spPr>
        <p:txBody>
          <a:bodyPr wrap="none" lIns="0" rIns="0" tIns="0" bIns="0" anchor="t">
            <a:spAutoFit/>
          </a:bodyPr>
          <a:lstStyle/>
          <a:p>
            <a:pPr algn="l"/>
            <a:r>
              <a:rPr b="0" sz="1050" i="0" u="none">
                <a:solidFill>
                  <a:srgbClr val="14532D"/>
                </a:solidFill>
                <a:latin typeface="Plus Jakarta Sans"/>
              </a:rPr>
              <a:t>• Bireysel niyetlerin ötesinde bütüncül bir yaklaşım sunar.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910044" y="2633662"/>
            <a:ext cx="2371762" cy="171450"/>
          </a:xfrm>
          <a:prstGeom prst="rect">
            <a:avLst/>
          </a:prstGeom>
          <a:noFill/>
        </p:spPr>
        <p:txBody>
          <a:bodyPr wrap="none" lIns="0" rIns="0" tIns="0" bIns="0" anchor="t">
            <a:spAutoFit/>
          </a:bodyPr>
          <a:lstStyle/>
          <a:p>
            <a:pPr algn="ctr"/>
            <a:r>
              <a:rPr b="1" sz="1050" i="0" u="none">
                <a:solidFill>
                  <a:srgbClr val="60A5FA"/>
                </a:solidFill>
                <a:latin typeface="Plus Jakarta Sans"/>
              </a:rPr>
              <a:t>ÖZET VE DEĞERLENDIRME</a:t>
            </a:r>
          </a:p>
        </p:txBody>
      </p:sp>
      <p:sp>
        <p:nvSpPr>
          <p:cNvPr id="3" name="TextBox 2"/>
          <p:cNvSpPr txBox="1"/>
          <p:nvPr/>
        </p:nvSpPr>
        <p:spPr>
          <a:xfrm>
            <a:off x="1876722" y="2881312"/>
            <a:ext cx="8438554" cy="581025"/>
          </a:xfrm>
          <a:prstGeom prst="rect">
            <a:avLst/>
          </a:prstGeom>
          <a:noFill/>
        </p:spPr>
        <p:txBody>
          <a:bodyPr wrap="none" lIns="0" rIns="0" tIns="0" bIns="0" anchor="t">
            <a:spAutoFit/>
          </a:bodyPr>
          <a:lstStyle/>
          <a:p>
            <a:pPr algn="ctr"/>
            <a:r>
              <a:rPr b="1" sz="3600" i="0" u="none">
                <a:solidFill>
                  <a:srgbClr val="F8FAFC"/>
                </a:solidFill>
                <a:latin typeface="Plus Jakarta Sans"/>
              </a:rPr>
              <a:t>Sosyolojik Düşünmenin Gücü</a:t>
            </a:r>
          </a:p>
        </p:txBody>
      </p:sp>
      <p:sp>
        <p:nvSpPr>
          <p:cNvPr id="4" name="TextBox 3"/>
          <p:cNvSpPr txBox="1"/>
          <p:nvPr/>
        </p:nvSpPr>
        <p:spPr>
          <a:xfrm>
            <a:off x="2047875" y="3652837"/>
            <a:ext cx="8096250" cy="571500"/>
          </a:xfrm>
          <a:prstGeom prst="rect">
            <a:avLst/>
          </a:prstGeom>
          <a:noFill/>
        </p:spPr>
        <p:txBody>
          <a:bodyPr wrap="square" lIns="0" rIns="0" tIns="0" bIns="0" anchor="t">
            <a:spAutoFit/>
          </a:bodyPr>
          <a:lstStyle/>
          <a:p>
            <a:pPr algn="ctr">
              <a:lnSpc>
                <a:spcPts val="2250"/>
              </a:lnSpc>
            </a:pPr>
            <a:r>
              <a:rPr b="0" sz="1500" i="0" u="none">
                <a:solidFill>
                  <a:srgbClr val="94A3B8"/>
                </a:solidFill>
                <a:latin typeface="Plus Jakarta Sans"/>
              </a:rPr>
              <a:t>Sosyoloji, verilmiş kabul edilen sağduyusal dünyayı sorgulayarak bireyi geniş toplumsal ve tarihsel ağlar içinde kavramamızı sağlar.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