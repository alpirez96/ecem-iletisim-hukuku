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Plus Jakarta Sans"/>
      <p:regular r:id="rId21"/>
      <p:bold r:id="rId22"/>
      <p:italic r:id="rId23"/>
      <p:boldItalic r:id="rId24"/>
    </p:embeddedFont>
    <p:embeddedFont>
      <p:font typeface="Lora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lusJakartaSans-bold.fntdata"/><Relationship Id="rId21" Type="http://schemas.openxmlformats.org/officeDocument/2006/relationships/font" Target="fonts/PlusJakartaSans-regular.fntdata"/><Relationship Id="rId24" Type="http://schemas.openxmlformats.org/officeDocument/2006/relationships/font" Target="fonts/PlusJakartaSans-boldItalic.fntdata"/><Relationship Id="rId23" Type="http://schemas.openxmlformats.org/officeDocument/2006/relationships/font" Target="fonts/PlusJakarta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ora-bold.fntdata"/><Relationship Id="rId25" Type="http://schemas.openxmlformats.org/officeDocument/2006/relationships/font" Target="fonts/Lora-regular.fntdata"/><Relationship Id="rId28" Type="http://schemas.openxmlformats.org/officeDocument/2006/relationships/font" Target="fonts/Lora-boldItalic.fntdata"/><Relationship Id="rId27" Type="http://schemas.openxmlformats.org/officeDocument/2006/relationships/font" Target="fonts/Lora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3eb730c9a0431e5c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h3eb730c9a0431e5c_3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3eb730c9a0431e5c_3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h3eb730c9a0431e5c_3_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3eb730c9a0431e5c_3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h3eb730c9a0431e5c_3_1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3eb730c9a0431e5c_3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h3eb730c9a0431e5c_3_1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h3eb730c9a0431e5c_3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h3eb730c9a0431e5c_3_1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h3eb730c9a0431e5c_3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h3eb730c9a0431e5c_3_1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h3eb730c9a0431e5c_3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h3eb730c9a0431e5c_3_1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h3eb730c9a0431e5c_3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h3eb730c9a0431e5c_3_2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h3eb730c9a0431e5c_3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h3eb730c9a0431e5c_3_2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h3eb730c9a0431e5c_3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h3eb730c9a0431e5c_3_2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h3eb730c9a0431e5c_3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h3eb730c9a0431e5c_3_2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h3eb730c9a0431e5c_3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h3eb730c9a0431e5c_3_2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h3eb730c9a0431e5c_3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h3eb730c9a0431e5c_3_29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253" y="1628775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/>
          <p:nvPr/>
        </p:nvSpPr>
        <p:spPr>
          <a:xfrm>
            <a:off x="571500" y="3169592"/>
            <a:ext cx="5715000" cy="478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6"/>
          <p:cNvSpPr/>
          <p:nvPr/>
        </p:nvSpPr>
        <p:spPr>
          <a:xfrm>
            <a:off x="571500" y="3169592"/>
            <a:ext cx="5715000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6"/>
          <p:cNvSpPr/>
          <p:nvPr/>
        </p:nvSpPr>
        <p:spPr>
          <a:xfrm>
            <a:off x="2064544" y="3376761"/>
            <a:ext cx="7144" cy="271463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6"/>
          <p:cNvSpPr/>
          <p:nvPr/>
        </p:nvSpPr>
        <p:spPr>
          <a:xfrm>
            <a:off x="3564731" y="3376761"/>
            <a:ext cx="7144" cy="271463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6"/>
          <p:cNvSpPr txBox="1"/>
          <p:nvPr/>
        </p:nvSpPr>
        <p:spPr>
          <a:xfrm>
            <a:off x="571500" y="1795202"/>
            <a:ext cx="6197649" cy="4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3200" u="none" cap="none" strike="noStrike">
                <a:solidFill>
                  <a:srgbClr val="F8FAFC"/>
                </a:solidFill>
                <a:latin typeface="Lora"/>
                <a:ea typeface="Lora"/>
                <a:cs typeface="Lora"/>
                <a:sym typeface="Lora"/>
              </a:rPr>
              <a:t>Sosyal Bilimlerin Doğuşu</a:t>
            </a:r>
            <a:endParaRPr sz="1100"/>
          </a:p>
        </p:txBody>
      </p:sp>
      <p:sp>
        <p:nvSpPr>
          <p:cNvPr id="140" name="Google Shape;140;p26"/>
          <p:cNvSpPr txBox="1"/>
          <p:nvPr/>
        </p:nvSpPr>
        <p:spPr>
          <a:xfrm>
            <a:off x="571500" y="2426642"/>
            <a:ext cx="52149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11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19. yüzyılda doğa bilimleri hegemonyasından modern toplumu inceleyen kurumsallaşmış akademik disiplinlere.</a:t>
            </a:r>
            <a:endParaRPr sz="1100"/>
          </a:p>
        </p:txBody>
      </p:sp>
      <p:sp>
        <p:nvSpPr>
          <p:cNvPr id="141" name="Google Shape;141;p26"/>
          <p:cNvSpPr txBox="1"/>
          <p:nvPr/>
        </p:nvSpPr>
        <p:spPr>
          <a:xfrm>
            <a:off x="885825" y="1495164"/>
            <a:ext cx="3018234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800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EPISTEMOLOJIK VE TARIHSEL TEMELLER</a:t>
            </a:r>
            <a:endParaRPr sz="1100"/>
          </a:p>
        </p:txBody>
      </p:sp>
      <p:sp>
        <p:nvSpPr>
          <p:cNvPr id="142" name="Google Shape;142;p26"/>
          <p:cNvSpPr txBox="1"/>
          <p:nvPr/>
        </p:nvSpPr>
        <p:spPr>
          <a:xfrm>
            <a:off x="571500" y="3376761"/>
            <a:ext cx="1580554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7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 TEMA</a:t>
            </a:r>
            <a:endParaRPr sz="1100"/>
          </a:p>
        </p:txBody>
      </p:sp>
      <p:sp>
        <p:nvSpPr>
          <p:cNvPr id="143" name="Google Shape;143;p26"/>
          <p:cNvSpPr txBox="1"/>
          <p:nvPr/>
        </p:nvSpPr>
        <p:spPr>
          <a:xfrm>
            <a:off x="571500" y="3512492"/>
            <a:ext cx="158055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8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Bilginin Kurumsallaşması</a:t>
            </a:r>
            <a:endParaRPr sz="1100"/>
          </a:p>
        </p:txBody>
      </p:sp>
      <p:sp>
        <p:nvSpPr>
          <p:cNvPr id="144" name="Google Shape;144;p26"/>
          <p:cNvSpPr txBox="1"/>
          <p:nvPr/>
        </p:nvSpPr>
        <p:spPr>
          <a:xfrm>
            <a:off x="2300288" y="3376761"/>
            <a:ext cx="1294804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7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TARIHSEL ÇERÇEVE</a:t>
            </a:r>
            <a:endParaRPr sz="1100"/>
          </a:p>
        </p:txBody>
      </p:sp>
      <p:sp>
        <p:nvSpPr>
          <p:cNvPr id="145" name="Google Shape;145;p26"/>
          <p:cNvSpPr txBox="1"/>
          <p:nvPr/>
        </p:nvSpPr>
        <p:spPr>
          <a:xfrm>
            <a:off x="2300288" y="3512492"/>
            <a:ext cx="129480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8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19. Yüzyıl Dönüşümü</a:t>
            </a:r>
            <a:endParaRPr sz="1100"/>
          </a:p>
        </p:txBody>
      </p:sp>
      <p:sp>
        <p:nvSpPr>
          <p:cNvPr id="146" name="Google Shape;146;p26"/>
          <p:cNvSpPr txBox="1"/>
          <p:nvPr/>
        </p:nvSpPr>
        <p:spPr>
          <a:xfrm>
            <a:off x="3800475" y="3376761"/>
            <a:ext cx="138410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7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REFERANS DÜŞÜNÜR</a:t>
            </a:r>
            <a:endParaRPr sz="1100"/>
          </a:p>
        </p:txBody>
      </p:sp>
      <p:sp>
        <p:nvSpPr>
          <p:cNvPr id="147" name="Google Shape;147;p26"/>
          <p:cNvSpPr txBox="1"/>
          <p:nvPr/>
        </p:nvSpPr>
        <p:spPr>
          <a:xfrm>
            <a:off x="3800475" y="3512492"/>
            <a:ext cx="138410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8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Immanuel Wallerstein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/>
          <p:nvPr/>
        </p:nvSpPr>
        <p:spPr>
          <a:xfrm>
            <a:off x="457200" y="1668065"/>
            <a:ext cx="8229600" cy="421481"/>
          </a:xfrm>
          <a:prstGeom prst="roundRect">
            <a:avLst>
              <a:gd fmla="val 2033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7"/>
          <p:cNvSpPr/>
          <p:nvPr/>
        </p:nvSpPr>
        <p:spPr>
          <a:xfrm>
            <a:off x="457200" y="2189559"/>
            <a:ext cx="8229600" cy="421481"/>
          </a:xfrm>
          <a:prstGeom prst="roundRect">
            <a:avLst>
              <a:gd fmla="val 2033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7"/>
          <p:cNvSpPr/>
          <p:nvPr/>
        </p:nvSpPr>
        <p:spPr>
          <a:xfrm>
            <a:off x="457200" y="2711053"/>
            <a:ext cx="8229600" cy="421481"/>
          </a:xfrm>
          <a:prstGeom prst="roundRect">
            <a:avLst>
              <a:gd fmla="val 2033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7"/>
          <p:cNvSpPr/>
          <p:nvPr/>
        </p:nvSpPr>
        <p:spPr>
          <a:xfrm>
            <a:off x="457200" y="3232547"/>
            <a:ext cx="8229600" cy="421481"/>
          </a:xfrm>
          <a:prstGeom prst="roundRect">
            <a:avLst>
              <a:gd fmla="val 2033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7"/>
          <p:cNvSpPr/>
          <p:nvPr/>
        </p:nvSpPr>
        <p:spPr>
          <a:xfrm>
            <a:off x="457200" y="3754040"/>
            <a:ext cx="8229600" cy="421481"/>
          </a:xfrm>
          <a:prstGeom prst="roundRect">
            <a:avLst>
              <a:gd fmla="val 2033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7"/>
          <p:cNvSpPr/>
          <p:nvPr/>
        </p:nvSpPr>
        <p:spPr>
          <a:xfrm>
            <a:off x="457200" y="1668065"/>
            <a:ext cx="28575" cy="42148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7"/>
          <p:cNvSpPr/>
          <p:nvPr/>
        </p:nvSpPr>
        <p:spPr>
          <a:xfrm>
            <a:off x="457200" y="2189559"/>
            <a:ext cx="28575" cy="42148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7"/>
          <p:cNvSpPr/>
          <p:nvPr/>
        </p:nvSpPr>
        <p:spPr>
          <a:xfrm>
            <a:off x="457200" y="2711053"/>
            <a:ext cx="28575" cy="42148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7"/>
          <p:cNvSpPr/>
          <p:nvPr/>
        </p:nvSpPr>
        <p:spPr>
          <a:xfrm>
            <a:off x="457200" y="3232547"/>
            <a:ext cx="28575" cy="42148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7"/>
          <p:cNvSpPr/>
          <p:nvPr/>
        </p:nvSpPr>
        <p:spPr>
          <a:xfrm>
            <a:off x="457200" y="3754040"/>
            <a:ext cx="28575" cy="42148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7"/>
          <p:cNvSpPr txBox="1"/>
          <p:nvPr/>
        </p:nvSpPr>
        <p:spPr>
          <a:xfrm>
            <a:off x="457200" y="342900"/>
            <a:ext cx="86868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8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BILIMSELLIK KRITERLERI</a:t>
            </a:r>
            <a:endParaRPr sz="1100"/>
          </a:p>
        </p:txBody>
      </p:sp>
      <p:sp>
        <p:nvSpPr>
          <p:cNvPr id="163" name="Google Shape;163;p27"/>
          <p:cNvSpPr txBox="1"/>
          <p:nvPr/>
        </p:nvSpPr>
        <p:spPr>
          <a:xfrm>
            <a:off x="457200" y="514350"/>
            <a:ext cx="868680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20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Bir Bilgiyi Bilim Yapan Nedir?</a:t>
            </a:r>
            <a:endParaRPr sz="1100"/>
          </a:p>
        </p:txBody>
      </p:sp>
      <p:sp>
        <p:nvSpPr>
          <p:cNvPr id="164" name="Google Shape;164;p27"/>
          <p:cNvSpPr txBox="1"/>
          <p:nvPr/>
        </p:nvSpPr>
        <p:spPr>
          <a:xfrm>
            <a:off x="657225" y="1796653"/>
            <a:ext cx="1785937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10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Sistematiklik</a:t>
            </a:r>
            <a:endParaRPr sz="1100"/>
          </a:p>
        </p:txBody>
      </p:sp>
      <p:sp>
        <p:nvSpPr>
          <p:cNvPr id="165" name="Google Shape;165;p27"/>
          <p:cNvSpPr txBox="1"/>
          <p:nvPr/>
        </p:nvSpPr>
        <p:spPr>
          <a:xfrm>
            <a:off x="2085975" y="1810940"/>
            <a:ext cx="550961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Rastlantısal gözlemlerden değil, düzenli ve izlenebilir bir araştırma sürecinden üretilmesi.</a:t>
            </a:r>
            <a:endParaRPr sz="1100"/>
          </a:p>
        </p:txBody>
      </p:sp>
      <p:sp>
        <p:nvSpPr>
          <p:cNvPr id="166" name="Google Shape;166;p27"/>
          <p:cNvSpPr txBox="1"/>
          <p:nvPr/>
        </p:nvSpPr>
        <p:spPr>
          <a:xfrm>
            <a:off x="657225" y="2318147"/>
            <a:ext cx="1785937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10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Ampirik Dayanak</a:t>
            </a:r>
            <a:endParaRPr sz="1100"/>
          </a:p>
        </p:txBody>
      </p:sp>
      <p:sp>
        <p:nvSpPr>
          <p:cNvPr id="167" name="Google Shape;167;p27"/>
          <p:cNvSpPr txBox="1"/>
          <p:nvPr/>
        </p:nvSpPr>
        <p:spPr>
          <a:xfrm>
            <a:off x="2085975" y="2332434"/>
            <a:ext cx="494704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İddiaların gözlem, veri, belge veya somut deneyimsel kanıtlarla ilişkilendirilmesi.</a:t>
            </a:r>
            <a:endParaRPr sz="1100"/>
          </a:p>
        </p:txBody>
      </p:sp>
      <p:sp>
        <p:nvSpPr>
          <p:cNvPr id="168" name="Google Shape;168;p27"/>
          <p:cNvSpPr txBox="1"/>
          <p:nvPr/>
        </p:nvSpPr>
        <p:spPr>
          <a:xfrm>
            <a:off x="657225" y="2839640"/>
            <a:ext cx="1785937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10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Yöntemsel Açıklık</a:t>
            </a:r>
            <a:endParaRPr sz="1100"/>
          </a:p>
        </p:txBody>
      </p:sp>
      <p:sp>
        <p:nvSpPr>
          <p:cNvPr id="169" name="Google Shape;169;p27"/>
          <p:cNvSpPr txBox="1"/>
          <p:nvPr/>
        </p:nvSpPr>
        <p:spPr>
          <a:xfrm>
            <a:off x="2085975" y="2853928"/>
            <a:ext cx="425946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Kullanılan kavramların, yöntemlerin ve ölçütlerin şeffafça sunulması.</a:t>
            </a:r>
            <a:endParaRPr sz="1100"/>
          </a:p>
        </p:txBody>
      </p:sp>
      <p:sp>
        <p:nvSpPr>
          <p:cNvPr id="170" name="Google Shape;170;p27"/>
          <p:cNvSpPr txBox="1"/>
          <p:nvPr/>
        </p:nvSpPr>
        <p:spPr>
          <a:xfrm>
            <a:off x="657225" y="3361134"/>
            <a:ext cx="1785937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10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Nesnellik</a:t>
            </a:r>
            <a:endParaRPr sz="1100"/>
          </a:p>
        </p:txBody>
      </p:sp>
      <p:sp>
        <p:nvSpPr>
          <p:cNvPr id="171" name="Google Shape;171;p27"/>
          <p:cNvSpPr txBox="1"/>
          <p:nvPr/>
        </p:nvSpPr>
        <p:spPr>
          <a:xfrm>
            <a:off x="2085975" y="3375422"/>
            <a:ext cx="471487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Bulguların kişisel kanılara değil, sınanabilir öznelerarası kanıtlara dayanması.</a:t>
            </a:r>
            <a:endParaRPr sz="1100"/>
          </a:p>
        </p:txBody>
      </p:sp>
      <p:sp>
        <p:nvSpPr>
          <p:cNvPr id="172" name="Google Shape;172;p27"/>
          <p:cNvSpPr txBox="1"/>
          <p:nvPr/>
        </p:nvSpPr>
        <p:spPr>
          <a:xfrm>
            <a:off x="657225" y="3882628"/>
            <a:ext cx="1785937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10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 Genelleme</a:t>
            </a:r>
            <a:endParaRPr sz="1100"/>
          </a:p>
        </p:txBody>
      </p:sp>
      <p:sp>
        <p:nvSpPr>
          <p:cNvPr id="173" name="Google Shape;173;p27"/>
          <p:cNvSpPr txBox="1"/>
          <p:nvPr/>
        </p:nvSpPr>
        <p:spPr>
          <a:xfrm>
            <a:off x="2085975" y="3896915"/>
            <a:ext cx="446484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Tekil bulguların ötesine geçerek nedensel ilişkileri ve kalıpları açıklaması.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/>
          <p:nvPr/>
        </p:nvSpPr>
        <p:spPr>
          <a:xfrm>
            <a:off x="457200" y="1489472"/>
            <a:ext cx="3971925" cy="921544"/>
          </a:xfrm>
          <a:prstGeom prst="roundRect">
            <a:avLst>
              <a:gd fmla="val 930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8"/>
          <p:cNvSpPr/>
          <p:nvPr/>
        </p:nvSpPr>
        <p:spPr>
          <a:xfrm>
            <a:off x="457200" y="2553890"/>
            <a:ext cx="3971925" cy="921544"/>
          </a:xfrm>
          <a:prstGeom prst="roundRect">
            <a:avLst>
              <a:gd fmla="val 930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8"/>
          <p:cNvSpPr/>
          <p:nvPr/>
        </p:nvSpPr>
        <p:spPr>
          <a:xfrm>
            <a:off x="457200" y="3618309"/>
            <a:ext cx="3971925" cy="735806"/>
          </a:xfrm>
          <a:prstGeom prst="roundRect">
            <a:avLst>
              <a:gd fmla="val 3883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8"/>
          <p:cNvSpPr/>
          <p:nvPr/>
        </p:nvSpPr>
        <p:spPr>
          <a:xfrm>
            <a:off x="457200" y="3618309"/>
            <a:ext cx="28575" cy="73580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2" name="Google Shape;18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4875" y="1350169"/>
            <a:ext cx="3971925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8"/>
          <p:cNvSpPr txBox="1"/>
          <p:nvPr/>
        </p:nvSpPr>
        <p:spPr>
          <a:xfrm>
            <a:off x="457200" y="342900"/>
            <a:ext cx="86868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8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19. YÜZYIL EPISTEMOLOJISI</a:t>
            </a:r>
            <a:endParaRPr sz="1100"/>
          </a:p>
        </p:txBody>
      </p:sp>
      <p:sp>
        <p:nvSpPr>
          <p:cNvPr id="184" name="Google Shape;184;p28"/>
          <p:cNvSpPr txBox="1"/>
          <p:nvPr/>
        </p:nvSpPr>
        <p:spPr>
          <a:xfrm>
            <a:off x="457200" y="514350"/>
            <a:ext cx="868680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20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Bilim = Doğa Bilimleri</a:t>
            </a:r>
            <a:endParaRPr sz="1100"/>
          </a:p>
        </p:txBody>
      </p:sp>
      <p:sp>
        <p:nvSpPr>
          <p:cNvPr id="185" name="Google Shape;185;p28"/>
          <p:cNvSpPr txBox="1"/>
          <p:nvPr/>
        </p:nvSpPr>
        <p:spPr>
          <a:xfrm>
            <a:off x="635794" y="1668065"/>
            <a:ext cx="4744342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1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Tek Meşru Bilgi Modeli</a:t>
            </a:r>
            <a:endParaRPr sz="1100"/>
          </a:p>
        </p:txBody>
      </p:sp>
      <p:sp>
        <p:nvSpPr>
          <p:cNvPr id="186" name="Google Shape;186;p28"/>
          <p:cNvSpPr txBox="1"/>
          <p:nvPr/>
        </p:nvSpPr>
        <p:spPr>
          <a:xfrm>
            <a:off x="635794" y="1889522"/>
            <a:ext cx="36861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19. yüzyıla gelindiğinde "bilim", dünyayı anlamanın ve meşru bilgi üretmenin tek geçerli yolu haline gelmiştir.</a:t>
            </a:r>
            <a:endParaRPr sz="1100"/>
          </a:p>
        </p:txBody>
      </p:sp>
      <p:sp>
        <p:nvSpPr>
          <p:cNvPr id="187" name="Google Shape;187;p28"/>
          <p:cNvSpPr txBox="1"/>
          <p:nvPr/>
        </p:nvSpPr>
        <p:spPr>
          <a:xfrm>
            <a:off x="635794" y="2732484"/>
            <a:ext cx="4744342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1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Ampirik Doğa Bilimleri</a:t>
            </a:r>
            <a:endParaRPr sz="1100"/>
          </a:p>
        </p:txBody>
      </p:sp>
      <p:sp>
        <p:nvSpPr>
          <p:cNvPr id="188" name="Google Shape;188;p28"/>
          <p:cNvSpPr txBox="1"/>
          <p:nvPr/>
        </p:nvSpPr>
        <p:spPr>
          <a:xfrm>
            <a:off x="635794" y="2953940"/>
            <a:ext cx="36861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Fizik, kimya ve biyoloji ile somutlaşmış; doğanın evrensel yasalarını ampirik yöntemlerle ortaya çıkarmayı hedeflemiştir.</a:t>
            </a:r>
            <a:endParaRPr sz="1100"/>
          </a:p>
        </p:txBody>
      </p:sp>
      <p:sp>
        <p:nvSpPr>
          <p:cNvPr id="189" name="Google Shape;189;p28"/>
          <p:cNvSpPr txBox="1"/>
          <p:nvPr/>
        </p:nvSpPr>
        <p:spPr>
          <a:xfrm>
            <a:off x="657225" y="3761184"/>
            <a:ext cx="472559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900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Temel Varsayım</a:t>
            </a:r>
            <a:endParaRPr sz="1100"/>
          </a:p>
        </p:txBody>
      </p:sp>
      <p:sp>
        <p:nvSpPr>
          <p:cNvPr id="190" name="Google Shape;190;p28"/>
          <p:cNvSpPr txBox="1"/>
          <p:nvPr/>
        </p:nvSpPr>
        <p:spPr>
          <a:xfrm>
            <a:off x="657225" y="3939778"/>
            <a:ext cx="3671888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80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Dışarıda nesnel bir gerçeklik vardır ve buna deneysel, objektif yöntemlerle ulaşılabilir.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/>
          <p:nvPr/>
        </p:nvSpPr>
        <p:spPr>
          <a:xfrm>
            <a:off x="457200" y="1953815"/>
            <a:ext cx="8229600" cy="1071563"/>
          </a:xfrm>
          <a:prstGeom prst="roundRect">
            <a:avLst>
              <a:gd fmla="val 533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9"/>
          <p:cNvSpPr/>
          <p:nvPr/>
        </p:nvSpPr>
        <p:spPr>
          <a:xfrm>
            <a:off x="457200" y="1953815"/>
            <a:ext cx="28575" cy="1071563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9"/>
          <p:cNvSpPr/>
          <p:nvPr/>
        </p:nvSpPr>
        <p:spPr>
          <a:xfrm>
            <a:off x="457200" y="3225403"/>
            <a:ext cx="1554435" cy="664369"/>
          </a:xfrm>
          <a:prstGeom prst="roundRect">
            <a:avLst>
              <a:gd fmla="val 12903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9"/>
          <p:cNvSpPr/>
          <p:nvPr/>
        </p:nvSpPr>
        <p:spPr>
          <a:xfrm>
            <a:off x="2125935" y="3225403"/>
            <a:ext cx="1554435" cy="664369"/>
          </a:xfrm>
          <a:prstGeom prst="roundRect">
            <a:avLst>
              <a:gd fmla="val 12903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9"/>
          <p:cNvSpPr/>
          <p:nvPr/>
        </p:nvSpPr>
        <p:spPr>
          <a:xfrm>
            <a:off x="3794670" y="3225403"/>
            <a:ext cx="1554435" cy="664369"/>
          </a:xfrm>
          <a:prstGeom prst="roundRect">
            <a:avLst>
              <a:gd fmla="val 12903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9"/>
          <p:cNvSpPr/>
          <p:nvPr/>
        </p:nvSpPr>
        <p:spPr>
          <a:xfrm>
            <a:off x="5463406" y="3225403"/>
            <a:ext cx="1554435" cy="664369"/>
          </a:xfrm>
          <a:prstGeom prst="roundRect">
            <a:avLst>
              <a:gd fmla="val 12903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9"/>
          <p:cNvSpPr/>
          <p:nvPr/>
        </p:nvSpPr>
        <p:spPr>
          <a:xfrm>
            <a:off x="7132141" y="3225403"/>
            <a:ext cx="1554435" cy="664369"/>
          </a:xfrm>
          <a:prstGeom prst="roundRect">
            <a:avLst>
              <a:gd fmla="val 12903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2" name="Google Shape;20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8693" y="3368278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7427" y="3368278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64732" y="3368278"/>
            <a:ext cx="214313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65614" y="3368278"/>
            <a:ext cx="150019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23634" y="336827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9"/>
          <p:cNvSpPr txBox="1"/>
          <p:nvPr/>
        </p:nvSpPr>
        <p:spPr>
          <a:xfrm>
            <a:off x="457200" y="342900"/>
            <a:ext cx="86868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8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KURUMSAL TEMELLER</a:t>
            </a:r>
            <a:endParaRPr sz="1100"/>
          </a:p>
        </p:txBody>
      </p:sp>
      <p:sp>
        <p:nvSpPr>
          <p:cNvPr id="208" name="Google Shape;208;p29"/>
          <p:cNvSpPr txBox="1"/>
          <p:nvPr/>
        </p:nvSpPr>
        <p:spPr>
          <a:xfrm>
            <a:off x="457200" y="514350"/>
            <a:ext cx="868680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20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Sosyal Bilimlerin Doğuşu</a:t>
            </a:r>
            <a:endParaRPr sz="1100"/>
          </a:p>
        </p:txBody>
      </p:sp>
      <p:sp>
        <p:nvSpPr>
          <p:cNvPr id="209" name="Google Shape;209;p29"/>
          <p:cNvSpPr txBox="1"/>
          <p:nvPr/>
        </p:nvSpPr>
        <p:spPr>
          <a:xfrm>
            <a:off x="714375" y="2153840"/>
            <a:ext cx="78152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tr" sz="1100" u="none" cap="none" strike="noStrike">
                <a:solidFill>
                  <a:srgbClr val="334155"/>
                </a:solidFill>
                <a:latin typeface="Lora"/>
                <a:ea typeface="Lora"/>
                <a:cs typeface="Lora"/>
                <a:sym typeface="Lora"/>
              </a:rPr>
              <a:t>"Sosyal bilimlerin değişik disiplinleri, 19. yüzyılda 'gerçeklik' hakkında ampirik bulgulara dayalı 'nesnel' bilgi elde edilmesini sağlamak için harcanan genel çabaların bir parçası olarak yaratıldı."</a:t>
            </a:r>
            <a:endParaRPr sz="1100"/>
          </a:p>
        </p:txBody>
      </p:sp>
      <p:sp>
        <p:nvSpPr>
          <p:cNvPr id="210" name="Google Shape;210;p29"/>
          <p:cNvSpPr txBox="1"/>
          <p:nvPr/>
        </p:nvSpPr>
        <p:spPr>
          <a:xfrm>
            <a:off x="714375" y="2696765"/>
            <a:ext cx="8429625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800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— IMMANUEL WALLERSTEIN (SOSYAL BILIMLERI AÇIN)</a:t>
            </a:r>
            <a:endParaRPr sz="1100"/>
          </a:p>
        </p:txBody>
      </p:sp>
      <p:sp>
        <p:nvSpPr>
          <p:cNvPr id="211" name="Google Shape;211;p29"/>
          <p:cNvSpPr txBox="1"/>
          <p:nvPr/>
        </p:nvSpPr>
        <p:spPr>
          <a:xfrm>
            <a:off x="401842" y="3596878"/>
            <a:ext cx="1665149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Siyaset Bilimi</a:t>
            </a:r>
            <a:endParaRPr sz="1100"/>
          </a:p>
        </p:txBody>
      </p:sp>
      <p:sp>
        <p:nvSpPr>
          <p:cNvPr id="212" name="Google Shape;212;p29"/>
          <p:cNvSpPr txBox="1"/>
          <p:nvPr/>
        </p:nvSpPr>
        <p:spPr>
          <a:xfrm>
            <a:off x="2070578" y="3596878"/>
            <a:ext cx="1665149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Ekonomi</a:t>
            </a:r>
            <a:endParaRPr sz="1100"/>
          </a:p>
        </p:txBody>
      </p:sp>
      <p:sp>
        <p:nvSpPr>
          <p:cNvPr id="213" name="Google Shape;213;p29"/>
          <p:cNvSpPr txBox="1"/>
          <p:nvPr/>
        </p:nvSpPr>
        <p:spPr>
          <a:xfrm>
            <a:off x="3739313" y="3596878"/>
            <a:ext cx="1665149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Sosyoloji</a:t>
            </a:r>
            <a:endParaRPr sz="1100"/>
          </a:p>
        </p:txBody>
      </p:sp>
      <p:sp>
        <p:nvSpPr>
          <p:cNvPr id="214" name="Google Shape;214;p29"/>
          <p:cNvSpPr txBox="1"/>
          <p:nvPr/>
        </p:nvSpPr>
        <p:spPr>
          <a:xfrm>
            <a:off x="5408048" y="3596878"/>
            <a:ext cx="1665149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Tarih</a:t>
            </a:r>
            <a:endParaRPr sz="1100"/>
          </a:p>
        </p:txBody>
      </p:sp>
      <p:sp>
        <p:nvSpPr>
          <p:cNvPr id="215" name="Google Shape;215;p29"/>
          <p:cNvSpPr txBox="1"/>
          <p:nvPr/>
        </p:nvSpPr>
        <p:spPr>
          <a:xfrm>
            <a:off x="7076784" y="3596878"/>
            <a:ext cx="1665149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Antropoloji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/>
          <p:nvPr/>
        </p:nvSpPr>
        <p:spPr>
          <a:xfrm>
            <a:off x="457200" y="1489472"/>
            <a:ext cx="3971925" cy="921544"/>
          </a:xfrm>
          <a:prstGeom prst="roundRect">
            <a:avLst>
              <a:gd fmla="val 930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0"/>
          <p:cNvSpPr/>
          <p:nvPr/>
        </p:nvSpPr>
        <p:spPr>
          <a:xfrm>
            <a:off x="457200" y="2553890"/>
            <a:ext cx="3971925" cy="921544"/>
          </a:xfrm>
          <a:prstGeom prst="roundRect">
            <a:avLst>
              <a:gd fmla="val 930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0"/>
          <p:cNvSpPr/>
          <p:nvPr/>
        </p:nvSpPr>
        <p:spPr>
          <a:xfrm>
            <a:off x="457200" y="3618309"/>
            <a:ext cx="3971925" cy="735806"/>
          </a:xfrm>
          <a:prstGeom prst="roundRect">
            <a:avLst>
              <a:gd fmla="val 3883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457200" y="3618309"/>
            <a:ext cx="28575" cy="73580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4" name="Google Shape;22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4875" y="1350169"/>
            <a:ext cx="3971925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0"/>
          <p:cNvSpPr txBox="1"/>
          <p:nvPr/>
        </p:nvSpPr>
        <p:spPr>
          <a:xfrm>
            <a:off x="457200" y="342900"/>
            <a:ext cx="86868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8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TARIHSEL KATALIZÖR</a:t>
            </a:r>
            <a:endParaRPr sz="1100"/>
          </a:p>
        </p:txBody>
      </p:sp>
      <p:sp>
        <p:nvSpPr>
          <p:cNvPr id="226" name="Google Shape;226;p30"/>
          <p:cNvSpPr txBox="1"/>
          <p:nvPr/>
        </p:nvSpPr>
        <p:spPr>
          <a:xfrm>
            <a:off x="457200" y="514350"/>
            <a:ext cx="868680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20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Fransız Devrimi'nin Etkisi</a:t>
            </a:r>
            <a:endParaRPr sz="1100"/>
          </a:p>
        </p:txBody>
      </p:sp>
      <p:sp>
        <p:nvSpPr>
          <p:cNvPr id="227" name="Google Shape;227;p30"/>
          <p:cNvSpPr txBox="1"/>
          <p:nvPr/>
        </p:nvSpPr>
        <p:spPr>
          <a:xfrm>
            <a:off x="635794" y="1668065"/>
            <a:ext cx="4744342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1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Değişimin Meşruiyeti</a:t>
            </a:r>
            <a:endParaRPr sz="1100"/>
          </a:p>
        </p:txBody>
      </p:sp>
      <p:sp>
        <p:nvSpPr>
          <p:cNvPr id="228" name="Google Shape;228;p30"/>
          <p:cNvSpPr txBox="1"/>
          <p:nvPr/>
        </p:nvSpPr>
        <p:spPr>
          <a:xfrm>
            <a:off x="635794" y="1889522"/>
            <a:ext cx="36861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Fransız Devrimi, toplumsal ve siyasal değişimi bir istisna değil, meşru bir gerçeklik olarak kabul ettirdi.</a:t>
            </a:r>
            <a:endParaRPr sz="1100"/>
          </a:p>
        </p:txBody>
      </p:sp>
      <p:sp>
        <p:nvSpPr>
          <p:cNvPr id="229" name="Google Shape;229;p30"/>
          <p:cNvSpPr txBox="1"/>
          <p:nvPr/>
        </p:nvSpPr>
        <p:spPr>
          <a:xfrm>
            <a:off x="635794" y="2732484"/>
            <a:ext cx="4744342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1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Halk Egemenliği Normu</a:t>
            </a:r>
            <a:endParaRPr sz="1100"/>
          </a:p>
        </p:txBody>
      </p:sp>
      <p:sp>
        <p:nvSpPr>
          <p:cNvPr id="230" name="Google Shape;230;p30"/>
          <p:cNvSpPr txBox="1"/>
          <p:nvPr/>
        </p:nvSpPr>
        <p:spPr>
          <a:xfrm>
            <a:off x="635794" y="2953940"/>
            <a:ext cx="36861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"Halk" temel siyasal norm haline gelince, toplumsal değişimi geçici bir düzensizlik saymak imkânsızlaştı.</a:t>
            </a:r>
            <a:endParaRPr sz="1100"/>
          </a:p>
        </p:txBody>
      </p:sp>
      <p:sp>
        <p:nvSpPr>
          <p:cNvPr id="231" name="Google Shape;231;p30"/>
          <p:cNvSpPr txBox="1"/>
          <p:nvPr/>
        </p:nvSpPr>
        <p:spPr>
          <a:xfrm>
            <a:off x="657225" y="3761184"/>
            <a:ext cx="472559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900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Temel Soru</a:t>
            </a:r>
            <a:endParaRPr sz="1100"/>
          </a:p>
        </p:txBody>
      </p:sp>
      <p:sp>
        <p:nvSpPr>
          <p:cNvPr id="232" name="Google Shape;232;p30"/>
          <p:cNvSpPr txBox="1"/>
          <p:nvPr/>
        </p:nvSpPr>
        <p:spPr>
          <a:xfrm>
            <a:off x="657225" y="3939778"/>
            <a:ext cx="3671888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80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"Toplumsal değişim kaçınılmazsa, onu nasıl anlayacak, örgütleyecek ve rasyonelleştireceğiz?"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/>
          <p:nvPr/>
        </p:nvSpPr>
        <p:spPr>
          <a:xfrm>
            <a:off x="457200" y="1042988"/>
            <a:ext cx="4000500" cy="3757613"/>
          </a:xfrm>
          <a:prstGeom prst="roundRect">
            <a:avLst>
              <a:gd fmla="val 304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1"/>
          <p:cNvSpPr/>
          <p:nvPr/>
        </p:nvSpPr>
        <p:spPr>
          <a:xfrm>
            <a:off x="4686300" y="1042988"/>
            <a:ext cx="4000500" cy="3757613"/>
          </a:xfrm>
          <a:prstGeom prst="roundRect">
            <a:avLst>
              <a:gd fmla="val 304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9" name="Google Shape;23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944" y="1293019"/>
            <a:ext cx="192881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2044" y="1293019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1"/>
          <p:cNvSpPr txBox="1"/>
          <p:nvPr/>
        </p:nvSpPr>
        <p:spPr>
          <a:xfrm>
            <a:off x="457200" y="342900"/>
            <a:ext cx="86868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8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YÖNTEMSEL GERILIM</a:t>
            </a:r>
            <a:endParaRPr sz="1100"/>
          </a:p>
        </p:txBody>
      </p:sp>
      <p:sp>
        <p:nvSpPr>
          <p:cNvPr id="242" name="Google Shape;242;p31"/>
          <p:cNvSpPr txBox="1"/>
          <p:nvPr/>
        </p:nvSpPr>
        <p:spPr>
          <a:xfrm>
            <a:off x="457200" y="514350"/>
            <a:ext cx="868680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20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Nomotetik ve İdiografik Yaklaşım</a:t>
            </a:r>
            <a:endParaRPr sz="1100"/>
          </a:p>
        </p:txBody>
      </p:sp>
      <p:sp>
        <p:nvSpPr>
          <p:cNvPr id="243" name="Google Shape;243;p31"/>
          <p:cNvSpPr txBox="1"/>
          <p:nvPr/>
        </p:nvSpPr>
        <p:spPr>
          <a:xfrm>
            <a:off x="692944" y="1593056"/>
            <a:ext cx="4411265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8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SIYASET BILIMI, EKONOMI, SOSYOLOJI</a:t>
            </a:r>
            <a:endParaRPr sz="1100"/>
          </a:p>
        </p:txBody>
      </p:sp>
      <p:sp>
        <p:nvSpPr>
          <p:cNvPr id="244" name="Google Shape;244;p31"/>
          <p:cNvSpPr txBox="1"/>
          <p:nvPr/>
        </p:nvSpPr>
        <p:spPr>
          <a:xfrm>
            <a:off x="4922044" y="1593056"/>
            <a:ext cx="4221956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800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TARIH DISIPLINI</a:t>
            </a:r>
            <a:endParaRPr sz="1100"/>
          </a:p>
        </p:txBody>
      </p:sp>
      <p:sp>
        <p:nvSpPr>
          <p:cNvPr id="245" name="Google Shape;245;p31"/>
          <p:cNvSpPr txBox="1"/>
          <p:nvPr/>
        </p:nvSpPr>
        <p:spPr>
          <a:xfrm>
            <a:off x="971550" y="1278731"/>
            <a:ext cx="197837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Nomotetik Yaklaşım</a:t>
            </a:r>
            <a:endParaRPr sz="1100"/>
          </a:p>
        </p:txBody>
      </p:sp>
      <p:sp>
        <p:nvSpPr>
          <p:cNvPr id="246" name="Google Shape;246;p31"/>
          <p:cNvSpPr txBox="1"/>
          <p:nvPr/>
        </p:nvSpPr>
        <p:spPr>
          <a:xfrm>
            <a:off x="692944" y="1835944"/>
            <a:ext cx="441126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Genel Yasalar:</a:t>
            </a:r>
            <a:r>
              <a:rPr b="0" i="0" lang="tr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Evrensel düzenlilikler ve nedensel ilişkiler arar.</a:t>
            </a:r>
            <a:endParaRPr sz="1100"/>
          </a:p>
        </p:txBody>
      </p:sp>
      <p:sp>
        <p:nvSpPr>
          <p:cNvPr id="247" name="Google Shape;247;p31"/>
          <p:cNvSpPr txBox="1"/>
          <p:nvPr/>
        </p:nvSpPr>
        <p:spPr>
          <a:xfrm>
            <a:off x="692944" y="2057400"/>
            <a:ext cx="441126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Soyut Modeller:</a:t>
            </a:r>
            <a:r>
              <a:rPr b="0" i="0" lang="tr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Tekil olayları genellenebilir kuramlarla açıklar.</a:t>
            </a:r>
            <a:endParaRPr sz="1100"/>
          </a:p>
        </p:txBody>
      </p:sp>
      <p:sp>
        <p:nvSpPr>
          <p:cNvPr id="248" name="Google Shape;248;p31"/>
          <p:cNvSpPr txBox="1"/>
          <p:nvPr/>
        </p:nvSpPr>
        <p:spPr>
          <a:xfrm>
            <a:off x="692944" y="2278856"/>
            <a:ext cx="441126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Doğa Bilimi İdeali:</a:t>
            </a:r>
            <a:r>
              <a:rPr b="0" i="0" lang="tr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Yasa koyucu ve kuramsal bilgi üretmeyi hedefler.</a:t>
            </a:r>
            <a:endParaRPr sz="1100"/>
          </a:p>
        </p:txBody>
      </p:sp>
      <p:sp>
        <p:nvSpPr>
          <p:cNvPr id="249" name="Google Shape;249;p31"/>
          <p:cNvSpPr txBox="1"/>
          <p:nvPr/>
        </p:nvSpPr>
        <p:spPr>
          <a:xfrm>
            <a:off x="5222081" y="1278731"/>
            <a:ext cx="187523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İdiografik Yaklaşım</a:t>
            </a:r>
            <a:endParaRPr sz="1100"/>
          </a:p>
        </p:txBody>
      </p:sp>
      <p:sp>
        <p:nvSpPr>
          <p:cNvPr id="250" name="Google Shape;250;p31"/>
          <p:cNvSpPr txBox="1"/>
          <p:nvPr/>
        </p:nvSpPr>
        <p:spPr>
          <a:xfrm>
            <a:off x="4922044" y="1835944"/>
            <a:ext cx="422195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Bağlamsal Özgünlük:</a:t>
            </a:r>
            <a:r>
              <a:rPr b="0" i="0" lang="tr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Tekil ve tarihsel olayları anlamaya odaklanır.</a:t>
            </a:r>
            <a:endParaRPr sz="1100"/>
          </a:p>
        </p:txBody>
      </p:sp>
      <p:sp>
        <p:nvSpPr>
          <p:cNvPr id="251" name="Google Shape;251;p31"/>
          <p:cNvSpPr txBox="1"/>
          <p:nvPr/>
        </p:nvSpPr>
        <p:spPr>
          <a:xfrm>
            <a:off x="4922044" y="2057400"/>
            <a:ext cx="422195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Tarihsel Özgüllük:</a:t>
            </a:r>
            <a:r>
              <a:rPr b="0" i="0" lang="tr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Olayların zaman ve mekân bağlamını korur.</a:t>
            </a:r>
            <a:endParaRPr sz="1100"/>
          </a:p>
        </p:txBody>
      </p:sp>
      <p:sp>
        <p:nvSpPr>
          <p:cNvPr id="252" name="Google Shape;252;p31"/>
          <p:cNvSpPr txBox="1"/>
          <p:nvPr/>
        </p:nvSpPr>
        <p:spPr>
          <a:xfrm>
            <a:off x="4922044" y="2278856"/>
            <a:ext cx="422195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Temel Soru:</a:t>
            </a:r>
            <a:r>
              <a:rPr b="0" i="0" lang="tr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"Bu olay neden tam da bu biçimde gerçekleşti?"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/>
          <p:nvPr/>
        </p:nvSpPr>
        <p:spPr>
          <a:xfrm>
            <a:off x="457200" y="1042988"/>
            <a:ext cx="2628900" cy="3757613"/>
          </a:xfrm>
          <a:prstGeom prst="roundRect">
            <a:avLst>
              <a:gd fmla="val 43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2"/>
          <p:cNvSpPr/>
          <p:nvPr/>
        </p:nvSpPr>
        <p:spPr>
          <a:xfrm>
            <a:off x="3257550" y="1042988"/>
            <a:ext cx="2628900" cy="3757613"/>
          </a:xfrm>
          <a:prstGeom prst="roundRect">
            <a:avLst>
              <a:gd fmla="val 43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2"/>
          <p:cNvSpPr/>
          <p:nvPr/>
        </p:nvSpPr>
        <p:spPr>
          <a:xfrm>
            <a:off x="6057900" y="1042988"/>
            <a:ext cx="2628900" cy="3757613"/>
          </a:xfrm>
          <a:prstGeom prst="roundRect">
            <a:avLst>
              <a:gd fmla="val 43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2"/>
          <p:cNvSpPr/>
          <p:nvPr/>
        </p:nvSpPr>
        <p:spPr>
          <a:xfrm>
            <a:off x="692944" y="1278731"/>
            <a:ext cx="285750" cy="285750"/>
          </a:xfrm>
          <a:prstGeom prst="roundRect">
            <a:avLst>
              <a:gd fmla="val 250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2"/>
          <p:cNvSpPr/>
          <p:nvPr/>
        </p:nvSpPr>
        <p:spPr>
          <a:xfrm>
            <a:off x="3493294" y="1278731"/>
            <a:ext cx="285750" cy="285750"/>
          </a:xfrm>
          <a:prstGeom prst="roundRect">
            <a:avLst>
              <a:gd fmla="val 250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2"/>
          <p:cNvSpPr/>
          <p:nvPr/>
        </p:nvSpPr>
        <p:spPr>
          <a:xfrm>
            <a:off x="6293644" y="1278731"/>
            <a:ext cx="285750" cy="285750"/>
          </a:xfrm>
          <a:prstGeom prst="roundRect">
            <a:avLst>
              <a:gd fmla="val 250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2"/>
          <p:cNvSpPr txBox="1"/>
          <p:nvPr/>
        </p:nvSpPr>
        <p:spPr>
          <a:xfrm>
            <a:off x="457200" y="342900"/>
            <a:ext cx="86868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8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İŞ BÖLÜMÜ VE ODAK ALANLARI</a:t>
            </a:r>
            <a:endParaRPr sz="1100"/>
          </a:p>
        </p:txBody>
      </p:sp>
      <p:sp>
        <p:nvSpPr>
          <p:cNvPr id="264" name="Google Shape;264;p32"/>
          <p:cNvSpPr txBox="1"/>
          <p:nvPr/>
        </p:nvSpPr>
        <p:spPr>
          <a:xfrm>
            <a:off x="457200" y="514350"/>
            <a:ext cx="868680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20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Sosyal Bilimler Nasıl Ayrıştı?</a:t>
            </a:r>
            <a:endParaRPr sz="1100"/>
          </a:p>
        </p:txBody>
      </p:sp>
      <p:sp>
        <p:nvSpPr>
          <p:cNvPr id="265" name="Google Shape;265;p32"/>
          <p:cNvSpPr txBox="1"/>
          <p:nvPr/>
        </p:nvSpPr>
        <p:spPr>
          <a:xfrm>
            <a:off x="692944" y="1678781"/>
            <a:ext cx="269676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ALAN: DEVLET VE YÖNETIM</a:t>
            </a:r>
            <a:endParaRPr sz="1100"/>
          </a:p>
        </p:txBody>
      </p:sp>
      <p:sp>
        <p:nvSpPr>
          <p:cNvPr id="266" name="Google Shape;266;p32"/>
          <p:cNvSpPr txBox="1"/>
          <p:nvPr/>
        </p:nvSpPr>
        <p:spPr>
          <a:xfrm>
            <a:off x="692944" y="1928813"/>
            <a:ext cx="2228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9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Resmi devlet yapılarına, yönetim mekanizmalarına, iktidar dağılımına ve yasal otorite biçimlerine odaklanmıştır.</a:t>
            </a:r>
            <a:endParaRPr sz="1100"/>
          </a:p>
        </p:txBody>
      </p:sp>
      <p:sp>
        <p:nvSpPr>
          <p:cNvPr id="267" name="Google Shape;267;p32"/>
          <p:cNvSpPr txBox="1"/>
          <p:nvPr/>
        </p:nvSpPr>
        <p:spPr>
          <a:xfrm>
            <a:off x="3493294" y="1678781"/>
            <a:ext cx="269676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ALAN: PIYASA MEKANIZMALARI</a:t>
            </a:r>
            <a:endParaRPr sz="1100"/>
          </a:p>
        </p:txBody>
      </p:sp>
      <p:sp>
        <p:nvSpPr>
          <p:cNvPr id="268" name="Google Shape;268;p32"/>
          <p:cNvSpPr txBox="1"/>
          <p:nvPr/>
        </p:nvSpPr>
        <p:spPr>
          <a:xfrm>
            <a:off x="3493294" y="1928813"/>
            <a:ext cx="2228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9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Piyasa dinamiklerini, üretim ve servet yaratımını, ticareti ve kaynak tahsis modellerini incelemiştir.</a:t>
            </a:r>
            <a:endParaRPr sz="1100"/>
          </a:p>
        </p:txBody>
      </p:sp>
      <p:sp>
        <p:nvSpPr>
          <p:cNvPr id="269" name="Google Shape;269;p32"/>
          <p:cNvSpPr txBox="1"/>
          <p:nvPr/>
        </p:nvSpPr>
        <p:spPr>
          <a:xfrm>
            <a:off x="6293644" y="1678781"/>
            <a:ext cx="269676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ALAN: SIVIL TOPLUM</a:t>
            </a:r>
            <a:endParaRPr sz="1100"/>
          </a:p>
        </p:txBody>
      </p:sp>
      <p:sp>
        <p:nvSpPr>
          <p:cNvPr id="270" name="Google Shape;270;p32"/>
          <p:cNvSpPr txBox="1"/>
          <p:nvPr/>
        </p:nvSpPr>
        <p:spPr>
          <a:xfrm>
            <a:off x="6293644" y="1928813"/>
            <a:ext cx="22288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9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Devlet ve piyasa dışında kalan tüm toplumsal ilişkileri — işçi mahallelerini, kent suçlarını ve demografiyi araştırmıştır.</a:t>
            </a:r>
            <a:endParaRPr sz="1100"/>
          </a:p>
        </p:txBody>
      </p:sp>
      <p:sp>
        <p:nvSpPr>
          <p:cNvPr id="271" name="Google Shape;271;p32"/>
          <p:cNvSpPr txBox="1"/>
          <p:nvPr/>
        </p:nvSpPr>
        <p:spPr>
          <a:xfrm>
            <a:off x="585788" y="1278731"/>
            <a:ext cx="50006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9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 sz="1100"/>
          </a:p>
        </p:txBody>
      </p:sp>
      <p:sp>
        <p:nvSpPr>
          <p:cNvPr id="272" name="Google Shape;272;p32"/>
          <p:cNvSpPr txBox="1"/>
          <p:nvPr/>
        </p:nvSpPr>
        <p:spPr>
          <a:xfrm>
            <a:off x="1064419" y="1332309"/>
            <a:ext cx="1200150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1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Siyaset Bilimi</a:t>
            </a:r>
            <a:endParaRPr sz="1100"/>
          </a:p>
        </p:txBody>
      </p:sp>
      <p:sp>
        <p:nvSpPr>
          <p:cNvPr id="273" name="Google Shape;273;p32"/>
          <p:cNvSpPr txBox="1"/>
          <p:nvPr/>
        </p:nvSpPr>
        <p:spPr>
          <a:xfrm>
            <a:off x="3386138" y="1278731"/>
            <a:ext cx="50006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9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 sz="1100"/>
          </a:p>
        </p:txBody>
      </p:sp>
      <p:sp>
        <p:nvSpPr>
          <p:cNvPr id="274" name="Google Shape;274;p32"/>
          <p:cNvSpPr txBox="1"/>
          <p:nvPr/>
        </p:nvSpPr>
        <p:spPr>
          <a:xfrm>
            <a:off x="3864769" y="1332309"/>
            <a:ext cx="862607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1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Ekonomi</a:t>
            </a:r>
            <a:endParaRPr sz="1100"/>
          </a:p>
        </p:txBody>
      </p:sp>
      <p:sp>
        <p:nvSpPr>
          <p:cNvPr id="275" name="Google Shape;275;p32"/>
          <p:cNvSpPr txBox="1"/>
          <p:nvPr/>
        </p:nvSpPr>
        <p:spPr>
          <a:xfrm>
            <a:off x="6186488" y="1278731"/>
            <a:ext cx="50006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9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 sz="1100"/>
          </a:p>
        </p:txBody>
      </p:sp>
      <p:sp>
        <p:nvSpPr>
          <p:cNvPr id="276" name="Google Shape;276;p32"/>
          <p:cNvSpPr txBox="1"/>
          <p:nvPr/>
        </p:nvSpPr>
        <p:spPr>
          <a:xfrm>
            <a:off x="6665119" y="1332309"/>
            <a:ext cx="892611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1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Sosyoloji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"/>
          <p:cNvSpPr/>
          <p:nvPr/>
        </p:nvSpPr>
        <p:spPr>
          <a:xfrm>
            <a:off x="4443413" y="2003822"/>
            <a:ext cx="4243388" cy="1835944"/>
          </a:xfrm>
          <a:prstGeom prst="roundRect">
            <a:avLst>
              <a:gd fmla="val 6225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3"/>
          <p:cNvSpPr/>
          <p:nvPr/>
        </p:nvSpPr>
        <p:spPr>
          <a:xfrm>
            <a:off x="457200" y="1943100"/>
            <a:ext cx="3729038" cy="907256"/>
          </a:xfrm>
          <a:prstGeom prst="roundRect">
            <a:avLst>
              <a:gd fmla="val 944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3"/>
          <p:cNvSpPr/>
          <p:nvPr/>
        </p:nvSpPr>
        <p:spPr>
          <a:xfrm>
            <a:off x="457200" y="2993231"/>
            <a:ext cx="3729038" cy="907256"/>
          </a:xfrm>
          <a:prstGeom prst="roundRect">
            <a:avLst>
              <a:gd fmla="val 944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3"/>
          <p:cNvSpPr/>
          <p:nvPr/>
        </p:nvSpPr>
        <p:spPr>
          <a:xfrm>
            <a:off x="457200" y="1943100"/>
            <a:ext cx="28575" cy="90725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3"/>
          <p:cNvSpPr/>
          <p:nvPr/>
        </p:nvSpPr>
        <p:spPr>
          <a:xfrm>
            <a:off x="457200" y="2993231"/>
            <a:ext cx="28575" cy="9072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6" name="Google Shape;28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0588" y="2260997"/>
            <a:ext cx="3729038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3"/>
          <p:cNvSpPr txBox="1"/>
          <p:nvPr/>
        </p:nvSpPr>
        <p:spPr>
          <a:xfrm>
            <a:off x="457200" y="342900"/>
            <a:ext cx="86868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8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ÖTEKINI İNCELEMEK</a:t>
            </a:r>
            <a:endParaRPr sz="1100"/>
          </a:p>
        </p:txBody>
      </p:sp>
      <p:sp>
        <p:nvSpPr>
          <p:cNvPr id="288" name="Google Shape;288;p33"/>
          <p:cNvSpPr txBox="1"/>
          <p:nvPr/>
        </p:nvSpPr>
        <p:spPr>
          <a:xfrm>
            <a:off x="457200" y="514350"/>
            <a:ext cx="868680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20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Antropolojinin Farkı Ne?</a:t>
            </a:r>
            <a:endParaRPr sz="1100"/>
          </a:p>
        </p:txBody>
      </p:sp>
      <p:sp>
        <p:nvSpPr>
          <p:cNvPr id="289" name="Google Shape;289;p33"/>
          <p:cNvSpPr txBox="1"/>
          <p:nvPr/>
        </p:nvSpPr>
        <p:spPr>
          <a:xfrm>
            <a:off x="4700588" y="2603897"/>
            <a:ext cx="3800475" cy="707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1200" u="none" cap="none" strike="noStrike">
                <a:solidFill>
                  <a:srgbClr val="F8FAFC"/>
                </a:solidFill>
                <a:latin typeface="Lora"/>
                <a:ea typeface="Lora"/>
                <a:cs typeface="Lora"/>
                <a:sym typeface="Lora"/>
              </a:rPr>
              <a:t>Antropoloji, tam da Avrupa dışındaki toplumları betimlemek, analiz etmek ve anlamak üzere kurulmuş disiplin olarak ayrıştı.</a:t>
            </a:r>
            <a:endParaRPr sz="1100"/>
          </a:p>
        </p:txBody>
      </p:sp>
      <p:sp>
        <p:nvSpPr>
          <p:cNvPr id="290" name="Google Shape;290;p33"/>
          <p:cNvSpPr txBox="1"/>
          <p:nvPr/>
        </p:nvSpPr>
        <p:spPr>
          <a:xfrm>
            <a:off x="4700588" y="3454003"/>
            <a:ext cx="4443413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8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ANTROPOLOJININ KURUMSAL MISYONU</a:t>
            </a:r>
            <a:endParaRPr sz="1100"/>
          </a:p>
        </p:txBody>
      </p:sp>
      <p:sp>
        <p:nvSpPr>
          <p:cNvPr id="291" name="Google Shape;291;p33"/>
          <p:cNvSpPr txBox="1"/>
          <p:nvPr/>
        </p:nvSpPr>
        <p:spPr>
          <a:xfrm>
            <a:off x="657225" y="2114550"/>
            <a:ext cx="4406801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1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Batı Dışı Topluluklar</a:t>
            </a:r>
            <a:endParaRPr sz="1100"/>
          </a:p>
        </p:txBody>
      </p:sp>
      <p:sp>
        <p:nvSpPr>
          <p:cNvPr id="292" name="Google Shape;292;p33"/>
          <p:cNvSpPr txBox="1"/>
          <p:nvPr/>
        </p:nvSpPr>
        <p:spPr>
          <a:xfrm>
            <a:off x="657225" y="2336006"/>
            <a:ext cx="342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Avrupa dışındaki halklar küçük gruplar halinde yaşıyor, yazılı arşiv tutmuyor ve küresel dini yapılardan bağımsız hareket ediyordu.</a:t>
            </a:r>
            <a:endParaRPr sz="1100"/>
          </a:p>
        </p:txBody>
      </p:sp>
      <p:sp>
        <p:nvSpPr>
          <p:cNvPr id="293" name="Google Shape;293;p33"/>
          <p:cNvSpPr txBox="1"/>
          <p:nvPr/>
        </p:nvSpPr>
        <p:spPr>
          <a:xfrm>
            <a:off x="657225" y="3164681"/>
            <a:ext cx="4406801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1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Kategorizasyon ve Güç İlişkisi</a:t>
            </a:r>
            <a:endParaRPr sz="1100"/>
          </a:p>
        </p:txBody>
      </p:sp>
      <p:sp>
        <p:nvSpPr>
          <p:cNvPr id="294" name="Google Shape;294;p33"/>
          <p:cNvSpPr txBox="1"/>
          <p:nvPr/>
        </p:nvSpPr>
        <p:spPr>
          <a:xfrm>
            <a:off x="657225" y="3386138"/>
            <a:ext cx="342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Askeri bakımdan zayıf bu topluluklar, Batılı güçlerce genelleştirilerek "kabile" gibi şemsiye kavramlarla adlandırıldı.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4"/>
          <p:cNvSpPr/>
          <p:nvPr/>
        </p:nvSpPr>
        <p:spPr>
          <a:xfrm>
            <a:off x="2886075" y="1568053"/>
            <a:ext cx="5800725" cy="750094"/>
          </a:xfrm>
          <a:prstGeom prst="roundRect">
            <a:avLst>
              <a:gd fmla="val 1142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4"/>
          <p:cNvSpPr/>
          <p:nvPr/>
        </p:nvSpPr>
        <p:spPr>
          <a:xfrm>
            <a:off x="2886075" y="2461022"/>
            <a:ext cx="5800725" cy="750094"/>
          </a:xfrm>
          <a:prstGeom prst="roundRect">
            <a:avLst>
              <a:gd fmla="val 1142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4"/>
          <p:cNvSpPr/>
          <p:nvPr/>
        </p:nvSpPr>
        <p:spPr>
          <a:xfrm>
            <a:off x="2886075" y="3353990"/>
            <a:ext cx="5800725" cy="921544"/>
          </a:xfrm>
          <a:prstGeom prst="roundRect">
            <a:avLst>
              <a:gd fmla="val 930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2" name="Google Shape;30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64481"/>
            <a:ext cx="2143125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344" y="1571625"/>
            <a:ext cx="2128838" cy="2700338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4"/>
          <p:cNvSpPr txBox="1"/>
          <p:nvPr/>
        </p:nvSpPr>
        <p:spPr>
          <a:xfrm>
            <a:off x="457200" y="342900"/>
            <a:ext cx="86868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8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KURUCU DÜŞÜNÜRLER</a:t>
            </a:r>
            <a:endParaRPr sz="1100"/>
          </a:p>
        </p:txBody>
      </p:sp>
      <p:sp>
        <p:nvSpPr>
          <p:cNvPr id="305" name="Google Shape;305;p34"/>
          <p:cNvSpPr txBox="1"/>
          <p:nvPr/>
        </p:nvSpPr>
        <p:spPr>
          <a:xfrm>
            <a:off x="457200" y="514350"/>
            <a:ext cx="868680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20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Sosyoloji: Auguste Comte</a:t>
            </a:r>
            <a:endParaRPr sz="1100"/>
          </a:p>
        </p:txBody>
      </p:sp>
      <p:sp>
        <p:nvSpPr>
          <p:cNvPr id="306" name="Google Shape;306;p34"/>
          <p:cNvSpPr txBox="1"/>
          <p:nvPr/>
        </p:nvSpPr>
        <p:spPr>
          <a:xfrm>
            <a:off x="3064669" y="1746647"/>
            <a:ext cx="6079331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1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"Sosyoloji" Teriminin Mucidi</a:t>
            </a:r>
            <a:endParaRPr sz="1100"/>
          </a:p>
        </p:txBody>
      </p:sp>
      <p:sp>
        <p:nvSpPr>
          <p:cNvPr id="307" name="Google Shape;307;p34"/>
          <p:cNvSpPr txBox="1"/>
          <p:nvPr/>
        </p:nvSpPr>
        <p:spPr>
          <a:xfrm>
            <a:off x="3064669" y="1968103"/>
            <a:ext cx="607933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Auguste Comte, toplumu inceleyen bu yeni bilimsel alana adını veren ilk düşünürdür.</a:t>
            </a:r>
            <a:endParaRPr sz="1100"/>
          </a:p>
        </p:txBody>
      </p:sp>
      <p:sp>
        <p:nvSpPr>
          <p:cNvPr id="308" name="Google Shape;308;p34"/>
          <p:cNvSpPr txBox="1"/>
          <p:nvPr/>
        </p:nvSpPr>
        <p:spPr>
          <a:xfrm>
            <a:off x="3064669" y="2639615"/>
            <a:ext cx="6079331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1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Gözlem ve Deney İlkesi</a:t>
            </a:r>
            <a:endParaRPr sz="1100"/>
          </a:p>
        </p:txBody>
      </p:sp>
      <p:sp>
        <p:nvSpPr>
          <p:cNvPr id="309" name="Google Shape;309;p34"/>
          <p:cNvSpPr txBox="1"/>
          <p:nvPr/>
        </p:nvSpPr>
        <p:spPr>
          <a:xfrm>
            <a:off x="3064669" y="2861072"/>
            <a:ext cx="607933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Comte'a göre meşru bilimsel bilgi yalnızca ampirik gözlem ve deney süreçleriyle üretilebilir.</a:t>
            </a:r>
            <a:endParaRPr sz="1100"/>
          </a:p>
        </p:txBody>
      </p:sp>
      <p:sp>
        <p:nvSpPr>
          <p:cNvPr id="310" name="Google Shape;310;p34"/>
          <p:cNvSpPr txBox="1"/>
          <p:nvPr/>
        </p:nvSpPr>
        <p:spPr>
          <a:xfrm>
            <a:off x="3064669" y="3532584"/>
            <a:ext cx="6079331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1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"Toplumsal Fizik"</a:t>
            </a:r>
            <a:endParaRPr sz="1100"/>
          </a:p>
        </p:txBody>
      </p:sp>
      <p:sp>
        <p:nvSpPr>
          <p:cNvPr id="311" name="Google Shape;311;p34"/>
          <p:cNvSpPr txBox="1"/>
          <p:nvPr/>
        </p:nvSpPr>
        <p:spPr>
          <a:xfrm>
            <a:off x="3064669" y="3754040"/>
            <a:ext cx="55149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Bilimin ilerleyişine güvenen Comte, sosyolojinin doğa bilimleri düzeyinde bir kesinliğe ulaşacağını savunmuştur.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/>
          <p:nvPr/>
        </p:nvSpPr>
        <p:spPr>
          <a:xfrm>
            <a:off x="4414838" y="2060972"/>
            <a:ext cx="4271963" cy="1721644"/>
          </a:xfrm>
          <a:prstGeom prst="roundRect">
            <a:avLst>
              <a:gd fmla="val 6639" name="adj"/>
            </a:avLst>
          </a:prstGeom>
          <a:solidFill>
            <a:srgbClr val="F1F5F9"/>
          </a:solidFill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5"/>
          <p:cNvSpPr/>
          <p:nvPr/>
        </p:nvSpPr>
        <p:spPr>
          <a:xfrm>
            <a:off x="457200" y="1396603"/>
            <a:ext cx="3729038" cy="921544"/>
          </a:xfrm>
          <a:prstGeom prst="roundRect">
            <a:avLst>
              <a:gd fmla="val 930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5"/>
          <p:cNvSpPr/>
          <p:nvPr/>
        </p:nvSpPr>
        <p:spPr>
          <a:xfrm>
            <a:off x="457200" y="2461022"/>
            <a:ext cx="3729038" cy="921544"/>
          </a:xfrm>
          <a:prstGeom prst="roundRect">
            <a:avLst>
              <a:gd fmla="val 930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5"/>
          <p:cNvSpPr/>
          <p:nvPr/>
        </p:nvSpPr>
        <p:spPr>
          <a:xfrm>
            <a:off x="457200" y="3525440"/>
            <a:ext cx="3729038" cy="921544"/>
          </a:xfrm>
          <a:prstGeom prst="roundRect">
            <a:avLst>
              <a:gd fmla="val 930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0" name="Google Shape;32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9369" y="233243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5"/>
          <p:cNvSpPr txBox="1"/>
          <p:nvPr/>
        </p:nvSpPr>
        <p:spPr>
          <a:xfrm>
            <a:off x="457200" y="342900"/>
            <a:ext cx="86868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8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YÖNTEMSEL TEMELLER</a:t>
            </a:r>
            <a:endParaRPr sz="1100"/>
          </a:p>
        </p:txBody>
      </p:sp>
      <p:sp>
        <p:nvSpPr>
          <p:cNvPr id="322" name="Google Shape;322;p35"/>
          <p:cNvSpPr txBox="1"/>
          <p:nvPr/>
        </p:nvSpPr>
        <p:spPr>
          <a:xfrm>
            <a:off x="457200" y="514350"/>
            <a:ext cx="868680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20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Sosyoloji (II): Émile Durkheim</a:t>
            </a:r>
            <a:endParaRPr sz="1100"/>
          </a:p>
        </p:txBody>
      </p:sp>
      <p:sp>
        <p:nvSpPr>
          <p:cNvPr id="323" name="Google Shape;323;p35"/>
          <p:cNvSpPr txBox="1"/>
          <p:nvPr/>
        </p:nvSpPr>
        <p:spPr>
          <a:xfrm>
            <a:off x="5317852" y="2818209"/>
            <a:ext cx="246593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14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Epistemolojik Tartışma</a:t>
            </a:r>
            <a:endParaRPr sz="1100"/>
          </a:p>
        </p:txBody>
      </p:sp>
      <p:sp>
        <p:nvSpPr>
          <p:cNvPr id="324" name="Google Shape;324;p35"/>
          <p:cNvSpPr txBox="1"/>
          <p:nvPr/>
        </p:nvSpPr>
        <p:spPr>
          <a:xfrm>
            <a:off x="4220170" y="3125390"/>
            <a:ext cx="4661297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10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İnsan toplumunu incelerken tam tarafsızlık ve nesnellik gerçekten mümkün müdür?</a:t>
            </a:r>
            <a:endParaRPr sz="1100"/>
          </a:p>
        </p:txBody>
      </p:sp>
      <p:sp>
        <p:nvSpPr>
          <p:cNvPr id="325" name="Google Shape;325;p35"/>
          <p:cNvSpPr txBox="1"/>
          <p:nvPr/>
        </p:nvSpPr>
        <p:spPr>
          <a:xfrm>
            <a:off x="635794" y="1575197"/>
            <a:ext cx="4425553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1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Sosyolojik Yöntemin Kuralları (1895)</a:t>
            </a:r>
            <a:endParaRPr sz="1100"/>
          </a:p>
        </p:txBody>
      </p:sp>
      <p:sp>
        <p:nvSpPr>
          <p:cNvPr id="326" name="Google Shape;326;p35"/>
          <p:cNvSpPr txBox="1"/>
          <p:nvPr/>
        </p:nvSpPr>
        <p:spPr>
          <a:xfrm>
            <a:off x="635794" y="1796653"/>
            <a:ext cx="344328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Durkheim, sosyolojiyi ampirik ve disipliner açıdan bağımsız bir bilimsel metoda kavuşturmuştur.</a:t>
            </a:r>
            <a:endParaRPr sz="1100"/>
          </a:p>
        </p:txBody>
      </p:sp>
      <p:sp>
        <p:nvSpPr>
          <p:cNvPr id="327" name="Google Shape;327;p35"/>
          <p:cNvSpPr txBox="1"/>
          <p:nvPr/>
        </p:nvSpPr>
        <p:spPr>
          <a:xfrm>
            <a:off x="635794" y="2639615"/>
            <a:ext cx="4425553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1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Birer "Şey" Olarak Toplumsal Olgular</a:t>
            </a:r>
            <a:endParaRPr sz="1100"/>
          </a:p>
        </p:txBody>
      </p:sp>
      <p:sp>
        <p:nvSpPr>
          <p:cNvPr id="328" name="Google Shape;328;p35"/>
          <p:cNvSpPr txBox="1"/>
          <p:nvPr/>
        </p:nvSpPr>
        <p:spPr>
          <a:xfrm>
            <a:off x="635794" y="2861072"/>
            <a:ext cx="344328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Toplumsal olguların bireylerden bağımsız, nesnel ve dışsal birer "şey" gibi incelenmesi gerektiğini vurgular.</a:t>
            </a:r>
            <a:endParaRPr sz="1100"/>
          </a:p>
        </p:txBody>
      </p:sp>
      <p:sp>
        <p:nvSpPr>
          <p:cNvPr id="329" name="Google Shape;329;p35"/>
          <p:cNvSpPr txBox="1"/>
          <p:nvPr/>
        </p:nvSpPr>
        <p:spPr>
          <a:xfrm>
            <a:off x="635794" y="3704034"/>
            <a:ext cx="4425553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1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Tarafsız Açıklama Ideal</a:t>
            </a:r>
            <a:endParaRPr sz="1100"/>
          </a:p>
        </p:txBody>
      </p:sp>
      <p:sp>
        <p:nvSpPr>
          <p:cNvPr id="330" name="Google Shape;330;p35"/>
          <p:cNvSpPr txBox="1"/>
          <p:nvPr/>
        </p:nvSpPr>
        <p:spPr>
          <a:xfrm>
            <a:off x="635794" y="3925490"/>
            <a:ext cx="344328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Doğa bilimlerinin tarafsız gözlemi gibi, sosyolojinin de toplumu nesnel biçimde açıklaması gerektiğini savunur.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6"/>
          <p:cNvSpPr/>
          <p:nvPr/>
        </p:nvSpPr>
        <p:spPr>
          <a:xfrm>
            <a:off x="457200" y="2032397"/>
            <a:ext cx="8229600" cy="642938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6"/>
          <p:cNvSpPr/>
          <p:nvPr/>
        </p:nvSpPr>
        <p:spPr>
          <a:xfrm>
            <a:off x="457200" y="2911078"/>
            <a:ext cx="1950244" cy="835819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6"/>
          <p:cNvSpPr/>
          <p:nvPr/>
        </p:nvSpPr>
        <p:spPr>
          <a:xfrm>
            <a:off x="2550319" y="2846784"/>
            <a:ext cx="1950244" cy="964406"/>
          </a:xfrm>
          <a:prstGeom prst="roundRect">
            <a:avLst>
              <a:gd fmla="val 888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6"/>
          <p:cNvSpPr/>
          <p:nvPr/>
        </p:nvSpPr>
        <p:spPr>
          <a:xfrm>
            <a:off x="4643438" y="2846784"/>
            <a:ext cx="1950244" cy="964406"/>
          </a:xfrm>
          <a:prstGeom prst="roundRect">
            <a:avLst>
              <a:gd fmla="val 888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6"/>
          <p:cNvSpPr/>
          <p:nvPr/>
        </p:nvSpPr>
        <p:spPr>
          <a:xfrm>
            <a:off x="6736556" y="2911078"/>
            <a:ext cx="1950244" cy="835819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6"/>
          <p:cNvSpPr/>
          <p:nvPr/>
        </p:nvSpPr>
        <p:spPr>
          <a:xfrm>
            <a:off x="457200" y="2911078"/>
            <a:ext cx="1950244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6"/>
          <p:cNvSpPr/>
          <p:nvPr/>
        </p:nvSpPr>
        <p:spPr>
          <a:xfrm>
            <a:off x="2550319" y="2846784"/>
            <a:ext cx="1950244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6"/>
          <p:cNvSpPr/>
          <p:nvPr/>
        </p:nvSpPr>
        <p:spPr>
          <a:xfrm>
            <a:off x="4643438" y="2846784"/>
            <a:ext cx="1950244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6"/>
          <p:cNvSpPr/>
          <p:nvPr/>
        </p:nvSpPr>
        <p:spPr>
          <a:xfrm>
            <a:off x="6736556" y="2911078"/>
            <a:ext cx="1950244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6"/>
          <p:cNvSpPr txBox="1"/>
          <p:nvPr/>
        </p:nvSpPr>
        <p:spPr>
          <a:xfrm>
            <a:off x="457200" y="342900"/>
            <a:ext cx="86868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8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TOPLUMSAL İHTIYAÇLAR</a:t>
            </a:r>
            <a:endParaRPr sz="1100"/>
          </a:p>
        </p:txBody>
      </p:sp>
      <p:sp>
        <p:nvSpPr>
          <p:cNvPr id="345" name="Google Shape;345;p36"/>
          <p:cNvSpPr txBox="1"/>
          <p:nvPr/>
        </p:nvSpPr>
        <p:spPr>
          <a:xfrm>
            <a:off x="457200" y="514350"/>
            <a:ext cx="868680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20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Sosyoloji Neden Ortaya Çıktı?</a:t>
            </a:r>
            <a:endParaRPr sz="1100"/>
          </a:p>
        </p:txBody>
      </p:sp>
      <p:sp>
        <p:nvSpPr>
          <p:cNvPr id="346" name="Google Shape;346;p36"/>
          <p:cNvSpPr txBox="1"/>
          <p:nvPr/>
        </p:nvSpPr>
        <p:spPr>
          <a:xfrm>
            <a:off x="664369" y="2182415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9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Wallerstein'a göre sosyoloji yalnızca akademik bir merakın değil, modern toplumsal düzenin getirdiği pratik ihtiyaçların bir sonucu olarak şekillenmiştir.</a:t>
            </a:r>
            <a:endParaRPr sz="1100"/>
          </a:p>
        </p:txBody>
      </p:sp>
      <p:sp>
        <p:nvSpPr>
          <p:cNvPr id="347" name="Google Shape;347;p36"/>
          <p:cNvSpPr txBox="1"/>
          <p:nvPr/>
        </p:nvSpPr>
        <p:spPr>
          <a:xfrm>
            <a:off x="628650" y="3111103"/>
            <a:ext cx="2109638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Düzeni Anlamak</a:t>
            </a:r>
            <a:endParaRPr sz="1100"/>
          </a:p>
        </p:txBody>
      </p:sp>
      <p:sp>
        <p:nvSpPr>
          <p:cNvPr id="348" name="Google Shape;348;p36"/>
          <p:cNvSpPr txBox="1"/>
          <p:nvPr/>
        </p:nvSpPr>
        <p:spPr>
          <a:xfrm>
            <a:off x="628650" y="3318272"/>
            <a:ext cx="167878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Hızla dönüşen toplumsal yapının işleyiş mantığını çözümlemek.</a:t>
            </a:r>
            <a:endParaRPr sz="1100"/>
          </a:p>
        </p:txBody>
      </p:sp>
      <p:sp>
        <p:nvSpPr>
          <p:cNvPr id="349" name="Google Shape;349;p36"/>
          <p:cNvSpPr txBox="1"/>
          <p:nvPr/>
        </p:nvSpPr>
        <p:spPr>
          <a:xfrm>
            <a:off x="2721769" y="3046809"/>
            <a:ext cx="2109638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Kent Krizleri</a:t>
            </a:r>
            <a:endParaRPr sz="1100"/>
          </a:p>
        </p:txBody>
      </p:sp>
      <p:sp>
        <p:nvSpPr>
          <p:cNvPr id="350" name="Google Shape;350;p36"/>
          <p:cNvSpPr txBox="1"/>
          <p:nvPr/>
        </p:nvSpPr>
        <p:spPr>
          <a:xfrm>
            <a:off x="2721769" y="3253978"/>
            <a:ext cx="1678781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Yoksulluk, kentleşme, suç ve demografik hareketleri incelemek.</a:t>
            </a:r>
            <a:endParaRPr sz="1100"/>
          </a:p>
        </p:txBody>
      </p:sp>
      <p:sp>
        <p:nvSpPr>
          <p:cNvPr id="351" name="Google Shape;351;p36"/>
          <p:cNvSpPr txBox="1"/>
          <p:nvPr/>
        </p:nvSpPr>
        <p:spPr>
          <a:xfrm>
            <a:off x="4814888" y="3046809"/>
            <a:ext cx="2109638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Çatışmayı Açıklamak</a:t>
            </a:r>
            <a:endParaRPr sz="1100"/>
          </a:p>
        </p:txBody>
      </p:sp>
      <p:sp>
        <p:nvSpPr>
          <p:cNvPr id="352" name="Google Shape;352;p36"/>
          <p:cNvSpPr txBox="1"/>
          <p:nvPr/>
        </p:nvSpPr>
        <p:spPr>
          <a:xfrm>
            <a:off x="4814888" y="3253978"/>
            <a:ext cx="1678781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Sanayileşme ve işçi sınıfı ile yükselen toplumsal gerilimleri kavramak.</a:t>
            </a:r>
            <a:endParaRPr sz="1100"/>
          </a:p>
        </p:txBody>
      </p:sp>
      <p:sp>
        <p:nvSpPr>
          <p:cNvPr id="353" name="Google Shape;353;p36"/>
          <p:cNvSpPr txBox="1"/>
          <p:nvPr/>
        </p:nvSpPr>
        <p:spPr>
          <a:xfrm>
            <a:off x="6908006" y="3111103"/>
            <a:ext cx="2109638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İstikrar Sağlamak</a:t>
            </a:r>
            <a:endParaRPr sz="1100"/>
          </a:p>
        </p:txBody>
      </p:sp>
      <p:sp>
        <p:nvSpPr>
          <p:cNvPr id="354" name="Google Shape;354;p36"/>
          <p:cNvSpPr txBox="1"/>
          <p:nvPr/>
        </p:nvSpPr>
        <p:spPr>
          <a:xfrm>
            <a:off x="6908006" y="3318272"/>
            <a:ext cx="167878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Sosyal reform ve kamu politikası süreçlerini kurumsallaştırmak.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7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tr"/>
              <a:t>Sosyoloji Ne Çalışır?</a:t>
            </a:r>
            <a:endParaRPr/>
          </a:p>
        </p:txBody>
      </p:sp>
      <p:sp>
        <p:nvSpPr>
          <p:cNvPr id="360" name="Google Shape;360;p37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62500" lnSpcReduction="20000"/>
          </a:bodyPr>
          <a:lstStyle/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"/>
              <a:t>Sosyoloji, modern toplumda devlet ve piyasanın doğrudan kapsamadığı ya da bunların ötesine taşan toplumsal ilişkileri ve değişimleri inceleyen disiplin olarak kurumsallaştı.</a:t>
            </a:r>
            <a:endParaRPr/>
          </a:p>
          <a:p>
            <a:pPr indent="-24765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"/>
              <a:t>Başlıca çalışma alanları:</a:t>
            </a:r>
            <a:endParaRPr/>
          </a:p>
          <a:p>
            <a:pPr indent="-24765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"/>
              <a:t>• Toplumsal sınıflar ve eşitsizlik</a:t>
            </a:r>
            <a:endParaRPr/>
          </a:p>
          <a:p>
            <a:pPr indent="-24765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"/>
              <a:t>• İş ve emek ilişkileri</a:t>
            </a:r>
            <a:endParaRPr/>
          </a:p>
          <a:p>
            <a:pPr indent="-24765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"/>
              <a:t>• Aile ve toplumsal cinsiyet</a:t>
            </a:r>
            <a:endParaRPr/>
          </a:p>
          <a:p>
            <a:pPr indent="-24765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"/>
              <a:t>• Kentleşme ve göç</a:t>
            </a:r>
            <a:endParaRPr/>
          </a:p>
          <a:p>
            <a:pPr indent="-24765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"/>
              <a:t>• Suç ve toplumsal düzen</a:t>
            </a:r>
            <a:endParaRPr/>
          </a:p>
          <a:p>
            <a:pPr indent="-24765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"/>
              <a:t>• Eğitim, din ve diğer toplumsal kurumlar</a:t>
            </a:r>
            <a:endParaRPr/>
          </a:p>
          <a:p>
            <a:pPr indent="-24765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"/>
              <a:t>• Nüfus ve demografik değişimler</a:t>
            </a:r>
            <a:endParaRPr/>
          </a:p>
          <a:p>
            <a:pPr indent="-24765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"/>
              <a:t>• Toplumsal hareketler ve kolektif eylem</a:t>
            </a:r>
            <a:endParaRPr/>
          </a:p>
          <a:p>
            <a:pPr indent="-24765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"/>
              <a:t>Bu nedenle sosyolojinin konusu “toplum”u soyut biçimde incelemekten çok, belirli toplumsal ilişkileri, yapıları ve değişim süreçlerini ampirik olarak araştırmaktır.</a:t>
            </a:r>
            <a:endParaRPr/>
          </a:p>
          <a:p>
            <a:pPr indent="-15240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8"/>
          <p:cNvSpPr/>
          <p:nvPr/>
        </p:nvSpPr>
        <p:spPr>
          <a:xfrm>
            <a:off x="428625" y="642938"/>
            <a:ext cx="8286750" cy="578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8"/>
          <p:cNvSpPr/>
          <p:nvPr/>
        </p:nvSpPr>
        <p:spPr>
          <a:xfrm>
            <a:off x="428625" y="1221581"/>
            <a:ext cx="8286750" cy="578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8"/>
          <p:cNvSpPr/>
          <p:nvPr/>
        </p:nvSpPr>
        <p:spPr>
          <a:xfrm>
            <a:off x="428625" y="1214438"/>
            <a:ext cx="8286750" cy="714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8"/>
          <p:cNvSpPr/>
          <p:nvPr/>
        </p:nvSpPr>
        <p:spPr>
          <a:xfrm>
            <a:off x="428625" y="1214438"/>
            <a:ext cx="8286750" cy="714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8"/>
          <p:cNvSpPr/>
          <p:nvPr/>
        </p:nvSpPr>
        <p:spPr>
          <a:xfrm>
            <a:off x="428625" y="1793081"/>
            <a:ext cx="8286750" cy="714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8"/>
          <p:cNvSpPr/>
          <p:nvPr/>
        </p:nvSpPr>
        <p:spPr>
          <a:xfrm>
            <a:off x="428625" y="1793081"/>
            <a:ext cx="8286750" cy="714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1" name="Google Shape;37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750094"/>
            <a:ext cx="642938" cy="357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328738"/>
            <a:ext cx="642938" cy="357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3" name="Google Shape;373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1907381"/>
            <a:ext cx="642938" cy="357188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8"/>
          <p:cNvSpPr txBox="1"/>
          <p:nvPr/>
        </p:nvSpPr>
        <p:spPr>
          <a:xfrm>
            <a:off x="428625" y="428625"/>
            <a:ext cx="164083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r" sz="1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 sz="1100"/>
          </a:p>
        </p:txBody>
      </p:sp>
      <p:sp>
        <p:nvSpPr>
          <p:cNvPr id="375" name="Google Shape;375;p38"/>
          <p:cNvSpPr txBox="1"/>
          <p:nvPr/>
        </p:nvSpPr>
        <p:spPr>
          <a:xfrm>
            <a:off x="1250156" y="778669"/>
            <a:ext cx="5965031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https://centurylibrary.com/wp-content/themes/cl-theme-new/assets/images/unlock26/hero-flowers.png</a:t>
            </a:r>
            <a:endParaRPr sz="1100"/>
          </a:p>
        </p:txBody>
      </p:sp>
      <p:sp>
        <p:nvSpPr>
          <p:cNvPr id="376" name="Google Shape;376;p38"/>
          <p:cNvSpPr txBox="1"/>
          <p:nvPr/>
        </p:nvSpPr>
        <p:spPr>
          <a:xfrm>
            <a:off x="1250156" y="928688"/>
            <a:ext cx="1830586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tr" sz="9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centurylibrary.com</a:t>
            </a:r>
            <a:endParaRPr sz="1100"/>
          </a:p>
        </p:txBody>
      </p:sp>
      <p:sp>
        <p:nvSpPr>
          <p:cNvPr id="377" name="Google Shape;377;p38"/>
          <p:cNvSpPr txBox="1"/>
          <p:nvPr/>
        </p:nvSpPr>
        <p:spPr>
          <a:xfrm>
            <a:off x="1250156" y="1357313"/>
            <a:ext cx="78224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https://cdn11.bigcommerce.com/s-yzgoj/images/stencil/1280x1280/products/1554805/3773081/apii0zajd__29402.1626755763.jpg?c=2</a:t>
            </a:r>
            <a:endParaRPr sz="1100"/>
          </a:p>
        </p:txBody>
      </p:sp>
      <p:sp>
        <p:nvSpPr>
          <p:cNvPr id="378" name="Google Shape;378;p38"/>
          <p:cNvSpPr txBox="1"/>
          <p:nvPr/>
        </p:nvSpPr>
        <p:spPr>
          <a:xfrm>
            <a:off x="1250156" y="1507331"/>
            <a:ext cx="1973461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tr" sz="9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www.posterazzi.com</a:t>
            </a:r>
            <a:endParaRPr sz="1100"/>
          </a:p>
        </p:txBody>
      </p:sp>
      <p:sp>
        <p:nvSpPr>
          <p:cNvPr id="379" name="Google Shape;379;p38"/>
          <p:cNvSpPr txBox="1"/>
          <p:nvPr/>
        </p:nvSpPr>
        <p:spPr>
          <a:xfrm>
            <a:off x="1250156" y="1935956"/>
            <a:ext cx="639365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https://cdn.britannica.com/34/114834-050-F5310205/Liberty-Leading-the-People-oil-canvas-Eugene-1830.jpg</a:t>
            </a:r>
            <a:endParaRPr sz="1100"/>
          </a:p>
        </p:txBody>
      </p:sp>
      <p:sp>
        <p:nvSpPr>
          <p:cNvPr id="380" name="Google Shape;380;p38"/>
          <p:cNvSpPr txBox="1"/>
          <p:nvPr/>
        </p:nvSpPr>
        <p:spPr>
          <a:xfrm>
            <a:off x="1250156" y="2085975"/>
            <a:ext cx="1955601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9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tr" sz="9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www.britannica.com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