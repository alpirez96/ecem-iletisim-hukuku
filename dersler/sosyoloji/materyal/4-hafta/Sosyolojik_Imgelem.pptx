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Plus Jakarta Sans"/>
      <ns0:bold ns1:id="rIdFont19"/>
      <ns0:regular ns1:id="rIdFont20"/>
    </ns0:embeddedFont>
    <ns0:embeddedFont>
      <ns0:font typeface="Cinzel"/>
      <ns0:bold ns1:id="rIdFont21"/>
      <ns0:regular ns1:id="rIdFont22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Font19" Type="http://schemas.openxmlformats.org/officeDocument/2006/relationships/font" Target="fonts/8a32b052-76dc-48e6-8255-2bcd33c1a24d.fntdata" /><ns0:Relationship Id="rIdFont20" Type="http://schemas.openxmlformats.org/officeDocument/2006/relationships/font" Target="fonts/3d0b365e-9821-450b-9694-e3cc52425edb.fntdata" /><ns0:Relationship Id="rIdFont21" Type="http://schemas.openxmlformats.org/officeDocument/2006/relationships/font" Target="fonts/a1e825bc-63e2-42af-b750-ec4bf057baa9.fntdata" /><ns0:Relationship Id="rIdFont22" Type="http://schemas.openxmlformats.org/officeDocument/2006/relationships/font" Target="fonts/81544589-0466-4b06-aae1-6d5634f63c05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9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4337595"/>
            <a:ext cx="571500" cy="2857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5269" y="1238250"/>
            <a:ext cx="4034730" cy="4381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4794" y="1247775"/>
            <a:ext cx="4015680" cy="4362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2491680"/>
            <a:ext cx="752958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Plus Jakarta Sans"/>
              </a:rPr>
              <a:t>TOPLUMBİLİMSEL DÜŞÜNÜŞ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663130"/>
            <a:ext cx="7906066" cy="5695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8FAFC"/>
                </a:solidFill>
                <a:latin typeface="Cinzel"/>
              </a:rPr>
              <a:t>Sosyolojik İmgelem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461295"/>
            <a:ext cx="6118919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C. Wright Mills'in Düşünsel Mirası ve Birey-Toplum İlişkisinin Çözümlenmesi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969865"/>
            <a:ext cx="5619750" cy="1899195"/>
          </a:xfrm>
          <a:prstGeom prst="rect">
            <a:avLst/>
          </a:prstGeom>
          <a:solidFill>
            <a:srgbClr val="FFF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2969865"/>
            <a:ext cx="38100" cy="189919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86550" y="2652712"/>
            <a:ext cx="4895850" cy="1171575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86550" y="4014787"/>
            <a:ext cx="4895850" cy="1171575"/>
          </a:xfrm>
          <a:prstGeom prst="roundRect">
            <a:avLst>
              <a:gd name="adj" fmla="val 97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4675" y="2928937"/>
            <a:ext cx="17145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4675" y="4291012"/>
            <a:ext cx="171450" cy="171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D97706"/>
                </a:solidFill>
                <a:latin typeface="Plus Jakarta Sans"/>
              </a:rPr>
              <a:t>TEMEL YAKLAŞIM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85800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Cinzel"/>
              </a:rPr>
              <a:t>Birey ile Tarihin Kesişimi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3312765"/>
            <a:ext cx="4991100" cy="880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78350F"/>
                </a:solidFill>
                <a:latin typeface="Cinzel"/>
              </a:rPr>
              <a:t>"Toplumu ve bireyi birlikte ele almadıkça, ne bireyin hayatını ne de toplumun tarihini anlayabiliriz."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4345185"/>
            <a:ext cx="61198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B45309"/>
                </a:solidFill>
                <a:latin typeface="Plus Jakarta Sans"/>
              </a:rPr>
              <a:t>— C. Wright Mills (s. 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24675" y="2890837"/>
            <a:ext cx="5267325" cy="21907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Büyük Dönüşümler Çağı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4675" y="3186112"/>
            <a:ext cx="45148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2. Dünya Savaşı sonrası ve 1958 Amerikası'nda birey, hızlı değişimler karşısında güçsüzlük yaşamaktadır.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24675" y="4252912"/>
            <a:ext cx="5267325" cy="21907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Anlamlandırma İhtiyacı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4675" y="4548187"/>
            <a:ext cx="45148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Bireysel sarsıntıları kavrayabilmek, toplumsal etkileşimi çözümleyen bir imgelem gerektirir.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00175"/>
            <a:ext cx="10972800" cy="5000625"/>
          </a:xfrm>
          <a:prstGeom prst="roundRect">
            <a:avLst>
              <a:gd name="adj" fmla="val 30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91012" y="4333875"/>
            <a:ext cx="3609975" cy="390525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D97706"/>
                </a:solidFill>
                <a:latin typeface="Plus Jakarta Sans"/>
              </a:rPr>
              <a:t>KAVRAMSAL AÇILIM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Cinzel"/>
              </a:rPr>
              <a:t>Sosyolojik İmgelem Nedir?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5843" y="3076575"/>
            <a:ext cx="10120312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0" sz="1800" i="0" u="none">
                <a:solidFill>
                  <a:srgbClr val="334155"/>
                </a:solidFill>
                <a:latin typeface="Plus Jakarta Sans"/>
              </a:rPr>
              <a:t>"Günümüz insanının gereksindiği şey, kendisinin dışındaki dünyada ve kendi benliğinde olup bitenleri anlamasını sağlayacak düşünsel bir nitelik kazanmaktır."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8365" y="4429125"/>
            <a:ext cx="4055268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İşte bu düşünsel nitelik: Sosyolojik İmgelem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81325"/>
            <a:ext cx="3505200" cy="1838325"/>
          </a:xfrm>
          <a:prstGeom prst="roundRect">
            <a:avLst>
              <a:gd name="adj" fmla="val 6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81325"/>
            <a:ext cx="3505200" cy="1838325"/>
          </a:xfrm>
          <a:prstGeom prst="roundRect">
            <a:avLst>
              <a:gd name="adj" fmla="val 6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81325"/>
            <a:ext cx="3505200" cy="1838325"/>
          </a:xfrm>
          <a:prstGeom prst="roundRect">
            <a:avLst>
              <a:gd name="adj" fmla="val 6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295650"/>
            <a:ext cx="3810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295650"/>
            <a:ext cx="3810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295650"/>
            <a:ext cx="3048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D97706"/>
                </a:solidFill>
                <a:latin typeface="Plus Jakarta Sans"/>
              </a:rPr>
              <a:t>MİLLS'İN MODELİ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85800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Cinzel"/>
              </a:rPr>
              <a:t>Analizin Üç Temel Ekseni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752850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1. Biyografi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105275"/>
            <a:ext cx="2971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Bireylerin ayrı ayrı deneyimlediği kişisel yaşam öyküleri ve öznel tecrübeler.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7725" y="3752850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2. Toplum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7725" y="4105275"/>
            <a:ext cx="2971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Bireylerin parçası olduğu kurumsal yapı ve toplumsal birliktelikler.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3752850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3. Tarih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525" y="4105275"/>
            <a:ext cx="2971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İçinde yaşanılan çağ, dönem ve tarihsel süreçlerin getirdiği dinamikler.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47962"/>
            <a:ext cx="10972800" cy="666750"/>
          </a:xfrm>
          <a:prstGeom prst="roundRect">
            <a:avLst>
              <a:gd name="adj" fmla="val 142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567112"/>
            <a:ext cx="10972800" cy="666750"/>
          </a:xfrm>
          <a:prstGeom prst="roundRect">
            <a:avLst>
              <a:gd name="adj" fmla="val 142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386262"/>
            <a:ext cx="10972800" cy="666750"/>
          </a:xfrm>
          <a:prstGeom prst="roundRect">
            <a:avLst>
              <a:gd name="adj" fmla="val 142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747962"/>
            <a:ext cx="38100" cy="66675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567112"/>
            <a:ext cx="38100" cy="66675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4386262"/>
            <a:ext cx="38100" cy="66675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D97706"/>
                </a:solidFill>
                <a:latin typeface="Plus Jakarta Sans"/>
              </a:rPr>
              <a:t>ANALİTİK SORGULAMA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85800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Cinzel"/>
              </a:rPr>
              <a:t>Sosyoloğun Yönelttiği Üç Soru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38462"/>
            <a:ext cx="54292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D97706"/>
                </a:solidFill>
                <a:latin typeface="Plus Jakarta San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0175" y="2971800"/>
            <a:ext cx="539353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İncelediğimiz toplum nasıl bir yapısal düzene sahiptir?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57612"/>
            <a:ext cx="58102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D97706"/>
                </a:solidFill>
                <a:latin typeface="Plus Jakarta San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8275" y="3790950"/>
            <a:ext cx="627459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Bu toplum hangi tarihsel dönemin parçası ve sürekliliğindedir?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76762"/>
            <a:ext cx="59055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D97706"/>
                </a:solidFill>
                <a:latin typeface="Plus Jakarta San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7800" y="4610100"/>
            <a:ext cx="54054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Bu tarihsel ve toplumsal yapı ne tür insan tipleri üretir?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86087"/>
            <a:ext cx="5062537" cy="182880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9862" y="2986087"/>
            <a:ext cx="5062537" cy="1828800"/>
          </a:xfrm>
          <a:prstGeom prst="roundRect">
            <a:avLst>
              <a:gd name="adj" fmla="val 6250"/>
            </a:avLst>
          </a:prstGeom>
          <a:solidFill>
            <a:srgbClr val="FFF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2986087"/>
            <a:ext cx="5062537" cy="381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4033837"/>
            <a:ext cx="4452937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19862" y="2986087"/>
            <a:ext cx="5062537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24662" y="4033837"/>
            <a:ext cx="4452937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6937" y="3767137"/>
            <a:ext cx="238125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D97706"/>
                </a:solidFill>
                <a:latin typeface="Plus Jakarta Sans"/>
              </a:rPr>
              <a:t>TEMEL AYRIM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85800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Cinzel"/>
              </a:rPr>
              <a:t>Kişisel Sorunlar ve Yapısal Meseleler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987"/>
            <a:ext cx="584448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Kişisel Yaşam Sorunları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81412"/>
            <a:ext cx="556617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Bireyin dar/dolaysız çevresinde yaşadığı öznel sıkıntılar.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4186237"/>
            <a:ext cx="4243387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Örn: Tek bir bireyin iş bulamaması veya aile içi anlaşmazlık.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24662" y="3328987"/>
            <a:ext cx="536733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78350F"/>
                </a:solidFill>
                <a:latin typeface="Plus Jakarta Sans"/>
              </a:rPr>
              <a:t>Kamusal Yapı Sorunları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24662" y="3681412"/>
            <a:ext cx="53673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2400E"/>
                </a:solidFill>
                <a:latin typeface="Plus Jakarta Sans"/>
              </a:rPr>
              <a:t>Toplumsal kurumların ve tarihsel koşulların yarattığı krizler.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7062" y="4186237"/>
            <a:ext cx="4243387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B45309"/>
                </a:solidFill>
                <a:latin typeface="Plus Jakarta Sans"/>
              </a:rPr>
              <a:t>Örn: Kitlesel işsizlik oranları ve ekonomik krizler.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67450" y="2762250"/>
            <a:ext cx="5314950" cy="1133475"/>
          </a:xfrm>
          <a:prstGeom prst="roundRect">
            <a:avLst>
              <a:gd name="adj" fmla="val 840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67450" y="4086225"/>
            <a:ext cx="5314950" cy="952500"/>
          </a:xfrm>
          <a:prstGeom prst="roundRect">
            <a:avLst>
              <a:gd name="adj" fmla="val 10000"/>
            </a:avLst>
          </a:prstGeom>
          <a:solidFill>
            <a:srgbClr val="FFFBE8"/>
          </a:solidFill>
          <a:ln w="9525">
            <a:solidFill>
              <a:srgbClr val="FEF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90737"/>
            <a:ext cx="5314950" cy="3619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D97706"/>
                </a:solidFill>
                <a:latin typeface="Plus Jakarta Sans"/>
              </a:rPr>
              <a:t>SOMUTLAŞTIRMA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Cinzel"/>
              </a:rPr>
              <a:t>Uygulama: İşsizlik ve Evlilik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05575" y="3000375"/>
            <a:ext cx="56864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Kişisel Deneyim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05575" y="3295650"/>
            <a:ext cx="49339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Birey işsizliği veya evlilik çatışmasını kendi kişisel başarısızlığı olarak algılar.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5575" y="4324350"/>
            <a:ext cx="56864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78350F"/>
                </a:solidFill>
                <a:latin typeface="Plus Jakarta Sans"/>
              </a:rPr>
              <a:t>Toplumsal Gerçeklik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5575" y="4619625"/>
            <a:ext cx="56864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2400E"/>
                </a:solidFill>
                <a:latin typeface="Plus Jakarta Sans"/>
              </a:rPr>
              <a:t>Milyonların yaşadığı işsizlik, yapının çöküşüdür. Biyografi, tarihi yansıtır.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48012"/>
            <a:ext cx="5334000" cy="1504950"/>
          </a:xfrm>
          <a:prstGeom prst="roundRect">
            <a:avLst>
              <a:gd name="adj" fmla="val 75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148012"/>
            <a:ext cx="5334000" cy="1504950"/>
          </a:xfrm>
          <a:prstGeom prst="roundRect">
            <a:avLst>
              <a:gd name="adj" fmla="val 75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462337"/>
            <a:ext cx="266700" cy="266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3462337"/>
            <a:ext cx="266700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D97706"/>
                </a:solidFill>
                <a:latin typeface="Plus Jakarta Sans"/>
              </a:rPr>
              <a:t>PSİKOSOSYAL DİNAMİKLER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5800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Cinzel"/>
              </a:rPr>
              <a:t>Modern İnsanın İki Duygu Durumu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881437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Human hayata yön veren değerler sisteminin tamamen ortadan kalkması ve anlamsızlaşması sonucu oluşur.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3881437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Değerlerin tehdit altında olması fakat bu tehdidin kaynağının belirsiz bırakılmasının yarattığı panik halidir.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4925" y="3462337"/>
            <a:ext cx="2587823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İlgisizlik / Kayıtsızlık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3725" y="3462337"/>
            <a:ext cx="2712839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Huzursuzluk / Endişe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86112"/>
            <a:ext cx="3454449" cy="142875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3186112"/>
            <a:ext cx="3454449" cy="142875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3276600"/>
            <a:ext cx="3454449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D97706"/>
                </a:solidFill>
                <a:latin typeface="Plus Jakarta Sans"/>
              </a:rPr>
              <a:t>BİLİM MİRASININ DÖNÜŞÜMÜ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Cinzel"/>
              </a:rPr>
              <a:t>Doğa Bilimlerinin Sarsılan Tahtı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462337"/>
            <a:ext cx="380887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Teknolojik Ethos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795712"/>
            <a:ext cx="2997249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Fizik ve biyoloji uzun süre başat paradigmaydı ancak teknolojinin mutlaklaştırılması kriz yarattı.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074" y="3462337"/>
            <a:ext cx="380887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Yıkım Aracına Dönüşüm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074" y="3795712"/>
            <a:ext cx="2997249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Hidrojen bombası ve askeri denetim, bilimi uygarlık aracı olmaktan çıkarıp tehdide dönüştürdü.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04324" y="3552825"/>
            <a:ext cx="37876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Yeniden Değerlendirme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04324" y="3886200"/>
            <a:ext cx="2997249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Bilimin insanlık için ne ifade ettiği ve kime hizmet ettiği sorgulanmaya başladı.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62275"/>
            <a:ext cx="5314950" cy="1876425"/>
          </a:xfrm>
          <a:prstGeom prst="roundRect">
            <a:avLst>
              <a:gd name="adj" fmla="val 6091"/>
            </a:avLst>
          </a:prstGeom>
          <a:solidFill>
            <a:srgbClr val="FFFBE8"/>
          </a:solidFill>
          <a:ln w="9525">
            <a:solidFill>
              <a:srgbClr val="FEF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67450" y="2962275"/>
            <a:ext cx="5314950" cy="1876425"/>
          </a:xfrm>
          <a:prstGeom prst="roundRect">
            <a:avLst>
              <a:gd name="adj" fmla="val 609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276600"/>
            <a:ext cx="342900" cy="342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775" y="3276600"/>
            <a:ext cx="257175" cy="342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D97706"/>
                </a:solidFill>
                <a:latin typeface="Plus Jakarta Sans"/>
              </a:rPr>
              <a:t>YENİ ENTELEKTÜEL YAKLAŞIM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5800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Cinzel"/>
              </a:rPr>
              <a:t>Yeni Alan: Sosyolojik İmgelem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771900"/>
            <a:ext cx="615076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78350F"/>
                </a:solidFill>
                <a:latin typeface="Plus Jakarta Sans"/>
              </a:rPr>
              <a:t>İnsan ve Doğayı Koruma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4124325"/>
            <a:ext cx="4781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2400E"/>
                </a:solidFill>
                <a:latin typeface="Plus Jakarta Sans"/>
              </a:rPr>
              <a:t>Bilimin yıkım amaçlı kullanılmasına karşı duyarlı, etik ve eleştirel bir yaklaşım sunar.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775" y="3771900"/>
            <a:ext cx="561022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Çözüm Üretme Potansiyeli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775" y="4124325"/>
            <a:ext cx="4781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Toplumsal sorunları tarih ve birey ekseninde saptayarak yapıcı çözümler geliştirir.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9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67400" y="4346227"/>
            <a:ext cx="457200" cy="2857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86375" y="2483197"/>
            <a:ext cx="16192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D97706"/>
                </a:solidFill>
                <a:latin typeface="Plus Jakarta Sans"/>
              </a:rPr>
              <a:t>SONUÇ VE ÖZET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2917" y="2807047"/>
            <a:ext cx="9326165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b="1" sz="3000" i="0" u="none">
                <a:solidFill>
                  <a:srgbClr val="F8FAFC"/>
                </a:solidFill>
                <a:latin typeface="Cinzel"/>
              </a:rPr>
              <a:t>Özgürleştirici Bir Düşünce Biçimi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26468" y="3492847"/>
            <a:ext cx="7739062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Sosyolojik imgelem; bireylere dar kalıplardan kurtularak dünyayı bütüncül bir anlayışla kavrama ve şeylerin özünü yakalama imkanı sunar.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572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0975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2D3748"/>
                </a:solidFill>
                <a:latin typeface="Plus Jakarta Sans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038225"/>
            <a:ext cx="68460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2D3748"/>
                </a:solidFill>
                <a:latin typeface="Plus Jakarta Sans"/>
              </a:rPr>
              <a:t>https://culturalapparatus.wordpress.com/wp-content/uploads/2011/08/erase.jpeg?w=584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238250"/>
            <a:ext cx="38219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D3748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culturalapparatus.wordpress.com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1771650"/>
            <a:ext cx="10048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2D3748"/>
                </a:solidFill>
                <a:latin typeface="Plus Jakarta Sans"/>
              </a:rPr>
              <a:t>https://res.cloudinary.com/aenetworks/image/upload/c_fill,ar_2,w_3840,h_1920,g_auto/dpr_auto/f_auto/q_auto:eco/v1/ford-motor-company-factory-gettyimages-542366933?_a=BAVMn6E80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124075"/>
            <a:ext cx="23098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D3748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www.history.com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